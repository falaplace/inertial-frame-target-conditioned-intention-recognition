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4044613" cy="93630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94" autoAdjust="0"/>
  </p:normalViewPr>
  <p:slideViewPr>
    <p:cSldViewPr snapToGrid="0" snapToObjects="1">
      <p:cViewPr varScale="1">
        <p:scale>
          <a:sx n="83" d="100"/>
          <a:sy n="83" d="100"/>
        </p:scale>
        <p:origin x="677"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0111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Local editable reconstruction of 01_task_scene_j2000_realistic_v3.png. Only Earth and the two spacecraft are raster PNG assets. All trajectories, coordinate axes, markers, arrows, text, module borders and output cells are native editable shapes. The illustration is schematic and not to scale. No Earth-rotation arrow is present.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7" name="组合 86">
            <a:extLst>
              <a:ext uri="{FF2B5EF4-FFF2-40B4-BE49-F238E27FC236}">
                <a16:creationId xmlns:a16="http://schemas.microsoft.com/office/drawing/2014/main" id="{B91D0C3B-4A56-48AC-B4D2-E824FB5B10BF}"/>
              </a:ext>
            </a:extLst>
          </p:cNvPr>
          <p:cNvGrpSpPr/>
          <p:nvPr/>
        </p:nvGrpSpPr>
        <p:grpSpPr>
          <a:xfrm>
            <a:off x="2102021" y="1219267"/>
            <a:ext cx="8053166" cy="5853063"/>
            <a:chOff x="2102021" y="1219267"/>
            <a:chExt cx="8053166" cy="5853063"/>
          </a:xfrm>
        </p:grpSpPr>
        <p:sp>
          <p:nvSpPr>
            <p:cNvPr id="45" name="Intention recognition module"/>
            <p:cNvSpPr/>
            <p:nvPr/>
          </p:nvSpPr>
          <p:spPr>
            <a:xfrm>
              <a:off x="7125647" y="2570701"/>
              <a:ext cx="1732017" cy="650454"/>
            </a:xfrm>
            <a:prstGeom prst="roundRect">
              <a:avLst>
                <a:gd name="adj" fmla="val 3500"/>
              </a:avLst>
            </a:prstGeom>
            <a:solidFill>
              <a:srgbClr val="FFFFFF"/>
            </a:solidFill>
            <a:ln w="14604">
              <a:noFill/>
            </a:ln>
            <a:effectLst/>
          </p:spPr>
          <p:txBody>
            <a:bodyPr rtlCol="0" anchor="ctr">
              <a:scene3d>
                <a:camera prst="orthographicFront"/>
                <a:lightRig rig="soft" dir="t">
                  <a:rot lat="0" lon="0" rev="15600000"/>
                </a:lightRig>
              </a:scene3d>
              <a:sp3d extrusionH="57150" prstMaterial="softEdge">
                <a:bevelT w="25400" h="38100"/>
              </a:sp3d>
            </a:bodyPr>
            <a:lstStyle/>
            <a:p>
              <a:pPr algn="ctr"/>
              <a:r>
                <a:rPr lang="en-US" sz="2400" b="1" dirty="0">
                  <a:ln/>
                  <a:solidFill>
                    <a:srgbClr val="C00000"/>
                  </a:solidFill>
                  <a:effectLst>
                    <a:glow rad="228600">
                      <a:schemeClr val="accent3">
                        <a:satMod val="175000"/>
                        <a:alpha val="40000"/>
                      </a:schemeClr>
                    </a:glow>
                  </a:effectLst>
                  <a:latin typeface="Times New Roman" panose="02020603050405020304" pitchFamily="18" charset="0"/>
                  <a:cs typeface="Times New Roman" panose="02020603050405020304" pitchFamily="18" charset="0"/>
                </a:rPr>
                <a:t>Possible </a:t>
              </a:r>
            </a:p>
            <a:p>
              <a:pPr algn="ctr"/>
              <a:r>
                <a:rPr lang="en-US" sz="2400" b="1" dirty="0">
                  <a:ln/>
                  <a:solidFill>
                    <a:srgbClr val="C00000"/>
                  </a:solidFill>
                  <a:effectLst>
                    <a:glow rad="228600">
                      <a:schemeClr val="accent3">
                        <a:satMod val="175000"/>
                        <a:alpha val="40000"/>
                      </a:schemeClr>
                    </a:glow>
                  </a:effectLst>
                  <a:latin typeface="Times New Roman" panose="02020603050405020304" pitchFamily="18" charset="0"/>
                  <a:cs typeface="Times New Roman" panose="02020603050405020304" pitchFamily="18" charset="0"/>
                </a:rPr>
                <a:t>intentions?</a:t>
              </a:r>
              <a:endParaRPr sz="2400" b="1" dirty="0">
                <a:ln/>
                <a:solidFill>
                  <a:srgbClr val="C00000"/>
                </a:solidFill>
                <a:effectLst>
                  <a:glow rad="228600">
                    <a:schemeClr val="accent3">
                      <a:satMod val="175000"/>
                      <a:alpha val="40000"/>
                    </a:schemeClr>
                  </a:glow>
                </a:effectLst>
                <a:latin typeface="Times New Roman" panose="02020603050405020304" pitchFamily="18" charset="0"/>
                <a:cs typeface="Times New Roman" panose="02020603050405020304" pitchFamily="18" charset="0"/>
              </a:endParaRPr>
            </a:p>
          </p:txBody>
        </p:sp>
        <p:sp>
          <p:nvSpPr>
            <p:cNvPr id="2" name="Actor trajectory"/>
            <p:cNvSpPr/>
            <p:nvPr/>
          </p:nvSpPr>
          <p:spPr>
            <a:xfrm>
              <a:off x="2579783" y="1892614"/>
              <a:ext cx="6995160" cy="1400555"/>
            </a:xfrm>
            <a:custGeom>
              <a:avLst/>
              <a:gdLst/>
              <a:ahLst/>
              <a:cxnLst/>
              <a:rect l="0" t="0" r="w" b="h"/>
              <a:pathLst>
                <a:path w="765000" h="153167" fill="none" extrusionOk="0">
                  <a:moveTo>
                    <a:pt x="0" y="153167"/>
                  </a:moveTo>
                  <a:cubicBezTo>
                    <a:pt x="22667" y="136667"/>
                    <a:pt x="85000" y="78333"/>
                    <a:pt x="136000" y="54167"/>
                  </a:cubicBezTo>
                  <a:cubicBezTo>
                    <a:pt x="187000" y="30000"/>
                    <a:pt x="252000" y="16000"/>
                    <a:pt x="306000" y="8167"/>
                  </a:cubicBezTo>
                  <a:cubicBezTo>
                    <a:pt x="360000" y="333"/>
                    <a:pt x="400000" y="0"/>
                    <a:pt x="460000" y="7167"/>
                  </a:cubicBezTo>
                  <a:cubicBezTo>
                    <a:pt x="520000" y="14333"/>
                    <a:pt x="615167" y="34500"/>
                    <a:pt x="666000" y="51167"/>
                  </a:cubicBezTo>
                  <a:cubicBezTo>
                    <a:pt x="716833" y="67833"/>
                    <a:pt x="748500" y="97833"/>
                    <a:pt x="765000" y="107167"/>
                  </a:cubicBezTo>
                </a:path>
              </a:pathLst>
            </a:custGeom>
            <a:noFill/>
            <a:ln w="22860">
              <a:solidFill>
                <a:srgbClr val="071461"/>
              </a:solidFill>
              <a:tailEnd type="triangle" w="lg" len="lg"/>
            </a:ln>
            <a:effectLst/>
          </p:spPr>
          <p:txBody>
            <a:bodyPr rtlCol="0" anchor="ctr"/>
            <a:lstStyle/>
            <a:p>
              <a:pPr algn="ctr"/>
              <a:endParaRPr/>
            </a:p>
          </p:txBody>
        </p:sp>
        <p:sp>
          <p:nvSpPr>
            <p:cNvPr id="4" name="Actor state sample 1"/>
            <p:cNvSpPr/>
            <p:nvPr/>
          </p:nvSpPr>
          <p:spPr>
            <a:xfrm>
              <a:off x="2522175" y="3235562"/>
              <a:ext cx="115214" cy="115214"/>
            </a:xfrm>
            <a:prstGeom prst="ellipse">
              <a:avLst/>
            </a:prstGeom>
            <a:solidFill>
              <a:srgbClr val="123D7E"/>
            </a:solidFill>
            <a:ln w="7620">
              <a:solidFill>
                <a:srgbClr val="04124B"/>
              </a:solidFill>
            </a:ln>
            <a:effectLst/>
          </p:spPr>
          <p:txBody>
            <a:bodyPr rtlCol="0" anchor="ctr"/>
            <a:lstStyle/>
            <a:p>
              <a:pPr algn="ctr"/>
              <a:endParaRPr/>
            </a:p>
          </p:txBody>
        </p:sp>
        <p:sp>
          <p:nvSpPr>
            <p:cNvPr id="5" name="Actor state sample 2"/>
            <p:cNvSpPr/>
            <p:nvPr/>
          </p:nvSpPr>
          <p:spPr>
            <a:xfrm>
              <a:off x="3765759" y="2330306"/>
              <a:ext cx="115214" cy="115214"/>
            </a:xfrm>
            <a:prstGeom prst="ellipse">
              <a:avLst/>
            </a:prstGeom>
            <a:solidFill>
              <a:srgbClr val="123D7E"/>
            </a:solidFill>
            <a:ln w="7620">
              <a:solidFill>
                <a:srgbClr val="04124B"/>
              </a:solidFill>
            </a:ln>
            <a:effectLst/>
          </p:spPr>
          <p:txBody>
            <a:bodyPr rtlCol="0" anchor="ctr"/>
            <a:lstStyle/>
            <a:p>
              <a:pPr algn="ctr"/>
              <a:endParaRPr/>
            </a:p>
          </p:txBody>
        </p:sp>
        <p:sp>
          <p:nvSpPr>
            <p:cNvPr id="6" name="Actor state sample 3"/>
            <p:cNvSpPr/>
            <p:nvPr/>
          </p:nvSpPr>
          <p:spPr>
            <a:xfrm>
              <a:off x="5320239" y="1909682"/>
              <a:ext cx="115214" cy="115214"/>
            </a:xfrm>
            <a:prstGeom prst="ellipse">
              <a:avLst/>
            </a:prstGeom>
            <a:solidFill>
              <a:srgbClr val="123D7E"/>
            </a:solidFill>
            <a:ln w="7620">
              <a:solidFill>
                <a:srgbClr val="04124B"/>
              </a:solidFill>
            </a:ln>
            <a:effectLst/>
          </p:spPr>
          <p:txBody>
            <a:bodyPr rtlCol="0" anchor="ctr"/>
            <a:lstStyle/>
            <a:p>
              <a:pPr algn="ctr"/>
              <a:endParaRPr/>
            </a:p>
          </p:txBody>
        </p:sp>
        <p:sp>
          <p:nvSpPr>
            <p:cNvPr id="7" name="Actor state sample 4"/>
            <p:cNvSpPr/>
            <p:nvPr/>
          </p:nvSpPr>
          <p:spPr>
            <a:xfrm>
              <a:off x="8612079" y="2302874"/>
              <a:ext cx="115214" cy="115214"/>
            </a:xfrm>
            <a:prstGeom prst="ellipse">
              <a:avLst/>
            </a:prstGeom>
            <a:solidFill>
              <a:srgbClr val="123D7E"/>
            </a:solidFill>
            <a:ln w="7620">
              <a:solidFill>
                <a:srgbClr val="04124B"/>
              </a:solidFill>
            </a:ln>
            <a:effectLst/>
          </p:spPr>
          <p:txBody>
            <a:bodyPr rtlCol="0" anchor="ctr"/>
            <a:lstStyle/>
            <a:p>
              <a:pPr algn="ctr"/>
              <a:endParaRPr/>
            </a:p>
          </p:txBody>
        </p:sp>
        <p:pic>
          <p:nvPicPr>
            <p:cNvPr id="10" name="Earth globe" descr="earth.png"/>
            <p:cNvPicPr>
              <a:picLocks noChangeAspect="1"/>
            </p:cNvPicPr>
            <p:nvPr/>
          </p:nvPicPr>
          <p:blipFill>
            <a:blip r:embed="rId3">
              <a:alphaModFix/>
            </a:blip>
            <a:srcRect/>
            <a:stretch>
              <a:fillRect/>
            </a:stretch>
          </p:blipFill>
          <p:spPr>
            <a:xfrm>
              <a:off x="3747013" y="2722444"/>
              <a:ext cx="4270248" cy="4349886"/>
            </a:xfrm>
            <a:prstGeom prst="rect">
              <a:avLst/>
            </a:prstGeom>
          </p:spPr>
        </p:pic>
        <p:pic>
          <p:nvPicPr>
            <p:cNvPr id="11" name="Actor spacecraft a" descr="actor.png"/>
            <p:cNvPicPr>
              <a:picLocks noChangeAspect="1"/>
            </p:cNvPicPr>
            <p:nvPr/>
          </p:nvPicPr>
          <p:blipFill>
            <a:blip r:embed="rId4"/>
            <a:srcRect/>
            <a:stretch>
              <a:fillRect/>
            </a:stretch>
          </p:blipFill>
          <p:spPr>
            <a:xfrm>
              <a:off x="6293388" y="1556176"/>
              <a:ext cx="1728216" cy="923515"/>
            </a:xfrm>
            <a:prstGeom prst="rect">
              <a:avLst/>
            </a:prstGeom>
          </p:spPr>
        </p:pic>
        <p:sp>
          <p:nvSpPr>
            <p:cNvPr id="3" name="Spacecraft counterpart trajectory"/>
            <p:cNvSpPr/>
            <p:nvPr/>
          </p:nvSpPr>
          <p:spPr>
            <a:xfrm rot="18635854">
              <a:off x="2374642" y="3309199"/>
              <a:ext cx="3456432" cy="463296"/>
            </a:xfrm>
            <a:custGeom>
              <a:avLst/>
              <a:gdLst/>
              <a:ahLst/>
              <a:cxnLst/>
              <a:rect l="0" t="0" r="w" b="h"/>
              <a:pathLst>
                <a:path w="378000" h="50667" fill="none" extrusionOk="0">
                  <a:moveTo>
                    <a:pt x="0" y="41667"/>
                  </a:moveTo>
                  <a:cubicBezTo>
                    <a:pt x="6000" y="39667"/>
                    <a:pt x="14333" y="35667"/>
                    <a:pt x="36000" y="29667"/>
                  </a:cubicBezTo>
                  <a:cubicBezTo>
                    <a:pt x="57667" y="23667"/>
                    <a:pt x="100333" y="10167"/>
                    <a:pt x="130000" y="5667"/>
                  </a:cubicBezTo>
                  <a:cubicBezTo>
                    <a:pt x="159667" y="1167"/>
                    <a:pt x="182167" y="0"/>
                    <a:pt x="214000" y="2667"/>
                  </a:cubicBezTo>
                  <a:cubicBezTo>
                    <a:pt x="245833" y="5333"/>
                    <a:pt x="293667" y="13667"/>
                    <a:pt x="321000" y="21667"/>
                  </a:cubicBezTo>
                  <a:cubicBezTo>
                    <a:pt x="348333" y="29667"/>
                    <a:pt x="368500" y="45833"/>
                    <a:pt x="378000" y="50667"/>
                  </a:cubicBezTo>
                </a:path>
              </a:pathLst>
            </a:custGeom>
            <a:noFill/>
            <a:ln w="14604">
              <a:solidFill>
                <a:srgbClr val="606060"/>
              </a:solidFill>
              <a:tailEnd type="triangle" w="lg" len="lg"/>
            </a:ln>
            <a:effectLst/>
          </p:spPr>
          <p:txBody>
            <a:bodyPr rtlCol="0" anchor="ctr"/>
            <a:lstStyle/>
            <a:p>
              <a:pPr algn="ctr"/>
              <a:endParaRPr/>
            </a:p>
          </p:txBody>
        </p:sp>
        <p:sp>
          <p:nvSpPr>
            <p:cNvPr id="8" name="Counterpart state sample 1"/>
            <p:cNvSpPr/>
            <p:nvPr/>
          </p:nvSpPr>
          <p:spPr>
            <a:xfrm rot="18635854">
              <a:off x="3170414" y="4576795"/>
              <a:ext cx="104241" cy="104241"/>
            </a:xfrm>
            <a:prstGeom prst="ellipse">
              <a:avLst/>
            </a:prstGeom>
            <a:solidFill>
              <a:srgbClr val="888888"/>
            </a:solidFill>
            <a:ln w="6350">
              <a:solidFill>
                <a:srgbClr val="555555"/>
              </a:solidFill>
            </a:ln>
            <a:effectLst/>
          </p:spPr>
          <p:txBody>
            <a:bodyPr rtlCol="0" anchor="ctr"/>
            <a:lstStyle/>
            <a:p>
              <a:pPr algn="ctr"/>
              <a:endParaRPr/>
            </a:p>
          </p:txBody>
        </p:sp>
        <p:sp>
          <p:nvSpPr>
            <p:cNvPr id="9" name="Counterpart state sample 2"/>
            <p:cNvSpPr/>
            <p:nvPr/>
          </p:nvSpPr>
          <p:spPr>
            <a:xfrm rot="18635854">
              <a:off x="4810729" y="2550429"/>
              <a:ext cx="104241" cy="104241"/>
            </a:xfrm>
            <a:prstGeom prst="ellipse">
              <a:avLst/>
            </a:prstGeom>
            <a:solidFill>
              <a:srgbClr val="888888"/>
            </a:solidFill>
            <a:ln w="6350">
              <a:solidFill>
                <a:srgbClr val="555555"/>
              </a:solidFill>
            </a:ln>
            <a:effectLst/>
          </p:spPr>
          <p:txBody>
            <a:bodyPr rtlCol="0" anchor="ctr"/>
            <a:lstStyle/>
            <a:p>
              <a:pPr algn="ctr"/>
              <a:endParaRPr/>
            </a:p>
          </p:txBody>
        </p:sp>
        <p:pic>
          <p:nvPicPr>
            <p:cNvPr id="12" name="Spacecraft counterpart c" descr="counterpart.png"/>
            <p:cNvPicPr>
              <a:picLocks noChangeAspect="1"/>
            </p:cNvPicPr>
            <p:nvPr/>
          </p:nvPicPr>
          <p:blipFill>
            <a:blip r:embed="rId5"/>
            <a:srcRect/>
            <a:stretch>
              <a:fillRect/>
            </a:stretch>
          </p:blipFill>
          <p:spPr>
            <a:xfrm rot="18635854">
              <a:off x="3294940" y="3387751"/>
              <a:ext cx="1062592" cy="531296"/>
            </a:xfrm>
            <a:prstGeom prst="rect">
              <a:avLst/>
            </a:prstGeom>
          </p:spPr>
        </p:pic>
        <mc:AlternateContent xmlns:mc="http://schemas.openxmlformats.org/markup-compatibility/2006">
          <mc:Choice xmlns:a14="http://schemas.microsoft.com/office/drawing/2010/main" Requires="a14">
            <p:sp>
              <p:nvSpPr>
                <p:cNvPr id="15" name="Actor label"/>
                <p:cNvSpPr txBox="1"/>
                <p:nvPr/>
              </p:nvSpPr>
              <p:spPr>
                <a:xfrm>
                  <a:off x="4972080" y="1219267"/>
                  <a:ext cx="4370832" cy="423001"/>
                </a:xfrm>
                <a:prstGeom prst="rect">
                  <a:avLst/>
                </a:prstGeom>
                <a:noFill/>
                <a:effectLst/>
              </p:spPr>
              <p:txBody>
                <a:bodyPr wrap="square" lIns="0" tIns="0" rIns="0" bIns="0" anchor="ctr">
                  <a:spAutoFit/>
                </a:bodyPr>
                <a:lstStyle/>
                <a:p>
                  <a:pPr algn="ctr">
                    <a:lnSpc>
                      <a:spcPct val="105000"/>
                    </a:lnSpc>
                    <a:spcBef>
                      <a:spcPts val="0"/>
                    </a:spcBef>
                    <a:spcAft>
                      <a:spcPts val="0"/>
                    </a:spcAft>
                  </a:pPr>
                  <a:r>
                    <a:rPr lang="en-US" altLang="zh-CN" sz="2800" b="0" i="0" dirty="0">
                      <a:solidFill>
                        <a:srgbClr val="071461"/>
                      </a:solidFill>
                      <a:latin typeface="Times New Roman" panose="02020603050405020304" pitchFamily="18" charset="0"/>
                      <a:cs typeface="Times New Roman" panose="02020603050405020304" pitchFamily="18" charset="0"/>
                    </a:rPr>
                    <a:t>Non-cooperative </a:t>
                  </a:r>
                  <a:r>
                    <a:rPr lang="en-US" sz="2800" b="0" i="0" dirty="0">
                      <a:solidFill>
                        <a:srgbClr val="071461"/>
                      </a:solidFill>
                      <a:latin typeface="Times New Roman" panose="02020603050405020304" pitchFamily="18" charset="0"/>
                      <a:cs typeface="Times New Roman" panose="02020603050405020304" pitchFamily="18" charset="0"/>
                    </a:rPr>
                    <a:t>Actor </a:t>
                  </a:r>
                  <a14:m>
                    <m:oMath xmlns:m="http://schemas.openxmlformats.org/officeDocument/2006/math">
                      <m:r>
                        <a:rPr lang="zh-CN" altLang="en-US" sz="2800" b="0" i="1" smtClean="0">
                          <a:solidFill>
                            <a:srgbClr val="071461"/>
                          </a:solidFill>
                          <a:latin typeface="Cambria Math" panose="02040503050406030204" pitchFamily="18" charset="0"/>
                        </a:rPr>
                        <m:t>𝑎</m:t>
                      </m:r>
                    </m:oMath>
                  </a14:m>
                  <a:endParaRPr b="0" i="0" dirty="0">
                    <a:solidFill>
                      <a:srgbClr val="071461"/>
                    </a:solidFill>
                    <a:latin typeface="Arial"/>
                  </a:endParaRPr>
                </a:p>
              </p:txBody>
            </p:sp>
          </mc:Choice>
          <mc:Fallback>
            <p:sp>
              <p:nvSpPr>
                <p:cNvPr id="15" name="Actor label"/>
                <p:cNvSpPr txBox="1">
                  <a:spLocks noRot="1" noChangeAspect="1" noMove="1" noResize="1" noEditPoints="1" noAdjustHandles="1" noChangeArrowheads="1" noChangeShapeType="1" noTextEdit="1"/>
                </p:cNvSpPr>
                <p:nvPr/>
              </p:nvSpPr>
              <p:spPr>
                <a:xfrm>
                  <a:off x="4972080" y="1219267"/>
                  <a:ext cx="4370832" cy="423001"/>
                </a:xfrm>
                <a:prstGeom prst="rect">
                  <a:avLst/>
                </a:prstGeom>
                <a:blipFill>
                  <a:blip r:embed="rId6"/>
                  <a:stretch>
                    <a:fillRect t="-27536" b="-52174"/>
                  </a:stretch>
                </a:blipFill>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Counterpart label"/>
                <p:cNvSpPr txBox="1"/>
                <p:nvPr/>
              </p:nvSpPr>
              <p:spPr>
                <a:xfrm>
                  <a:off x="2102021" y="2647476"/>
                  <a:ext cx="3114625" cy="750783"/>
                </a:xfrm>
                <a:prstGeom prst="rect">
                  <a:avLst/>
                </a:prstGeom>
                <a:noFill/>
                <a:effectLst/>
              </p:spPr>
              <p:txBody>
                <a:bodyPr wrap="square" lIns="0" tIns="0" rIns="0" bIns="0" anchor="ctr">
                  <a:spAutoFit/>
                </a:bodyPr>
                <a:lstStyle/>
                <a:p>
                  <a:pPr algn="ctr">
                    <a:lnSpc>
                      <a:spcPct val="105000"/>
                    </a:lnSpc>
                    <a:spcBef>
                      <a:spcPts val="0"/>
                    </a:spcBef>
                    <a:spcAft>
                      <a:spcPts val="0"/>
                    </a:spcAft>
                  </a:pPr>
                  <a:r>
                    <a:rPr lang="en-US" sz="2400" b="1" i="0" dirty="0">
                      <a:solidFill>
                        <a:srgbClr val="C00000"/>
                      </a:solidFill>
                      <a:latin typeface="Times New Roman" panose="02020603050405020304" pitchFamily="18" charset="0"/>
                      <a:cs typeface="Times New Roman" panose="02020603050405020304" pitchFamily="18" charset="0"/>
                    </a:rPr>
                    <a:t>Spacecraft counterpart</a:t>
                  </a:r>
                </a:p>
                <a:p>
                  <a:pPr algn="ctr">
                    <a:lnSpc>
                      <a:spcPct val="105000"/>
                    </a:lnSpc>
                    <a:spcBef>
                      <a:spcPts val="0"/>
                    </a:spcBef>
                    <a:spcAft>
                      <a:spcPts val="0"/>
                    </a:spcAft>
                  </a:pPr>
                  <a:r>
                    <a:rPr lang="en-US" sz="2400" i="0"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zh-CN" altLang="en-US" sz="2400" i="1" dirty="0" smtClean="0">
                          <a:solidFill>
                            <a:srgbClr val="C00000"/>
                          </a:solidFill>
                          <a:latin typeface="Cambria Math" panose="02040503050406030204" pitchFamily="18" charset="0"/>
                        </a:rPr>
                        <m:t>𝑐</m:t>
                      </m:r>
                      <m:r>
                        <a:rPr lang="en-US" altLang="zh-CN" sz="2400" i="1" dirty="0" smtClean="0">
                          <a:solidFill>
                            <a:srgbClr val="C00000"/>
                          </a:solidFill>
                          <a:latin typeface="Cambria Math" panose="02040503050406030204" pitchFamily="18" charset="0"/>
                        </a:rPr>
                        <m:t>∈</m:t>
                      </m:r>
                      <m:r>
                        <a:rPr lang="zh-CN" altLang="en-US" sz="2400" i="1" dirty="0" smtClean="0">
                          <a:solidFill>
                            <a:srgbClr val="C00000"/>
                          </a:solidFill>
                          <a:latin typeface="Cambria Math" panose="02040503050406030204" pitchFamily="18" charset="0"/>
                        </a:rPr>
                        <m:t>𝒯</m:t>
                      </m:r>
                    </m:oMath>
                  </a14:m>
                  <a:endParaRPr lang="en-US" sz="2400" i="0" dirty="0">
                    <a:solidFill>
                      <a:srgbClr val="C00000"/>
                    </a:solidFill>
                    <a:latin typeface="Times New Roman" panose="02020603050405020304" pitchFamily="18" charset="0"/>
                    <a:cs typeface="Times New Roman" panose="02020603050405020304" pitchFamily="18" charset="0"/>
                  </a:endParaRPr>
                </a:p>
              </p:txBody>
            </p:sp>
          </mc:Choice>
          <mc:Fallback>
            <p:sp>
              <p:nvSpPr>
                <p:cNvPr id="18" name="Counterpart label"/>
                <p:cNvSpPr txBox="1">
                  <a:spLocks noRot="1" noChangeAspect="1" noMove="1" noResize="1" noEditPoints="1" noAdjustHandles="1" noChangeArrowheads="1" noChangeShapeType="1" noTextEdit="1"/>
                </p:cNvSpPr>
                <p:nvPr/>
              </p:nvSpPr>
              <p:spPr>
                <a:xfrm>
                  <a:off x="2102021" y="2647476"/>
                  <a:ext cx="3114625" cy="750783"/>
                </a:xfrm>
                <a:prstGeom prst="rect">
                  <a:avLst/>
                </a:prstGeom>
                <a:blipFill>
                  <a:blip r:embed="rId7"/>
                  <a:stretch>
                    <a:fillRect l="-4501" t="-13008" r="-4110" b="-4065"/>
                  </a:stretch>
                </a:blipFill>
                <a:effectLst/>
              </p:spPr>
              <p:txBody>
                <a:bodyPr/>
                <a:lstStyle/>
                <a:p>
                  <a:r>
                    <a:rPr lang="zh-CN" altLang="en-US">
                      <a:noFill/>
                    </a:rPr>
                    <a:t> </a:t>
                  </a:r>
                </a:p>
              </p:txBody>
            </p:sp>
          </mc:Fallback>
        </mc:AlternateContent>
        <p:cxnSp>
          <p:nvCxnSpPr>
            <p:cNvPr id="25" name="z axis exterior solid"/>
            <p:cNvCxnSpPr>
              <a:cxnSpLocks/>
              <a:stCxn id="28" idx="0"/>
            </p:cNvCxnSpPr>
            <p:nvPr/>
          </p:nvCxnSpPr>
          <p:spPr>
            <a:xfrm flipH="1" flipV="1">
              <a:off x="5882137" y="3022868"/>
              <a:ext cx="1" cy="1785823"/>
            </a:xfrm>
            <a:prstGeom prst="line">
              <a:avLst/>
            </a:prstGeom>
            <a:ln w="22860">
              <a:solidFill>
                <a:srgbClr val="071461"/>
              </a:solidFill>
              <a:tailEnd type="triangle" w="lg" len="lg"/>
            </a:ln>
            <a:effectLst/>
          </p:spPr>
        </p:cxnSp>
        <p:cxnSp>
          <p:nvCxnSpPr>
            <p:cNvPr id="26" name="y axis exterior solid"/>
            <p:cNvCxnSpPr>
              <a:cxnSpLocks/>
              <a:stCxn id="28" idx="6"/>
            </p:cNvCxnSpPr>
            <p:nvPr/>
          </p:nvCxnSpPr>
          <p:spPr>
            <a:xfrm>
              <a:off x="5970834" y="4897388"/>
              <a:ext cx="1834592" cy="0"/>
            </a:xfrm>
            <a:prstGeom prst="line">
              <a:avLst/>
            </a:prstGeom>
            <a:ln w="22860">
              <a:solidFill>
                <a:srgbClr val="071461"/>
              </a:solidFill>
              <a:tailEnd type="triangle" w="lg" len="lg"/>
            </a:ln>
            <a:effectLst/>
          </p:spPr>
        </p:cxnSp>
        <p:cxnSp>
          <p:nvCxnSpPr>
            <p:cNvPr id="27" name="x axis exterior solid"/>
            <p:cNvCxnSpPr>
              <a:cxnSpLocks/>
              <a:stCxn id="28" idx="3"/>
            </p:cNvCxnSpPr>
            <p:nvPr/>
          </p:nvCxnSpPr>
          <p:spPr>
            <a:xfrm flipH="1">
              <a:off x="4882968" y="4960105"/>
              <a:ext cx="936452" cy="856669"/>
            </a:xfrm>
            <a:prstGeom prst="line">
              <a:avLst/>
            </a:prstGeom>
            <a:ln w="22860">
              <a:solidFill>
                <a:srgbClr val="071461"/>
              </a:solidFill>
              <a:tailEnd type="triangle" w="lg" len="lg"/>
            </a:ln>
            <a:effectLst/>
          </p:spPr>
        </p:cxnSp>
        <p:sp>
          <p:nvSpPr>
            <p:cNvPr id="28" name="Earth-centered origin point"/>
            <p:cNvSpPr/>
            <p:nvPr/>
          </p:nvSpPr>
          <p:spPr>
            <a:xfrm>
              <a:off x="5793441" y="4808691"/>
              <a:ext cx="177393" cy="177393"/>
            </a:xfrm>
            <a:prstGeom prst="ellipse">
              <a:avLst/>
            </a:prstGeom>
            <a:solidFill>
              <a:srgbClr val="071461"/>
            </a:solidFill>
            <a:ln w="11430">
              <a:solidFill>
                <a:srgbClr val="FFFFFF"/>
              </a:solidFill>
            </a:ln>
            <a:effectLst/>
          </p:spPr>
          <p:txBody>
            <a:bodyPr rtlCol="0" anchor="ctr"/>
            <a:lstStyle/>
            <a:p>
              <a:pPr algn="ctr"/>
              <a:endParaRPr/>
            </a:p>
          </p:txBody>
        </p:sp>
        <p:sp>
          <p:nvSpPr>
            <p:cNvPr id="29" name="z axis label"/>
            <p:cNvSpPr txBox="1"/>
            <p:nvPr/>
          </p:nvSpPr>
          <p:spPr>
            <a:xfrm>
              <a:off x="5964215" y="3140640"/>
              <a:ext cx="155492" cy="337657"/>
            </a:xfrm>
            <a:prstGeom prst="rect">
              <a:avLst/>
            </a:prstGeom>
            <a:noFill/>
            <a:effectLst/>
          </p:spPr>
          <p:txBody>
            <a:bodyPr wrap="none" lIns="0" tIns="0" rIns="0" bIns="0" anchor="ctr">
              <a:spAutoFit/>
            </a:bodyPr>
            <a:lstStyle/>
            <a:p>
              <a:pPr algn="l">
                <a:lnSpc>
                  <a:spcPct val="105000"/>
                </a:lnSpc>
                <a:spcBef>
                  <a:spcPts val="0"/>
                </a:spcBef>
                <a:spcAft>
                  <a:spcPts val="0"/>
                </a:spcAft>
              </a:pPr>
              <a:r>
                <a:rPr sz="2232" i="1" dirty="0" err="1">
                  <a:solidFill>
                    <a:schemeClr val="bg1"/>
                  </a:solidFill>
                  <a:latin typeface="Times New Roman"/>
                </a:rPr>
                <a:t>z</a:t>
              </a:r>
              <a:r>
                <a:rPr sz="1562" i="0" baseline="-25000" dirty="0" err="1">
                  <a:solidFill>
                    <a:schemeClr val="bg1"/>
                  </a:solidFill>
                  <a:latin typeface="Times New Roman"/>
                </a:rPr>
                <a:t>I</a:t>
              </a:r>
              <a:endParaRPr sz="1562" i="0" baseline="-25000" dirty="0">
                <a:solidFill>
                  <a:schemeClr val="bg1"/>
                </a:solidFill>
                <a:latin typeface="Times New Roman"/>
              </a:endParaRPr>
            </a:p>
          </p:txBody>
        </p:sp>
        <mc:AlternateContent xmlns:mc="http://schemas.openxmlformats.org/markup-compatibility/2006">
          <mc:Choice xmlns:a14="http://schemas.microsoft.com/office/drawing/2010/main" Requires="a14">
            <p:sp>
              <p:nvSpPr>
                <p:cNvPr id="30" name="y axis label"/>
                <p:cNvSpPr txBox="1"/>
                <p:nvPr/>
              </p:nvSpPr>
              <p:spPr>
                <a:xfrm>
                  <a:off x="7506721" y="4885969"/>
                  <a:ext cx="254365" cy="352019"/>
                </a:xfrm>
                <a:prstGeom prst="rect">
                  <a:avLst/>
                </a:prstGeom>
                <a:noFill/>
                <a:effectLst/>
              </p:spPr>
              <p:txBody>
                <a:bodyPr wrap="none" lIns="0" tIns="0" rIns="0" bIns="0" anchor="ctr">
                  <a:spAutoFit/>
                </a:bodyPr>
                <a:lstStyle/>
                <a:p>
                  <a:pPr algn="l">
                    <a:lnSpc>
                      <a:spcPct val="105000"/>
                    </a:lnSpc>
                    <a:spcBef>
                      <a:spcPts val="0"/>
                    </a:spcBef>
                    <a:spcAft>
                      <a:spcPts val="0"/>
                    </a:spcAft>
                  </a:pPr>
                  <a14:m>
                    <m:oMathPara xmlns:m="http://schemas.openxmlformats.org/officeDocument/2006/math">
                      <m:oMathParaPr>
                        <m:jc m:val="centerGroup"/>
                      </m:oMathParaPr>
                      <m:oMath xmlns:m="http://schemas.openxmlformats.org/officeDocument/2006/math">
                        <m:r>
                          <a:rPr lang="zh-CN" altLang="en-US" sz="2232" i="1" dirty="0" smtClean="0">
                            <a:solidFill>
                              <a:schemeClr val="bg1"/>
                            </a:solidFill>
                            <a:latin typeface="Cambria Math" panose="02040503050406030204" pitchFamily="18" charset="0"/>
                          </a:rPr>
                          <m:t>𝑦</m:t>
                        </m:r>
                        <m:r>
                          <a:rPr lang="zh-CN" altLang="en-US" sz="1562" i="1" baseline="-25000" dirty="0" err="1">
                            <a:solidFill>
                              <a:schemeClr val="bg1"/>
                            </a:solidFill>
                            <a:latin typeface="Cambria Math" panose="02040503050406030204" pitchFamily="18" charset="0"/>
                          </a:rPr>
                          <m:t>𝐼</m:t>
                        </m:r>
                      </m:oMath>
                    </m:oMathPara>
                  </a14:m>
                  <a:endParaRPr lang="zh-CN" altLang="en-US" sz="1562" i="0" baseline="-25000" dirty="0">
                    <a:solidFill>
                      <a:schemeClr val="bg1"/>
                    </a:solidFill>
                    <a:latin typeface="Times New Roman"/>
                  </a:endParaRPr>
                </a:p>
              </p:txBody>
            </p:sp>
          </mc:Choice>
          <mc:Fallback>
            <p:sp>
              <p:nvSpPr>
                <p:cNvPr id="30" name="y axis label"/>
                <p:cNvSpPr txBox="1">
                  <a:spLocks noRot="1" noChangeAspect="1" noMove="1" noResize="1" noEditPoints="1" noAdjustHandles="1" noChangeArrowheads="1" noChangeShapeType="1" noTextEdit="1"/>
                </p:cNvSpPr>
                <p:nvPr/>
              </p:nvSpPr>
              <p:spPr>
                <a:xfrm>
                  <a:off x="7506721" y="4885969"/>
                  <a:ext cx="254365" cy="352019"/>
                </a:xfrm>
                <a:prstGeom prst="rect">
                  <a:avLst/>
                </a:prstGeom>
                <a:blipFill>
                  <a:blip r:embed="rId8"/>
                  <a:stretch>
                    <a:fillRect l="-30952" r="-9524" b="-21053"/>
                  </a:stretch>
                </a:blipFill>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x axis label"/>
                <p:cNvSpPr txBox="1"/>
                <p:nvPr/>
              </p:nvSpPr>
              <p:spPr>
                <a:xfrm>
                  <a:off x="4590296" y="5640764"/>
                  <a:ext cx="246349" cy="352019"/>
                </a:xfrm>
                <a:prstGeom prst="rect">
                  <a:avLst/>
                </a:prstGeom>
                <a:noFill/>
                <a:effectLst/>
              </p:spPr>
              <p:txBody>
                <a:bodyPr wrap="none" lIns="0" tIns="0" rIns="0" bIns="0" anchor="ctr">
                  <a:spAutoFit/>
                </a:bodyPr>
                <a:lstStyle/>
                <a:p>
                  <a:pPr algn="l">
                    <a:lnSpc>
                      <a:spcPct val="105000"/>
                    </a:lnSpc>
                    <a:spcBef>
                      <a:spcPts val="0"/>
                    </a:spcBef>
                    <a:spcAft>
                      <a:spcPts val="0"/>
                    </a:spcAft>
                  </a:pPr>
                  <a14:m>
                    <m:oMathPara xmlns:m="http://schemas.openxmlformats.org/officeDocument/2006/math">
                      <m:oMathParaPr>
                        <m:jc m:val="centerGroup"/>
                      </m:oMathParaPr>
                      <m:oMath xmlns:m="http://schemas.openxmlformats.org/officeDocument/2006/math">
                        <m:r>
                          <a:rPr lang="zh-CN" altLang="en-US" sz="2232" i="1" dirty="0" smtClean="0">
                            <a:solidFill>
                              <a:schemeClr val="bg1"/>
                            </a:solidFill>
                            <a:latin typeface="Cambria Math" panose="02040503050406030204" pitchFamily="18" charset="0"/>
                          </a:rPr>
                          <m:t>𝑥</m:t>
                        </m:r>
                        <m:r>
                          <a:rPr lang="zh-CN" altLang="en-US" sz="1562" i="1" baseline="-25000" dirty="0" err="1">
                            <a:solidFill>
                              <a:schemeClr val="bg1"/>
                            </a:solidFill>
                            <a:latin typeface="Cambria Math" panose="02040503050406030204" pitchFamily="18" charset="0"/>
                          </a:rPr>
                          <m:t>𝐼</m:t>
                        </m:r>
                      </m:oMath>
                    </m:oMathPara>
                  </a14:m>
                  <a:endParaRPr lang="zh-CN" altLang="en-US" sz="1562" i="0" baseline="-25000" dirty="0">
                    <a:solidFill>
                      <a:schemeClr val="bg1"/>
                    </a:solidFill>
                    <a:latin typeface="Times New Roman"/>
                  </a:endParaRPr>
                </a:p>
              </p:txBody>
            </p:sp>
          </mc:Choice>
          <mc:Fallback>
            <p:sp>
              <p:nvSpPr>
                <p:cNvPr id="31" name="x axis label"/>
                <p:cNvSpPr txBox="1">
                  <a:spLocks noRot="1" noChangeAspect="1" noMove="1" noResize="1" noEditPoints="1" noAdjustHandles="1" noChangeArrowheads="1" noChangeShapeType="1" noTextEdit="1"/>
                </p:cNvSpPr>
                <p:nvPr/>
              </p:nvSpPr>
              <p:spPr>
                <a:xfrm>
                  <a:off x="4590296" y="5640764"/>
                  <a:ext cx="246349" cy="352019"/>
                </a:xfrm>
                <a:prstGeom prst="rect">
                  <a:avLst/>
                </a:prstGeom>
                <a:blipFill>
                  <a:blip r:embed="rId9"/>
                  <a:stretch>
                    <a:fillRect l="-20000" r="-10000" b="-1724"/>
                  </a:stretch>
                </a:blipFill>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Origin O"/>
                <p:cNvSpPr txBox="1"/>
                <p:nvPr/>
              </p:nvSpPr>
              <p:spPr>
                <a:xfrm>
                  <a:off x="5781554" y="5003823"/>
                  <a:ext cx="281359" cy="372346"/>
                </a:xfrm>
                <a:prstGeom prst="rect">
                  <a:avLst/>
                </a:prstGeom>
                <a:noFill/>
                <a:effectLst/>
              </p:spPr>
              <p:txBody>
                <a:bodyPr wrap="none" lIns="0" tIns="0" rIns="0" bIns="0" anchor="ctr">
                  <a:spAutoFit/>
                </a:bodyPr>
                <a:lstStyle/>
                <a:p>
                  <a:pPr algn="l">
                    <a:lnSpc>
                      <a:spcPct val="105000"/>
                    </a:lnSpc>
                    <a:spcBef>
                      <a:spcPts val="0"/>
                    </a:spcBef>
                    <a:spcAft>
                      <a:spcPts val="0"/>
                    </a:spcAft>
                  </a:pPr>
                  <a14:m>
                    <m:oMathPara xmlns:m="http://schemas.openxmlformats.org/officeDocument/2006/math">
                      <m:oMathParaPr>
                        <m:jc m:val="centerGroup"/>
                      </m:oMathParaPr>
                      <m:oMath xmlns:m="http://schemas.openxmlformats.org/officeDocument/2006/math">
                        <m:r>
                          <a:rPr lang="zh-CN" altLang="en-US" sz="2304" b="0" i="1" dirty="0" smtClean="0">
                            <a:solidFill>
                              <a:srgbClr val="FFFFFF"/>
                            </a:solidFill>
                            <a:latin typeface="Cambria Math" panose="02040503050406030204" pitchFamily="18" charset="0"/>
                          </a:rPr>
                          <m:t>𝑂</m:t>
                        </m:r>
                      </m:oMath>
                    </m:oMathPara>
                  </a14:m>
                  <a:endParaRPr sz="2304" b="0" i="0" dirty="0">
                    <a:solidFill>
                      <a:srgbClr val="FFFFFF"/>
                    </a:solidFill>
                    <a:latin typeface="Times New Roman"/>
                  </a:endParaRPr>
                </a:p>
              </p:txBody>
            </p:sp>
          </mc:Choice>
          <mc:Fallback>
            <p:sp>
              <p:nvSpPr>
                <p:cNvPr id="32" name="Origin O"/>
                <p:cNvSpPr txBox="1">
                  <a:spLocks noRot="1" noChangeAspect="1" noMove="1" noResize="1" noEditPoints="1" noAdjustHandles="1" noChangeArrowheads="1" noChangeShapeType="1" noTextEdit="1"/>
                </p:cNvSpPr>
                <p:nvPr/>
              </p:nvSpPr>
              <p:spPr>
                <a:xfrm>
                  <a:off x="5781554" y="5003823"/>
                  <a:ext cx="281359" cy="372346"/>
                </a:xfrm>
                <a:prstGeom prst="rect">
                  <a:avLst/>
                </a:prstGeom>
                <a:blipFill>
                  <a:blip r:embed="rId10"/>
                  <a:stretch>
                    <a:fillRect l="-21277" r="-17021" b="-1639"/>
                  </a:stretch>
                </a:blipFill>
                <a:effectLst/>
              </p:spPr>
              <p:txBody>
                <a:bodyPr/>
                <a:lstStyle/>
                <a:p>
                  <a:r>
                    <a:rPr lang="zh-CN" altLang="en-US">
                      <a:noFill/>
                    </a:rPr>
                    <a:t> </a:t>
                  </a:r>
                </a:p>
              </p:txBody>
            </p:sp>
          </mc:Fallback>
        </mc:AlternateContent>
        <p:sp>
          <p:nvSpPr>
            <p:cNvPr id="34" name="Ground region R1 center"/>
            <p:cNvSpPr/>
            <p:nvPr/>
          </p:nvSpPr>
          <p:spPr>
            <a:xfrm>
              <a:off x="6720104" y="4092519"/>
              <a:ext cx="137160" cy="137160"/>
            </a:xfrm>
            <a:prstGeom prst="ellipse">
              <a:avLst/>
            </a:prstGeom>
            <a:solidFill>
              <a:srgbClr val="C22821"/>
            </a:solidFill>
            <a:ln w="10160">
              <a:solidFill>
                <a:srgbClr val="FFFFFF"/>
              </a:solidFill>
            </a:ln>
            <a:effectLst/>
          </p:spPr>
          <p:txBody>
            <a:bodyPr rtlCol="0" anchor="ctr"/>
            <a:lstStyle/>
            <a:p>
              <a:pPr algn="ctr"/>
              <a:endParaRPr/>
            </a:p>
          </p:txBody>
        </p:sp>
        <p:sp>
          <p:nvSpPr>
            <p:cNvPr id="38" name="Frame caption"/>
            <p:cNvSpPr txBox="1"/>
            <p:nvPr/>
          </p:nvSpPr>
          <p:spPr>
            <a:xfrm>
              <a:off x="4836645" y="5410723"/>
              <a:ext cx="2432256" cy="362984"/>
            </a:xfrm>
            <a:prstGeom prst="rect">
              <a:avLst/>
            </a:prstGeom>
            <a:noFill/>
            <a:effectLst/>
          </p:spPr>
          <p:txBody>
            <a:bodyPr wrap="square" lIns="0" tIns="0" rIns="0" bIns="0" anchor="ctr">
              <a:spAutoFit/>
            </a:bodyPr>
            <a:lstStyle/>
            <a:p>
              <a:pPr algn="ctr">
                <a:lnSpc>
                  <a:spcPct val="105000"/>
                </a:lnSpc>
                <a:spcBef>
                  <a:spcPts val="0"/>
                </a:spcBef>
                <a:spcAft>
                  <a:spcPts val="0"/>
                </a:spcAft>
              </a:pPr>
              <a:r>
                <a:rPr sz="2400" b="0" i="0" dirty="0">
                  <a:solidFill>
                    <a:schemeClr val="bg1"/>
                  </a:solidFill>
                  <a:latin typeface="Times New Roman" panose="02020603050405020304" pitchFamily="18" charset="0"/>
                  <a:cs typeface="Times New Roman" panose="02020603050405020304" pitchFamily="18" charset="0"/>
                </a:rPr>
                <a:t>J2000</a:t>
              </a:r>
              <a:r>
                <a:rPr lang="en-US" sz="2400" b="0" i="0" dirty="0">
                  <a:solidFill>
                    <a:schemeClr val="bg1"/>
                  </a:solidFill>
                  <a:latin typeface="Times New Roman" panose="02020603050405020304" pitchFamily="18" charset="0"/>
                  <a:cs typeface="Times New Roman" panose="02020603050405020304" pitchFamily="18" charset="0"/>
                </a:rPr>
                <a:t> Frame</a:t>
              </a:r>
              <a:endParaRPr sz="2400" b="0" i="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4" name="Counterpart label">
                  <a:extLst>
                    <a:ext uri="{FF2B5EF4-FFF2-40B4-BE49-F238E27FC236}">
                      <a16:creationId xmlns:a16="http://schemas.microsoft.com/office/drawing/2014/main" id="{6D02F213-C251-4A88-ACE4-962C440239BD}"/>
                    </a:ext>
                  </a:extLst>
                </p:cNvPr>
                <p:cNvSpPr txBox="1"/>
                <p:nvPr/>
              </p:nvSpPr>
              <p:spPr>
                <a:xfrm>
                  <a:off x="7805426" y="3815605"/>
                  <a:ext cx="2349761" cy="1138581"/>
                </a:xfrm>
                <a:prstGeom prst="rect">
                  <a:avLst/>
                </a:prstGeom>
                <a:noFill/>
                <a:effectLst/>
              </p:spPr>
              <p:txBody>
                <a:bodyPr wrap="square" lIns="0" tIns="0" rIns="0" bIns="0" anchor="ctr">
                  <a:spAutoFit/>
                </a:bodyPr>
                <a:lstStyle/>
                <a:p>
                  <a:pPr algn="ctr">
                    <a:lnSpc>
                      <a:spcPct val="105000"/>
                    </a:lnSpc>
                    <a:spcBef>
                      <a:spcPts val="0"/>
                    </a:spcBef>
                    <a:spcAft>
                      <a:spcPts val="0"/>
                    </a:spcAft>
                  </a:pPr>
                  <a:r>
                    <a:rPr lang="en-US" sz="2400" b="1" i="0" dirty="0">
                      <a:solidFill>
                        <a:srgbClr val="C00000"/>
                      </a:solidFill>
                      <a:latin typeface="Times New Roman" panose="02020603050405020304" pitchFamily="18" charset="0"/>
                      <a:cs typeface="Times New Roman" panose="02020603050405020304" pitchFamily="18" charset="0"/>
                    </a:rPr>
                    <a:t>Ground region counterpart</a:t>
                  </a:r>
                </a:p>
                <a:p>
                  <a:pPr algn="ctr">
                    <a:lnSpc>
                      <a:spcPct val="105000"/>
                    </a:lnSpc>
                    <a:spcBef>
                      <a:spcPts val="0"/>
                    </a:spcBef>
                    <a:spcAft>
                      <a:spcPts val="0"/>
                    </a:spcAft>
                  </a:pPr>
                  <a:r>
                    <a:rPr lang="en-US" sz="2400" b="0" i="0"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zh-CN" altLang="en-US" sz="2400" b="0" i="1" dirty="0" smtClean="0">
                          <a:solidFill>
                            <a:srgbClr val="C00000"/>
                          </a:solidFill>
                          <a:latin typeface="Cambria Math" panose="02040503050406030204" pitchFamily="18" charset="0"/>
                        </a:rPr>
                        <m:t>𝑐</m:t>
                      </m:r>
                      <m:r>
                        <a:rPr lang="en-US" altLang="zh-CN" sz="2400" b="0" i="1" dirty="0" smtClean="0">
                          <a:solidFill>
                            <a:srgbClr val="C00000"/>
                          </a:solidFill>
                          <a:latin typeface="Cambria Math" panose="02040503050406030204" pitchFamily="18" charset="0"/>
                        </a:rPr>
                        <m:t>∈</m:t>
                      </m:r>
                      <m:r>
                        <a:rPr lang="en-US" altLang="zh-CN" sz="2400" b="0" i="1" dirty="0" smtClean="0">
                          <a:solidFill>
                            <a:srgbClr val="C00000"/>
                          </a:solidFill>
                          <a:latin typeface="Cambria Math" panose="02040503050406030204" pitchFamily="18" charset="0"/>
                        </a:rPr>
                        <m:t>ℛ</m:t>
                      </m:r>
                    </m:oMath>
                  </a14:m>
                  <a:endParaRPr lang="en-US" sz="2400" b="0" i="0" dirty="0">
                    <a:solidFill>
                      <a:srgbClr val="C00000"/>
                    </a:solidFill>
                    <a:latin typeface="Times New Roman" panose="02020603050405020304" pitchFamily="18" charset="0"/>
                    <a:cs typeface="Times New Roman" panose="02020603050405020304" pitchFamily="18" charset="0"/>
                  </a:endParaRPr>
                </a:p>
              </p:txBody>
            </p:sp>
          </mc:Choice>
          <mc:Fallback>
            <p:sp>
              <p:nvSpPr>
                <p:cNvPr id="74" name="Counterpart label">
                  <a:extLst>
                    <a:ext uri="{FF2B5EF4-FFF2-40B4-BE49-F238E27FC236}">
                      <a16:creationId xmlns:a16="http://schemas.microsoft.com/office/drawing/2014/main" id="{6D02F213-C251-4A88-ACE4-962C440239BD}"/>
                    </a:ext>
                  </a:extLst>
                </p:cNvPr>
                <p:cNvSpPr txBox="1">
                  <a:spLocks noRot="1" noChangeAspect="1" noMove="1" noResize="1" noEditPoints="1" noAdjustHandles="1" noChangeArrowheads="1" noChangeShapeType="1" noTextEdit="1"/>
                </p:cNvSpPr>
                <p:nvPr/>
              </p:nvSpPr>
              <p:spPr>
                <a:xfrm>
                  <a:off x="7805426" y="3815605"/>
                  <a:ext cx="2349761" cy="1138581"/>
                </a:xfrm>
                <a:prstGeom prst="rect">
                  <a:avLst/>
                </a:prstGeom>
                <a:blipFill>
                  <a:blip r:embed="rId11"/>
                  <a:stretch>
                    <a:fillRect t="-8556" r="-2332" b="-2139"/>
                  </a:stretch>
                </a:blipFill>
                <a:effectLst/>
              </p:spPr>
              <p:txBody>
                <a:bodyPr/>
                <a:lstStyle/>
                <a:p>
                  <a:r>
                    <a:rPr lang="zh-CN" altLang="en-US">
                      <a:noFill/>
                    </a:rPr>
                    <a:t> </a:t>
                  </a:r>
                </a:p>
              </p:txBody>
            </p:sp>
          </mc:Fallback>
        </mc:AlternateContent>
        <p:cxnSp>
          <p:nvCxnSpPr>
            <p:cNvPr id="76" name="直接箭头连接符 75">
              <a:extLst>
                <a:ext uri="{FF2B5EF4-FFF2-40B4-BE49-F238E27FC236}">
                  <a16:creationId xmlns:a16="http://schemas.microsoft.com/office/drawing/2014/main" id="{7ECD3295-0AA6-497D-9EFB-152A2A6FCACC}"/>
                </a:ext>
              </a:extLst>
            </p:cNvPr>
            <p:cNvCxnSpPr>
              <a:cxnSpLocks/>
            </p:cNvCxnSpPr>
            <p:nvPr/>
          </p:nvCxnSpPr>
          <p:spPr>
            <a:xfrm flipV="1">
              <a:off x="4059878" y="2190765"/>
              <a:ext cx="2660226" cy="1183601"/>
            </a:xfrm>
            <a:prstGeom prst="straightConnector1">
              <a:avLst/>
            </a:prstGeom>
            <a:ln>
              <a:solidFill>
                <a:srgbClr val="C00000"/>
              </a:solidFill>
              <a:prstDash val="sysDash"/>
              <a:headEnd type="arrow" w="med" len="lg"/>
              <a:tailEnd type="arrow" w="med" len="lg"/>
            </a:ln>
          </p:spPr>
          <p:style>
            <a:lnRef idx="2">
              <a:schemeClr val="accent1"/>
            </a:lnRef>
            <a:fillRef idx="0">
              <a:schemeClr val="accent1"/>
            </a:fillRef>
            <a:effectRef idx="1">
              <a:schemeClr val="accent1"/>
            </a:effectRef>
            <a:fontRef idx="minor">
              <a:schemeClr val="tx1"/>
            </a:fontRef>
          </p:style>
        </p:cxnSp>
        <p:cxnSp>
          <p:nvCxnSpPr>
            <p:cNvPr id="77" name="直接箭头连接符 76">
              <a:extLst>
                <a:ext uri="{FF2B5EF4-FFF2-40B4-BE49-F238E27FC236}">
                  <a16:creationId xmlns:a16="http://schemas.microsoft.com/office/drawing/2014/main" id="{165524C5-98CD-48EF-9390-97D00BF3FDA3}"/>
                </a:ext>
              </a:extLst>
            </p:cNvPr>
            <p:cNvCxnSpPr>
              <a:cxnSpLocks/>
              <a:stCxn id="34" idx="0"/>
            </p:cNvCxnSpPr>
            <p:nvPr/>
          </p:nvCxnSpPr>
          <p:spPr>
            <a:xfrm flipV="1">
              <a:off x="6788684" y="2302874"/>
              <a:ext cx="130282" cy="1789645"/>
            </a:xfrm>
            <a:prstGeom prst="straightConnector1">
              <a:avLst/>
            </a:prstGeom>
            <a:ln>
              <a:solidFill>
                <a:srgbClr val="C00000"/>
              </a:solidFill>
              <a:prstDash val="sysDash"/>
              <a:headEnd type="arrow" w="med" len="lg"/>
              <a:tailEnd type="arrow" w="med" len="lg"/>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91</Words>
  <Application>Microsoft Office PowerPoint</Application>
  <PresentationFormat>自定义</PresentationFormat>
  <Paragraphs>13</Paragraphs>
  <Slides>1</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等线</vt:lpstr>
      <vt:lpstr>Arial</vt:lpstr>
      <vt:lpstr>Calibri</vt:lpstr>
      <vt:lpstr>Cambria Math</vt:lpstr>
      <vt:lpstr>Times New Roman</vt:lpstr>
      <vt:lpstr>Office Theme</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Intention recognition in the J2000 Earth-centered inertial frame</dc:title>
  <dc:subject>Editable reconstruction of the local task-scene candidate</dc:subject>
  <dc:creator>Research figure candidate</dc:creator>
  <cp:keywords/>
  <dc:description>generated using python-pptx</dc:description>
  <cp:lastModifiedBy>W.F.Laplace</cp:lastModifiedBy>
  <cp:revision>7</cp:revision>
  <dcterms:created xsi:type="dcterms:W3CDTF">2013-01-27T09:14:16Z</dcterms:created>
  <dcterms:modified xsi:type="dcterms:W3CDTF">2026-09-06T12:54:21Z</dcterms:modified>
  <cp:category/>
</cp:coreProperties>
</file>