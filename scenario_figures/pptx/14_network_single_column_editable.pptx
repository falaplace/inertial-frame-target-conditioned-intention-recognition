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799763" cy="14803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B75"/>
    <a:srgbClr val="72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2544" y="77"/>
      </p:cViewPr>
      <p:guideLst>
        <p:guide orient="horz" pos="2160"/>
        <p:guide pos="35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1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Single-slide editable reconstruction of 14_network_single_column_flat_modules_v2.png. All visible elements are native PowerPoint shapes or text, including the tensor faces, grids, neural nodes, synapses, module frames and mathematical labels. Tensor illustrations and neural diagrams are groups: ungroup to edit individual elements. Formulas are native rich text with editable superscripts/subscripts. Tensor grids and neuron counts are schematic, not declared layer sizes. The slide retains the original portrait aspect ratio; no manuscript files were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4167" y="2130426"/>
            <a:ext cx="945389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8334" y="3886200"/>
            <a:ext cx="778556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581" y="4406902"/>
            <a:ext cx="945389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8581" y="2906715"/>
            <a:ext cx="945389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0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6112" y="1600201"/>
            <a:ext cx="491231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800" y="1600201"/>
            <a:ext cx="491231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111" y="1535113"/>
            <a:ext cx="49142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3" indent="0">
              <a:buNone/>
              <a:defRPr sz="2000" b="1"/>
            </a:lvl2pPr>
            <a:lvl3pPr marL="914327" indent="0">
              <a:buNone/>
              <a:defRPr sz="1800" b="1"/>
            </a:lvl3pPr>
            <a:lvl4pPr marL="1371491" indent="0">
              <a:buNone/>
              <a:defRPr sz="1600" b="1"/>
            </a:lvl4pPr>
            <a:lvl5pPr marL="1828654" indent="0">
              <a:buNone/>
              <a:defRPr sz="1600" b="1"/>
            </a:lvl5pPr>
            <a:lvl6pPr marL="2285818" indent="0">
              <a:buNone/>
              <a:defRPr sz="1600" b="1"/>
            </a:lvl6pPr>
            <a:lvl7pPr marL="2742981" indent="0">
              <a:buNone/>
              <a:defRPr sz="1600" b="1"/>
            </a:lvl7pPr>
            <a:lvl8pPr marL="3200145" indent="0">
              <a:buNone/>
              <a:defRPr sz="1600" b="1"/>
            </a:lvl8pPr>
            <a:lvl9pPr marL="365730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6111" y="2174875"/>
            <a:ext cx="49142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940" y="1535113"/>
            <a:ext cx="49161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3" indent="0">
              <a:buNone/>
              <a:defRPr sz="2000" b="1"/>
            </a:lvl2pPr>
            <a:lvl3pPr marL="914327" indent="0">
              <a:buNone/>
              <a:defRPr sz="1800" b="1"/>
            </a:lvl3pPr>
            <a:lvl4pPr marL="1371491" indent="0">
              <a:buNone/>
              <a:defRPr sz="1600" b="1"/>
            </a:lvl4pPr>
            <a:lvl5pPr marL="1828654" indent="0">
              <a:buNone/>
              <a:defRPr sz="1600" b="1"/>
            </a:lvl5pPr>
            <a:lvl6pPr marL="2285818" indent="0">
              <a:buNone/>
              <a:defRPr sz="1600" b="1"/>
            </a:lvl6pPr>
            <a:lvl7pPr marL="2742981" indent="0">
              <a:buNone/>
              <a:defRPr sz="1600" b="1"/>
            </a:lvl7pPr>
            <a:lvl8pPr marL="3200145" indent="0">
              <a:buNone/>
              <a:defRPr sz="1600" b="1"/>
            </a:lvl8pPr>
            <a:lvl9pPr marL="365730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940" y="2174875"/>
            <a:ext cx="491618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13" y="273051"/>
            <a:ext cx="365913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8483" y="273051"/>
            <a:ext cx="621763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6113" y="1435102"/>
            <a:ext cx="365913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3" indent="0">
              <a:buNone/>
              <a:defRPr sz="1200"/>
            </a:lvl2pPr>
            <a:lvl3pPr marL="914327" indent="0">
              <a:buNone/>
              <a:defRPr sz="1000"/>
            </a:lvl3pPr>
            <a:lvl4pPr marL="1371491" indent="0">
              <a:buNone/>
              <a:defRPr sz="900"/>
            </a:lvl4pPr>
            <a:lvl5pPr marL="1828654" indent="0">
              <a:buNone/>
              <a:defRPr sz="900"/>
            </a:lvl5pPr>
            <a:lvl6pPr marL="2285818" indent="0">
              <a:buNone/>
              <a:defRPr sz="900"/>
            </a:lvl6pPr>
            <a:lvl7pPr marL="2742981" indent="0">
              <a:buNone/>
              <a:defRPr sz="900"/>
            </a:lvl7pPr>
            <a:lvl8pPr marL="3200145" indent="0">
              <a:buNone/>
              <a:defRPr sz="900"/>
            </a:lvl8pPr>
            <a:lvl9pPr marL="365730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0035" y="4800600"/>
            <a:ext cx="667333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80035" y="612776"/>
            <a:ext cx="667333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63" indent="0">
              <a:buNone/>
              <a:defRPr sz="2800"/>
            </a:lvl2pPr>
            <a:lvl3pPr marL="914327" indent="0">
              <a:buNone/>
              <a:defRPr sz="2400"/>
            </a:lvl3pPr>
            <a:lvl4pPr marL="1371491" indent="0">
              <a:buNone/>
              <a:defRPr sz="2000"/>
            </a:lvl4pPr>
            <a:lvl5pPr marL="1828654" indent="0">
              <a:buNone/>
              <a:defRPr sz="2000"/>
            </a:lvl5pPr>
            <a:lvl6pPr marL="2285818" indent="0">
              <a:buNone/>
              <a:defRPr sz="2000"/>
            </a:lvl6pPr>
            <a:lvl7pPr marL="2742981" indent="0">
              <a:buNone/>
              <a:defRPr sz="2000"/>
            </a:lvl7pPr>
            <a:lvl8pPr marL="3200145" indent="0">
              <a:buNone/>
              <a:defRPr sz="2000"/>
            </a:lvl8pPr>
            <a:lvl9pPr marL="365730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0035" y="5367338"/>
            <a:ext cx="667333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63" indent="0">
              <a:buNone/>
              <a:defRPr sz="1200"/>
            </a:lvl2pPr>
            <a:lvl3pPr marL="914327" indent="0">
              <a:buNone/>
              <a:defRPr sz="1000"/>
            </a:lvl3pPr>
            <a:lvl4pPr marL="1371491" indent="0">
              <a:buNone/>
              <a:defRPr sz="900"/>
            </a:lvl4pPr>
            <a:lvl5pPr marL="1828654" indent="0">
              <a:buNone/>
              <a:defRPr sz="900"/>
            </a:lvl5pPr>
            <a:lvl6pPr marL="2285818" indent="0">
              <a:buNone/>
              <a:defRPr sz="900"/>
            </a:lvl6pPr>
            <a:lvl7pPr marL="2742981" indent="0">
              <a:buNone/>
              <a:defRPr sz="900"/>
            </a:lvl7pPr>
            <a:lvl8pPr marL="3200145" indent="0">
              <a:buNone/>
              <a:defRPr sz="900"/>
            </a:lvl8pPr>
            <a:lvl9pPr marL="365730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63616" y="274640"/>
            <a:ext cx="2502502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6111" y="274640"/>
            <a:ext cx="732213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6111" y="274638"/>
            <a:ext cx="1001000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111" y="1600201"/>
            <a:ext cx="1001000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6111" y="6356350"/>
            <a:ext cx="2595187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00095" y="6356350"/>
            <a:ext cx="3522039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0931" y="6356350"/>
            <a:ext cx="2595187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6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72" indent="-342872" algn="l" defTabSz="457163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91" indent="-285727" algn="l" defTabSz="457163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9" indent="-228582" algn="l" defTabSz="457163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72" indent="-228582" algn="l" defTabSz="457163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36" indent="-228582" algn="l" defTabSz="457163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9" indent="-228582" algn="l" defTabSz="45716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63" indent="-228582" algn="l" defTabSz="45716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7" indent="-228582" algn="l" defTabSz="45716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90" indent="-228582" algn="l" defTabSz="457163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7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1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4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8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81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45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8" algn="l" defTabSz="4571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组合 829">
            <a:extLst>
              <a:ext uri="{FF2B5EF4-FFF2-40B4-BE49-F238E27FC236}">
                <a16:creationId xmlns:a16="http://schemas.microsoft.com/office/drawing/2014/main" id="{EE6DEA28-BD86-4617-803A-2239DC0DCFEC}"/>
              </a:ext>
            </a:extLst>
          </p:cNvPr>
          <p:cNvGrpSpPr/>
          <p:nvPr/>
        </p:nvGrpSpPr>
        <p:grpSpPr>
          <a:xfrm>
            <a:off x="447972" y="463299"/>
            <a:ext cx="9192326" cy="13516648"/>
            <a:chOff x="365029" y="71110"/>
            <a:chExt cx="9192326" cy="13516648"/>
          </a:xfrm>
        </p:grpSpPr>
        <p:cxnSp>
          <p:nvCxnSpPr>
            <p:cNvPr id="744" name="Shared encoder → counterfactual feature">
              <a:extLst>
                <a:ext uri="{FF2B5EF4-FFF2-40B4-BE49-F238E27FC236}">
                  <a16:creationId xmlns:a16="http://schemas.microsoft.com/office/drawing/2014/main" id="{C1701095-0A8F-46E3-924A-C27F2E42FE82}"/>
                </a:ext>
              </a:extLst>
            </p:cNvPr>
            <p:cNvCxnSpPr>
              <a:cxnSpLocks/>
              <a:endCxn id="480" idx="0"/>
            </p:cNvCxnSpPr>
            <p:nvPr/>
          </p:nvCxnSpPr>
          <p:spPr>
            <a:xfrm>
              <a:off x="7860570" y="5360228"/>
              <a:ext cx="0" cy="221370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med" len="med"/>
            </a:ln>
            <a:effectLst/>
          </p:spPr>
        </p:cxnSp>
        <p:cxnSp>
          <p:nvCxnSpPr>
            <p:cNvPr id="2" name="Factual pair → shared encoder"/>
            <p:cNvCxnSpPr/>
            <p:nvPr/>
          </p:nvCxnSpPr>
          <p:spPr>
            <a:xfrm>
              <a:off x="3671125" y="905256"/>
              <a:ext cx="0" cy="539496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lg" len="lg"/>
            </a:ln>
            <a:effectLst/>
          </p:spPr>
        </p:cxnSp>
        <p:cxnSp>
          <p:nvCxnSpPr>
            <p:cNvPr id="3" name="Counterfactual pair → shared encoder"/>
            <p:cNvCxnSpPr/>
            <p:nvPr/>
          </p:nvCxnSpPr>
          <p:spPr>
            <a:xfrm>
              <a:off x="6149149" y="905256"/>
              <a:ext cx="0" cy="539496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lg" len="lg"/>
            </a:ln>
            <a:effectLst/>
          </p:spPr>
        </p:cxnSp>
        <p:cxnSp>
          <p:nvCxnSpPr>
            <p:cNvPr id="4" name="Shared encoder → factual feature"/>
            <p:cNvCxnSpPr/>
            <p:nvPr/>
          </p:nvCxnSpPr>
          <p:spPr>
            <a:xfrm>
              <a:off x="3827087" y="2860917"/>
              <a:ext cx="0" cy="530352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lg" len="lg"/>
            </a:ln>
            <a:effectLst/>
          </p:spPr>
        </p:cxnSp>
        <p:cxnSp>
          <p:nvCxnSpPr>
            <p:cNvPr id="5" name="Shared encoder → counterfactual feature"/>
            <p:cNvCxnSpPr/>
            <p:nvPr/>
          </p:nvCxnSpPr>
          <p:spPr>
            <a:xfrm>
              <a:off x="6158293" y="2880360"/>
              <a:ext cx="0" cy="566928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lg" len="lg"/>
            </a:ln>
            <a:effectLst/>
          </p:spPr>
        </p:cxnSp>
        <p:sp>
          <p:nvSpPr>
            <p:cNvPr id="6" name="Factual feature → difference"/>
            <p:cNvSpPr/>
            <p:nvPr/>
          </p:nvSpPr>
          <p:spPr>
            <a:xfrm>
              <a:off x="3625407" y="4059936"/>
              <a:ext cx="1042415" cy="182880"/>
            </a:xfrm>
            <a:custGeom>
              <a:avLst/>
              <a:gdLst/>
              <a:ahLst/>
              <a:cxnLst/>
              <a:rect l="0" t="0" r="w" b="h"/>
              <a:pathLst>
                <a:path w="114000" h="20000" fill="none" extrusionOk="0">
                  <a:moveTo>
                    <a:pt x="0" y="0"/>
                  </a:moveTo>
                  <a:lnTo>
                    <a:pt x="0" y="12000"/>
                  </a:lnTo>
                  <a:cubicBezTo>
                    <a:pt x="0" y="17333"/>
                    <a:pt x="2667" y="20000"/>
                    <a:pt x="8000" y="20000"/>
                  </a:cubicBezTo>
                  <a:lnTo>
                    <a:pt x="114000" y="20000"/>
                  </a:lnTo>
                </a:path>
              </a:pathLst>
            </a:custGeom>
            <a:noFill/>
            <a:ln w="36576" cap="rnd">
              <a:solidFill>
                <a:srgbClr val="0088AE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Counterfactual feature → difference"/>
            <p:cNvSpPr/>
            <p:nvPr/>
          </p:nvSpPr>
          <p:spPr>
            <a:xfrm>
              <a:off x="5161598" y="4059936"/>
              <a:ext cx="676656" cy="182880"/>
            </a:xfrm>
            <a:custGeom>
              <a:avLst/>
              <a:gdLst/>
              <a:ahLst/>
              <a:cxnLst/>
              <a:rect l="0" t="0" r="w" b="h"/>
              <a:pathLst>
                <a:path w="74000" h="20000" fill="none" extrusionOk="0">
                  <a:moveTo>
                    <a:pt x="74000" y="0"/>
                  </a:moveTo>
                  <a:lnTo>
                    <a:pt x="74000" y="12000"/>
                  </a:lnTo>
                  <a:cubicBezTo>
                    <a:pt x="74000" y="17333"/>
                    <a:pt x="71333" y="20000"/>
                    <a:pt x="66000" y="20000"/>
                  </a:cubicBezTo>
                  <a:lnTo>
                    <a:pt x="0" y="20000"/>
                  </a:lnTo>
                </a:path>
              </a:pathLst>
            </a:custGeom>
            <a:noFill/>
            <a:ln w="36576" cap="rnd">
              <a:solidFill>
                <a:srgbClr val="0060F0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9" name="Difference → event comparator"/>
            <p:cNvCxnSpPr/>
            <p:nvPr/>
          </p:nvCxnSpPr>
          <p:spPr>
            <a:xfrm>
              <a:off x="4914709" y="4489704"/>
              <a:ext cx="0" cy="256032"/>
            </a:xfrm>
            <a:prstGeom prst="line">
              <a:avLst/>
            </a:prstGeom>
            <a:ln w="36576" cap="rnd">
              <a:solidFill>
                <a:srgbClr val="080C66"/>
              </a:solidFill>
              <a:tailEnd type="triangle" w="med" len="med"/>
            </a:ln>
            <a:effectLst/>
          </p:spPr>
        </p:cxnSp>
        <p:cxnSp>
          <p:nvCxnSpPr>
            <p:cNvPr id="10" name="Maneuver input → maneuver TCN"/>
            <p:cNvCxnSpPr>
              <a:cxnSpLocks/>
              <a:endCxn id="431" idx="0"/>
            </p:cNvCxnSpPr>
            <p:nvPr/>
          </p:nvCxnSpPr>
          <p:spPr>
            <a:xfrm flipH="1">
              <a:off x="1697482" y="3265532"/>
              <a:ext cx="7694" cy="365870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med" len="med"/>
            </a:ln>
            <a:effectLst/>
          </p:spPr>
        </p:cxnSp>
        <p:cxnSp>
          <p:nvCxnSpPr>
            <p:cNvPr id="11" name="Maneuver input → event gate"/>
            <p:cNvCxnSpPr>
              <a:cxnSpLocks/>
            </p:cNvCxnSpPr>
            <p:nvPr/>
          </p:nvCxnSpPr>
          <p:spPr>
            <a:xfrm flipH="1">
              <a:off x="4898062" y="6681229"/>
              <a:ext cx="1" cy="158750"/>
            </a:xfrm>
            <a:prstGeom prst="line">
              <a:avLst/>
            </a:prstGeom>
            <a:ln w="36576" cap="rnd">
              <a:solidFill>
                <a:srgbClr val="FF560A"/>
              </a:solidFill>
              <a:tailEnd type="triangle" w="med" len="med"/>
            </a:ln>
            <a:effectLst/>
          </p:spPr>
        </p:cxnSp>
        <p:cxnSp>
          <p:nvCxnSpPr>
            <p:cNvPr id="12" name="Maneuver TCN → maneuver feature"/>
            <p:cNvCxnSpPr>
              <a:cxnSpLocks/>
            </p:cNvCxnSpPr>
            <p:nvPr/>
          </p:nvCxnSpPr>
          <p:spPr>
            <a:xfrm flipH="1">
              <a:off x="1393000" y="4624321"/>
              <a:ext cx="1524" cy="429768"/>
            </a:xfrm>
            <a:prstGeom prst="line">
              <a:avLst/>
            </a:prstGeom>
            <a:ln w="36576" cap="rnd">
              <a:solidFill>
                <a:srgbClr val="0088AE"/>
              </a:solidFill>
              <a:tailEnd type="triangle" w="med" len="med"/>
            </a:ln>
            <a:effectLst/>
          </p:spPr>
        </p:cxnSp>
        <p:cxnSp>
          <p:nvCxnSpPr>
            <p:cNvPr id="14" name="Event gate → event comparator"/>
            <p:cNvCxnSpPr>
              <a:cxnSpLocks/>
            </p:cNvCxnSpPr>
            <p:nvPr/>
          </p:nvCxnSpPr>
          <p:spPr>
            <a:xfrm flipV="1">
              <a:off x="1980196" y="6249849"/>
              <a:ext cx="1288022" cy="18926"/>
            </a:xfrm>
            <a:prstGeom prst="line">
              <a:avLst/>
            </a:prstGeom>
            <a:ln w="36576" cap="rnd">
              <a:solidFill>
                <a:srgbClr val="FF560A"/>
              </a:solidFill>
              <a:tailEnd type="triangle" w="lg" len="lg"/>
            </a:ln>
            <a:effectLst/>
          </p:spPr>
        </p:cxnSp>
        <p:cxnSp>
          <p:nvCxnSpPr>
            <p:cNvPr id="20" name="Static input → static MLP"/>
            <p:cNvCxnSpPr>
              <a:cxnSpLocks/>
              <a:endCxn id="483" idx="3"/>
            </p:cNvCxnSpPr>
            <p:nvPr/>
          </p:nvCxnSpPr>
          <p:spPr>
            <a:xfrm flipH="1">
              <a:off x="8455257" y="10202956"/>
              <a:ext cx="271184" cy="0"/>
            </a:xfrm>
            <a:prstGeom prst="line">
              <a:avLst/>
            </a:prstGeom>
            <a:ln w="36576" cap="rnd">
              <a:solidFill>
                <a:srgbClr val="0060F0"/>
              </a:solidFill>
              <a:tailEnd type="triangle" w="med" len="med"/>
            </a:ln>
            <a:effectLst/>
          </p:spPr>
        </p:cxnSp>
        <p:cxnSp>
          <p:nvCxnSpPr>
            <p:cNvPr id="23" name="Fusion → classifier"/>
            <p:cNvCxnSpPr>
              <a:cxnSpLocks/>
              <a:stCxn id="503" idx="2"/>
              <a:endCxn id="594" idx="0"/>
            </p:cNvCxnSpPr>
            <p:nvPr/>
          </p:nvCxnSpPr>
          <p:spPr>
            <a:xfrm flipH="1">
              <a:off x="4937479" y="8532273"/>
              <a:ext cx="3952" cy="276553"/>
            </a:xfrm>
            <a:prstGeom prst="line">
              <a:avLst/>
            </a:prstGeom>
            <a:ln w="36576" cap="rnd">
              <a:solidFill>
                <a:srgbClr val="080C66"/>
              </a:solidFill>
              <a:tailEnd type="triangle" w="med" len="med"/>
            </a:ln>
            <a:effectLst/>
          </p:spPr>
        </p:cxnSp>
        <p:cxnSp>
          <p:nvCxnSpPr>
            <p:cNvPr id="24" name="Classifier → logits"/>
            <p:cNvCxnSpPr/>
            <p:nvPr/>
          </p:nvCxnSpPr>
          <p:spPr>
            <a:xfrm>
              <a:off x="4873470" y="9986878"/>
              <a:ext cx="0" cy="137160"/>
            </a:xfrm>
            <a:prstGeom prst="line">
              <a:avLst/>
            </a:prstGeom>
            <a:ln w="36576" cap="rnd">
              <a:solidFill>
                <a:srgbClr val="080C66"/>
              </a:solidFill>
              <a:tailEnd type="triangle" w="med" len="med"/>
            </a:ln>
            <a:effectLst/>
          </p:spPr>
        </p:cxnSp>
        <p:cxnSp>
          <p:nvCxnSpPr>
            <p:cNvPr id="25" name="Logits → counterpart-type mask"/>
            <p:cNvCxnSpPr/>
            <p:nvPr/>
          </p:nvCxnSpPr>
          <p:spPr>
            <a:xfrm>
              <a:off x="4873470" y="10773262"/>
              <a:ext cx="0" cy="192024"/>
            </a:xfrm>
            <a:prstGeom prst="line">
              <a:avLst/>
            </a:prstGeom>
            <a:ln w="36576" cap="rnd">
              <a:solidFill>
                <a:srgbClr val="586678"/>
              </a:solidFill>
              <a:tailEnd type="triangle" w="med" len="med"/>
            </a:ln>
            <a:effectLst/>
          </p:spPr>
        </p:cxnSp>
        <p:cxnSp>
          <p:nvCxnSpPr>
            <p:cNvPr id="26" name="Counterpart type → mask"/>
            <p:cNvCxnSpPr>
              <a:cxnSpLocks/>
            </p:cNvCxnSpPr>
            <p:nvPr/>
          </p:nvCxnSpPr>
          <p:spPr>
            <a:xfrm>
              <a:off x="2288112" y="11302536"/>
              <a:ext cx="762687" cy="0"/>
            </a:xfrm>
            <a:prstGeom prst="line">
              <a:avLst/>
            </a:prstGeom>
            <a:ln w="36576" cap="rnd">
              <a:solidFill>
                <a:srgbClr val="586678"/>
              </a:solidFill>
              <a:tailEnd type="triangle" w="med" len="lg"/>
            </a:ln>
            <a:effectLst/>
          </p:spPr>
        </p:cxnSp>
        <p:cxnSp>
          <p:nvCxnSpPr>
            <p:cNvPr id="27" name="Counterpart-type mask → softmax"/>
            <p:cNvCxnSpPr/>
            <p:nvPr/>
          </p:nvCxnSpPr>
          <p:spPr>
            <a:xfrm>
              <a:off x="4873470" y="11715094"/>
              <a:ext cx="0" cy="137160"/>
            </a:xfrm>
            <a:prstGeom prst="line">
              <a:avLst/>
            </a:prstGeom>
            <a:ln w="36576" cap="rnd">
              <a:solidFill>
                <a:srgbClr val="586678"/>
              </a:solidFill>
              <a:tailEnd type="triangle" w="med" len="med"/>
            </a:ln>
            <a:effectLst/>
          </p:spPr>
        </p:cxnSp>
        <p:cxnSp>
          <p:nvCxnSpPr>
            <p:cNvPr id="28" name="Softmax → intention support"/>
            <p:cNvCxnSpPr>
              <a:cxnSpLocks/>
            </p:cNvCxnSpPr>
            <p:nvPr/>
          </p:nvCxnSpPr>
          <p:spPr>
            <a:xfrm>
              <a:off x="4873470" y="12300310"/>
              <a:ext cx="0" cy="338535"/>
            </a:xfrm>
            <a:prstGeom prst="line">
              <a:avLst/>
            </a:prstGeom>
            <a:ln w="36576" cap="rnd">
              <a:solidFill>
                <a:srgbClr val="080C66"/>
              </a:solidFill>
              <a:tailEnd type="triangle" w="med" len="med"/>
            </a:ln>
            <a:effectLst/>
          </p:spPr>
        </p:cxnSp>
        <p:grpSp>
          <p:nvGrpSpPr>
            <p:cNvPr id="29" name="Factual pair input"/>
            <p:cNvGrpSpPr/>
            <p:nvPr/>
          </p:nvGrpSpPr>
          <p:grpSpPr>
            <a:xfrm>
              <a:off x="2481737" y="515315"/>
              <a:ext cx="2391733" cy="721250"/>
              <a:chOff x="2130552" y="411480"/>
              <a:chExt cx="1682496" cy="493776"/>
            </a:xfrm>
          </p:grpSpPr>
          <p:sp>
            <p:nvSpPr>
              <p:cNvPr id="30" name="Factual pair input | top face"/>
              <p:cNvSpPr/>
              <p:nvPr/>
            </p:nvSpPr>
            <p:spPr>
              <a:xfrm>
                <a:off x="2130552" y="411480"/>
                <a:ext cx="1682496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1682496" h="146304">
                    <a:moveTo>
                      <a:pt x="0" y="146304"/>
                    </a:moveTo>
                    <a:lnTo>
                      <a:pt x="210312" y="0"/>
                    </a:lnTo>
                    <a:lnTo>
                      <a:pt x="1682496" y="0"/>
                    </a:lnTo>
                    <a:lnTo>
                      <a:pt x="1472184" y="1463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Factual pair input | side face"/>
              <p:cNvSpPr/>
              <p:nvPr/>
            </p:nvSpPr>
            <p:spPr>
              <a:xfrm>
                <a:off x="3602736" y="411480"/>
                <a:ext cx="210312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210312" h="493776">
                    <a:moveTo>
                      <a:pt x="0" y="146304"/>
                    </a:moveTo>
                    <a:lnTo>
                      <a:pt x="210312" y="0"/>
                    </a:lnTo>
                    <a:lnTo>
                      <a:pt x="210312" y="347472"/>
                    </a:lnTo>
                    <a:lnTo>
                      <a:pt x="0" y="4937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Factual pair input | front face"/>
              <p:cNvSpPr/>
              <p:nvPr/>
            </p:nvSpPr>
            <p:spPr>
              <a:xfrm>
                <a:off x="2130552" y="557784"/>
                <a:ext cx="1472184" cy="347472"/>
              </a:xfrm>
              <a:custGeom>
                <a:avLst/>
                <a:gdLst/>
                <a:ahLst/>
                <a:cxnLst/>
                <a:rect l="l" t="t" r="r" b="b"/>
                <a:pathLst>
                  <a:path w="1472184" h="347472">
                    <a:moveTo>
                      <a:pt x="0" y="0"/>
                    </a:moveTo>
                    <a:lnTo>
                      <a:pt x="1472184" y="0"/>
                    </a:lnTo>
                    <a:lnTo>
                      <a:pt x="1472184" y="347472"/>
                    </a:lnTo>
                    <a:lnTo>
                      <a:pt x="0" y="34747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" name="Factual pair input | front column 1"/>
              <p:cNvCxnSpPr/>
              <p:nvPr/>
            </p:nvCxnSpPr>
            <p:spPr>
              <a:xfrm>
                <a:off x="2253234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34" name="Factual pair input | top column 1"/>
              <p:cNvCxnSpPr/>
              <p:nvPr/>
            </p:nvCxnSpPr>
            <p:spPr>
              <a:xfrm flipV="1">
                <a:off x="2253234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35" name="Factual pair input | front column 2"/>
              <p:cNvCxnSpPr/>
              <p:nvPr/>
            </p:nvCxnSpPr>
            <p:spPr>
              <a:xfrm>
                <a:off x="2375916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36" name="Factual pair input | top column 2"/>
              <p:cNvCxnSpPr/>
              <p:nvPr/>
            </p:nvCxnSpPr>
            <p:spPr>
              <a:xfrm flipV="1">
                <a:off x="2375916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37" name="Factual pair input | front column 3"/>
              <p:cNvCxnSpPr/>
              <p:nvPr/>
            </p:nvCxnSpPr>
            <p:spPr>
              <a:xfrm>
                <a:off x="2498598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38" name="Factual pair input | top column 3"/>
              <p:cNvCxnSpPr/>
              <p:nvPr/>
            </p:nvCxnSpPr>
            <p:spPr>
              <a:xfrm flipV="1">
                <a:off x="2498598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39" name="Factual pair input | front column 4"/>
              <p:cNvCxnSpPr/>
              <p:nvPr/>
            </p:nvCxnSpPr>
            <p:spPr>
              <a:xfrm>
                <a:off x="2621280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0" name="Factual pair input | top column 4"/>
              <p:cNvCxnSpPr/>
              <p:nvPr/>
            </p:nvCxnSpPr>
            <p:spPr>
              <a:xfrm flipV="1">
                <a:off x="2621280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1" name="Factual pair input | front column 5"/>
              <p:cNvCxnSpPr/>
              <p:nvPr/>
            </p:nvCxnSpPr>
            <p:spPr>
              <a:xfrm>
                <a:off x="2743962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2" name="Factual pair input | top column 5"/>
              <p:cNvCxnSpPr/>
              <p:nvPr/>
            </p:nvCxnSpPr>
            <p:spPr>
              <a:xfrm flipV="1">
                <a:off x="2743962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3" name="Factual pair input | front column 6"/>
              <p:cNvCxnSpPr/>
              <p:nvPr/>
            </p:nvCxnSpPr>
            <p:spPr>
              <a:xfrm>
                <a:off x="2866644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4" name="Factual pair input | top column 6"/>
              <p:cNvCxnSpPr/>
              <p:nvPr/>
            </p:nvCxnSpPr>
            <p:spPr>
              <a:xfrm flipV="1">
                <a:off x="2866644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5" name="Factual pair input | front column 7"/>
              <p:cNvCxnSpPr/>
              <p:nvPr/>
            </p:nvCxnSpPr>
            <p:spPr>
              <a:xfrm>
                <a:off x="2989326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6" name="Factual pair input | top column 7"/>
              <p:cNvCxnSpPr/>
              <p:nvPr/>
            </p:nvCxnSpPr>
            <p:spPr>
              <a:xfrm flipV="1">
                <a:off x="2989326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7" name="Factual pair input | front column 8"/>
              <p:cNvCxnSpPr/>
              <p:nvPr/>
            </p:nvCxnSpPr>
            <p:spPr>
              <a:xfrm>
                <a:off x="3112008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8" name="Factual pair input | top column 8"/>
              <p:cNvCxnSpPr/>
              <p:nvPr/>
            </p:nvCxnSpPr>
            <p:spPr>
              <a:xfrm flipV="1">
                <a:off x="3112008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49" name="Factual pair input | front column 9"/>
              <p:cNvCxnSpPr/>
              <p:nvPr/>
            </p:nvCxnSpPr>
            <p:spPr>
              <a:xfrm>
                <a:off x="3234690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0" name="Factual pair input | top column 9"/>
              <p:cNvCxnSpPr/>
              <p:nvPr/>
            </p:nvCxnSpPr>
            <p:spPr>
              <a:xfrm flipV="1">
                <a:off x="3234690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1" name="Factual pair input | front column 10"/>
              <p:cNvCxnSpPr/>
              <p:nvPr/>
            </p:nvCxnSpPr>
            <p:spPr>
              <a:xfrm>
                <a:off x="3357372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2" name="Factual pair input | top column 10"/>
              <p:cNvCxnSpPr/>
              <p:nvPr/>
            </p:nvCxnSpPr>
            <p:spPr>
              <a:xfrm flipV="1">
                <a:off x="3357372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3" name="Factual pair input | front column 11"/>
              <p:cNvCxnSpPr/>
              <p:nvPr/>
            </p:nvCxnSpPr>
            <p:spPr>
              <a:xfrm>
                <a:off x="3480054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4" name="Factual pair input | top column 11"/>
              <p:cNvCxnSpPr/>
              <p:nvPr/>
            </p:nvCxnSpPr>
            <p:spPr>
              <a:xfrm flipV="1">
                <a:off x="3480054" y="411480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5" name="Factual pair input | front row 1"/>
              <p:cNvCxnSpPr/>
              <p:nvPr/>
            </p:nvCxnSpPr>
            <p:spPr>
              <a:xfrm>
                <a:off x="2130552" y="673608"/>
                <a:ext cx="14721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6" name="Factual pair input | side row 1"/>
              <p:cNvCxnSpPr/>
              <p:nvPr/>
            </p:nvCxnSpPr>
            <p:spPr>
              <a:xfrm flipV="1">
                <a:off x="3602736" y="527304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7" name="Factual pair input | front row 2"/>
              <p:cNvCxnSpPr/>
              <p:nvPr/>
            </p:nvCxnSpPr>
            <p:spPr>
              <a:xfrm>
                <a:off x="2130552" y="789432"/>
                <a:ext cx="14721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8" name="Factual pair input | side row 2"/>
              <p:cNvCxnSpPr/>
              <p:nvPr/>
            </p:nvCxnSpPr>
            <p:spPr>
              <a:xfrm flipV="1">
                <a:off x="3602736" y="643128"/>
                <a:ext cx="21031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59" name="Factual pair input | top depth 1"/>
              <p:cNvCxnSpPr/>
              <p:nvPr/>
            </p:nvCxnSpPr>
            <p:spPr>
              <a:xfrm>
                <a:off x="2200656" y="509016"/>
                <a:ext cx="14721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60" name="Factual pair input | side depth 1"/>
              <p:cNvCxnSpPr/>
              <p:nvPr/>
            </p:nvCxnSpPr>
            <p:spPr>
              <a:xfrm>
                <a:off x="3672840" y="509016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61" name="Factual pair input | top depth 2"/>
              <p:cNvCxnSpPr/>
              <p:nvPr/>
            </p:nvCxnSpPr>
            <p:spPr>
              <a:xfrm>
                <a:off x="2270760" y="460248"/>
                <a:ext cx="14721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62" name="Factual pair input | side depth 2"/>
              <p:cNvCxnSpPr/>
              <p:nvPr/>
            </p:nvCxnSpPr>
            <p:spPr>
              <a:xfrm>
                <a:off x="3742944" y="460248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</p:grpSp>
        <p:grpSp>
          <p:nvGrpSpPr>
            <p:cNvPr id="63" name="Counterfactual pair input"/>
            <p:cNvGrpSpPr/>
            <p:nvPr/>
          </p:nvGrpSpPr>
          <p:grpSpPr>
            <a:xfrm>
              <a:off x="5108198" y="501997"/>
              <a:ext cx="2328890" cy="734568"/>
              <a:chOff x="5166360" y="411480"/>
              <a:chExt cx="1746504" cy="493776"/>
            </a:xfrm>
          </p:grpSpPr>
          <p:sp>
            <p:nvSpPr>
              <p:cNvPr id="64" name="Counterfactual pair input | top face"/>
              <p:cNvSpPr/>
              <p:nvPr/>
            </p:nvSpPr>
            <p:spPr>
              <a:xfrm>
                <a:off x="5166360" y="411480"/>
                <a:ext cx="1746504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1746504" h="146304">
                    <a:moveTo>
                      <a:pt x="0" y="146304"/>
                    </a:moveTo>
                    <a:lnTo>
                      <a:pt x="182880" y="0"/>
                    </a:lnTo>
                    <a:lnTo>
                      <a:pt x="1746504" y="0"/>
                    </a:lnTo>
                    <a:lnTo>
                      <a:pt x="1563624" y="1463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5" name="Counterfactual pair input | side face"/>
              <p:cNvSpPr/>
              <p:nvPr/>
            </p:nvSpPr>
            <p:spPr>
              <a:xfrm>
                <a:off x="6729984" y="411480"/>
                <a:ext cx="182880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493776">
                    <a:moveTo>
                      <a:pt x="0" y="146304"/>
                    </a:moveTo>
                    <a:lnTo>
                      <a:pt x="182880" y="0"/>
                    </a:lnTo>
                    <a:lnTo>
                      <a:pt x="182880" y="347472"/>
                    </a:lnTo>
                    <a:lnTo>
                      <a:pt x="0" y="4937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Counterfactual pair input | front face"/>
              <p:cNvSpPr/>
              <p:nvPr/>
            </p:nvSpPr>
            <p:spPr>
              <a:xfrm>
                <a:off x="5166360" y="557784"/>
                <a:ext cx="1563624" cy="347472"/>
              </a:xfrm>
              <a:custGeom>
                <a:avLst/>
                <a:gdLst/>
                <a:ahLst/>
                <a:cxnLst/>
                <a:rect l="l" t="t" r="r" b="b"/>
                <a:pathLst>
                  <a:path w="1563624" h="347472">
                    <a:moveTo>
                      <a:pt x="0" y="0"/>
                    </a:moveTo>
                    <a:lnTo>
                      <a:pt x="1563624" y="0"/>
                    </a:lnTo>
                    <a:lnTo>
                      <a:pt x="1563624" y="347472"/>
                    </a:lnTo>
                    <a:lnTo>
                      <a:pt x="0" y="34747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7" name="Counterfactual pair input | front column 1"/>
              <p:cNvCxnSpPr/>
              <p:nvPr/>
            </p:nvCxnSpPr>
            <p:spPr>
              <a:xfrm>
                <a:off x="5296662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68" name="Counterfactual pair input | top column 1"/>
              <p:cNvCxnSpPr/>
              <p:nvPr/>
            </p:nvCxnSpPr>
            <p:spPr>
              <a:xfrm flipV="1">
                <a:off x="5296662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69" name="Counterfactual pair input | front column 2"/>
              <p:cNvCxnSpPr/>
              <p:nvPr/>
            </p:nvCxnSpPr>
            <p:spPr>
              <a:xfrm>
                <a:off x="5426964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0" name="Counterfactual pair input | top column 2"/>
              <p:cNvCxnSpPr/>
              <p:nvPr/>
            </p:nvCxnSpPr>
            <p:spPr>
              <a:xfrm flipV="1">
                <a:off x="5426964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1" name="Counterfactual pair input | front column 3"/>
              <p:cNvCxnSpPr/>
              <p:nvPr/>
            </p:nvCxnSpPr>
            <p:spPr>
              <a:xfrm>
                <a:off x="5557266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2" name="Counterfactual pair input | top column 3"/>
              <p:cNvCxnSpPr/>
              <p:nvPr/>
            </p:nvCxnSpPr>
            <p:spPr>
              <a:xfrm flipV="1">
                <a:off x="5557266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3" name="Counterfactual pair input | front column 4"/>
              <p:cNvCxnSpPr/>
              <p:nvPr/>
            </p:nvCxnSpPr>
            <p:spPr>
              <a:xfrm>
                <a:off x="5687568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4" name="Counterfactual pair input | top column 4"/>
              <p:cNvCxnSpPr/>
              <p:nvPr/>
            </p:nvCxnSpPr>
            <p:spPr>
              <a:xfrm flipV="1">
                <a:off x="5687568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5" name="Counterfactual pair input | front column 5"/>
              <p:cNvCxnSpPr/>
              <p:nvPr/>
            </p:nvCxnSpPr>
            <p:spPr>
              <a:xfrm>
                <a:off x="5817870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6" name="Counterfactual pair input | top column 5"/>
              <p:cNvCxnSpPr/>
              <p:nvPr/>
            </p:nvCxnSpPr>
            <p:spPr>
              <a:xfrm flipV="1">
                <a:off x="5817870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7" name="Counterfactual pair input | front column 6"/>
              <p:cNvCxnSpPr/>
              <p:nvPr/>
            </p:nvCxnSpPr>
            <p:spPr>
              <a:xfrm>
                <a:off x="5948172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8" name="Counterfactual pair input | top column 6"/>
              <p:cNvCxnSpPr/>
              <p:nvPr/>
            </p:nvCxnSpPr>
            <p:spPr>
              <a:xfrm flipV="1">
                <a:off x="5948172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79" name="Counterfactual pair input | front column 7"/>
              <p:cNvCxnSpPr/>
              <p:nvPr/>
            </p:nvCxnSpPr>
            <p:spPr>
              <a:xfrm>
                <a:off x="6078474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0" name="Counterfactual pair input | top column 7"/>
              <p:cNvCxnSpPr/>
              <p:nvPr/>
            </p:nvCxnSpPr>
            <p:spPr>
              <a:xfrm flipV="1">
                <a:off x="6078474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1" name="Counterfactual pair input | front column 8"/>
              <p:cNvCxnSpPr/>
              <p:nvPr/>
            </p:nvCxnSpPr>
            <p:spPr>
              <a:xfrm>
                <a:off x="6208776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2" name="Counterfactual pair input | top column 8"/>
              <p:cNvCxnSpPr/>
              <p:nvPr/>
            </p:nvCxnSpPr>
            <p:spPr>
              <a:xfrm flipV="1">
                <a:off x="6208776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3" name="Counterfactual pair input | front column 9"/>
              <p:cNvCxnSpPr/>
              <p:nvPr/>
            </p:nvCxnSpPr>
            <p:spPr>
              <a:xfrm>
                <a:off x="6339078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4" name="Counterfactual pair input | top column 9"/>
              <p:cNvCxnSpPr/>
              <p:nvPr/>
            </p:nvCxnSpPr>
            <p:spPr>
              <a:xfrm flipV="1">
                <a:off x="6339078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5" name="Counterfactual pair input | front column 10"/>
              <p:cNvCxnSpPr/>
              <p:nvPr/>
            </p:nvCxnSpPr>
            <p:spPr>
              <a:xfrm>
                <a:off x="6469380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6" name="Counterfactual pair input | top column 10"/>
              <p:cNvCxnSpPr/>
              <p:nvPr/>
            </p:nvCxnSpPr>
            <p:spPr>
              <a:xfrm flipV="1">
                <a:off x="6469380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7" name="Counterfactual pair input | front column 11"/>
              <p:cNvCxnSpPr/>
              <p:nvPr/>
            </p:nvCxnSpPr>
            <p:spPr>
              <a:xfrm>
                <a:off x="6599682" y="55778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8" name="Counterfactual pair input | top column 11"/>
              <p:cNvCxnSpPr/>
              <p:nvPr/>
            </p:nvCxnSpPr>
            <p:spPr>
              <a:xfrm flipV="1">
                <a:off x="6599682" y="411480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89" name="Counterfactual pair input | front row 1"/>
              <p:cNvCxnSpPr/>
              <p:nvPr/>
            </p:nvCxnSpPr>
            <p:spPr>
              <a:xfrm>
                <a:off x="5166360" y="673608"/>
                <a:ext cx="156362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0" name="Counterfactual pair input | side row 1"/>
              <p:cNvCxnSpPr/>
              <p:nvPr/>
            </p:nvCxnSpPr>
            <p:spPr>
              <a:xfrm flipV="1">
                <a:off x="6729984" y="527304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1" name="Counterfactual pair input | front row 2"/>
              <p:cNvCxnSpPr/>
              <p:nvPr/>
            </p:nvCxnSpPr>
            <p:spPr>
              <a:xfrm>
                <a:off x="5166360" y="789432"/>
                <a:ext cx="156362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2" name="Counterfactual pair input | side row 2"/>
              <p:cNvCxnSpPr/>
              <p:nvPr/>
            </p:nvCxnSpPr>
            <p:spPr>
              <a:xfrm flipV="1">
                <a:off x="6729984" y="643128"/>
                <a:ext cx="182880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3" name="Counterfactual pair input | top depth 1"/>
              <p:cNvCxnSpPr/>
              <p:nvPr/>
            </p:nvCxnSpPr>
            <p:spPr>
              <a:xfrm>
                <a:off x="5227320" y="509016"/>
                <a:ext cx="156362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4" name="Counterfactual pair input | side depth 1"/>
              <p:cNvCxnSpPr/>
              <p:nvPr/>
            </p:nvCxnSpPr>
            <p:spPr>
              <a:xfrm>
                <a:off x="6790944" y="509016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5" name="Counterfactual pair input | top depth 2"/>
              <p:cNvCxnSpPr/>
              <p:nvPr/>
            </p:nvCxnSpPr>
            <p:spPr>
              <a:xfrm>
                <a:off x="5288280" y="460248"/>
                <a:ext cx="156362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96" name="Counterfactual pair input | side depth 2"/>
              <p:cNvCxnSpPr/>
              <p:nvPr/>
            </p:nvCxnSpPr>
            <p:spPr>
              <a:xfrm>
                <a:off x="6851904" y="460248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</p:grpSp>
        <p:grpSp>
          <p:nvGrpSpPr>
            <p:cNvPr id="123" name="Counterfactual feature hCF"/>
            <p:cNvGrpSpPr/>
            <p:nvPr/>
          </p:nvGrpSpPr>
          <p:grpSpPr>
            <a:xfrm>
              <a:off x="5536501" y="3438144"/>
              <a:ext cx="877824" cy="621792"/>
              <a:chOff x="5084064" y="3438144"/>
              <a:chExt cx="877824" cy="621792"/>
            </a:xfrm>
          </p:grpSpPr>
          <p:sp>
            <p:nvSpPr>
              <p:cNvPr id="124" name="Counterfactual feature hCF | top face"/>
              <p:cNvSpPr/>
              <p:nvPr/>
            </p:nvSpPr>
            <p:spPr>
              <a:xfrm>
                <a:off x="5084064" y="3438144"/>
                <a:ext cx="877824" cy="301752"/>
              </a:xfrm>
              <a:custGeom>
                <a:avLst/>
                <a:gdLst/>
                <a:ahLst/>
                <a:cxnLst/>
                <a:rect l="l" t="t" r="r" b="b"/>
                <a:pathLst>
                  <a:path w="877824" h="301752">
                    <a:moveTo>
                      <a:pt x="0" y="301752"/>
                    </a:moveTo>
                    <a:lnTo>
                      <a:pt x="256032" y="0"/>
                    </a:lnTo>
                    <a:lnTo>
                      <a:pt x="877824" y="0"/>
                    </a:lnTo>
                    <a:lnTo>
                      <a:pt x="621792" y="30175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Counterfactual feature hCF | side face"/>
              <p:cNvSpPr/>
              <p:nvPr/>
            </p:nvSpPr>
            <p:spPr>
              <a:xfrm>
                <a:off x="5705856" y="3438144"/>
                <a:ext cx="256032" cy="621792"/>
              </a:xfrm>
              <a:custGeom>
                <a:avLst/>
                <a:gdLst/>
                <a:ahLst/>
                <a:cxnLst/>
                <a:rect l="l" t="t" r="r" b="b"/>
                <a:pathLst>
                  <a:path w="256032" h="621792">
                    <a:moveTo>
                      <a:pt x="0" y="301752"/>
                    </a:moveTo>
                    <a:lnTo>
                      <a:pt x="256032" y="0"/>
                    </a:lnTo>
                    <a:lnTo>
                      <a:pt x="256032" y="320040"/>
                    </a:lnTo>
                    <a:lnTo>
                      <a:pt x="0" y="6217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Counterfactual feature hCF | front face"/>
              <p:cNvSpPr/>
              <p:nvPr/>
            </p:nvSpPr>
            <p:spPr>
              <a:xfrm>
                <a:off x="5084064" y="3739896"/>
                <a:ext cx="621792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621792" h="320040">
                    <a:moveTo>
                      <a:pt x="0" y="0"/>
                    </a:moveTo>
                    <a:lnTo>
                      <a:pt x="621792" y="0"/>
                    </a:lnTo>
                    <a:lnTo>
                      <a:pt x="621792" y="320040"/>
                    </a:lnTo>
                    <a:lnTo>
                      <a:pt x="0" y="32004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7" name="Counterfactual feature hCF | front column 1"/>
              <p:cNvCxnSpPr/>
              <p:nvPr/>
            </p:nvCxnSpPr>
            <p:spPr>
              <a:xfrm>
                <a:off x="5187696" y="3739896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28" name="Counterfactual feature hCF | top column 1"/>
              <p:cNvCxnSpPr/>
              <p:nvPr/>
            </p:nvCxnSpPr>
            <p:spPr>
              <a:xfrm flipV="1">
                <a:off x="5187696" y="343814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29" name="Counterfactual feature hCF | front column 2"/>
              <p:cNvCxnSpPr/>
              <p:nvPr/>
            </p:nvCxnSpPr>
            <p:spPr>
              <a:xfrm>
                <a:off x="5291328" y="3739896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0" name="Counterfactual feature hCF | top column 2"/>
              <p:cNvCxnSpPr/>
              <p:nvPr/>
            </p:nvCxnSpPr>
            <p:spPr>
              <a:xfrm flipV="1">
                <a:off x="5291328" y="343814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1" name="Counterfactual feature hCF | front column 3"/>
              <p:cNvCxnSpPr/>
              <p:nvPr/>
            </p:nvCxnSpPr>
            <p:spPr>
              <a:xfrm>
                <a:off x="5394960" y="3739896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2" name="Counterfactual feature hCF | top column 3"/>
              <p:cNvCxnSpPr/>
              <p:nvPr/>
            </p:nvCxnSpPr>
            <p:spPr>
              <a:xfrm flipV="1">
                <a:off x="5394960" y="343814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3" name="Counterfactual feature hCF | front column 4"/>
              <p:cNvCxnSpPr/>
              <p:nvPr/>
            </p:nvCxnSpPr>
            <p:spPr>
              <a:xfrm>
                <a:off x="5498592" y="3739896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4" name="Counterfactual feature hCF | top column 4"/>
              <p:cNvCxnSpPr/>
              <p:nvPr/>
            </p:nvCxnSpPr>
            <p:spPr>
              <a:xfrm flipV="1">
                <a:off x="5498592" y="343814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5" name="Counterfactual feature hCF | front column 5"/>
              <p:cNvCxnSpPr/>
              <p:nvPr/>
            </p:nvCxnSpPr>
            <p:spPr>
              <a:xfrm>
                <a:off x="5602224" y="3739896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6" name="Counterfactual feature hCF | top column 5"/>
              <p:cNvCxnSpPr/>
              <p:nvPr/>
            </p:nvCxnSpPr>
            <p:spPr>
              <a:xfrm flipV="1">
                <a:off x="5602224" y="343814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7" name="Counterfactual feature hCF | front row 1"/>
              <p:cNvCxnSpPr/>
              <p:nvPr/>
            </p:nvCxnSpPr>
            <p:spPr>
              <a:xfrm>
                <a:off x="5084064" y="3846576"/>
                <a:ext cx="621792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8" name="Counterfactual feature hCF | side row 1"/>
              <p:cNvCxnSpPr/>
              <p:nvPr/>
            </p:nvCxnSpPr>
            <p:spPr>
              <a:xfrm flipV="1">
                <a:off x="5705856" y="354482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39" name="Counterfactual feature hCF | front row 2"/>
              <p:cNvCxnSpPr/>
              <p:nvPr/>
            </p:nvCxnSpPr>
            <p:spPr>
              <a:xfrm>
                <a:off x="5084064" y="3953256"/>
                <a:ext cx="621792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0" name="Counterfactual feature hCF | side row 2"/>
              <p:cNvCxnSpPr/>
              <p:nvPr/>
            </p:nvCxnSpPr>
            <p:spPr>
              <a:xfrm flipV="1">
                <a:off x="5705856" y="3651504"/>
                <a:ext cx="256032" cy="301752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1" name="Counterfactual feature hCF | top depth 1"/>
              <p:cNvCxnSpPr/>
              <p:nvPr/>
            </p:nvCxnSpPr>
            <p:spPr>
              <a:xfrm>
                <a:off x="5135270" y="3679546"/>
                <a:ext cx="621792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2" name="Counterfactual feature hCF | side depth 1"/>
              <p:cNvCxnSpPr/>
              <p:nvPr/>
            </p:nvCxnSpPr>
            <p:spPr>
              <a:xfrm>
                <a:off x="5757062" y="3679546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3" name="Counterfactual feature hCF | top depth 2"/>
              <p:cNvCxnSpPr/>
              <p:nvPr/>
            </p:nvCxnSpPr>
            <p:spPr>
              <a:xfrm>
                <a:off x="5186477" y="3619195"/>
                <a:ext cx="621792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4" name="Counterfactual feature hCF | side depth 2"/>
              <p:cNvCxnSpPr/>
              <p:nvPr/>
            </p:nvCxnSpPr>
            <p:spPr>
              <a:xfrm>
                <a:off x="5808269" y="3619195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5" name="Counterfactual feature hCF | top depth 3"/>
              <p:cNvCxnSpPr/>
              <p:nvPr/>
            </p:nvCxnSpPr>
            <p:spPr>
              <a:xfrm>
                <a:off x="5237683" y="3558845"/>
                <a:ext cx="621792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6" name="Counterfactual feature hCF | side depth 3"/>
              <p:cNvCxnSpPr/>
              <p:nvPr/>
            </p:nvCxnSpPr>
            <p:spPr>
              <a:xfrm>
                <a:off x="5859475" y="3558845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7" name="Counterfactual feature hCF | top depth 4"/>
              <p:cNvCxnSpPr/>
              <p:nvPr/>
            </p:nvCxnSpPr>
            <p:spPr>
              <a:xfrm>
                <a:off x="5288890" y="3498494"/>
                <a:ext cx="621792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148" name="Counterfactual feature hCF | side depth 4"/>
              <p:cNvCxnSpPr/>
              <p:nvPr/>
            </p:nvCxnSpPr>
            <p:spPr>
              <a:xfrm>
                <a:off x="5910682" y="3498494"/>
                <a:ext cx="0" cy="32004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</p:grpSp>
        <p:grpSp>
          <p:nvGrpSpPr>
            <p:cNvPr id="149" name="Maneuver sequence U"/>
            <p:cNvGrpSpPr/>
            <p:nvPr/>
          </p:nvGrpSpPr>
          <p:grpSpPr>
            <a:xfrm>
              <a:off x="679563" y="2614024"/>
              <a:ext cx="2156409" cy="833264"/>
              <a:chOff x="548640" y="5047488"/>
              <a:chExt cx="1051560" cy="493776"/>
            </a:xfrm>
          </p:grpSpPr>
          <p:sp>
            <p:nvSpPr>
              <p:cNvPr id="150" name="Maneuver sequence U | top face"/>
              <p:cNvSpPr/>
              <p:nvPr/>
            </p:nvSpPr>
            <p:spPr>
              <a:xfrm>
                <a:off x="548640" y="5047488"/>
                <a:ext cx="1051560" cy="146304"/>
              </a:xfrm>
              <a:custGeom>
                <a:avLst/>
                <a:gdLst/>
                <a:ahLst/>
                <a:cxnLst/>
                <a:rect l="l" t="t" r="r" b="b"/>
                <a:pathLst>
                  <a:path w="1051560" h="146304">
                    <a:moveTo>
                      <a:pt x="0" y="146304"/>
                    </a:moveTo>
                    <a:lnTo>
                      <a:pt x="118872" y="0"/>
                    </a:lnTo>
                    <a:lnTo>
                      <a:pt x="1051560" y="0"/>
                    </a:lnTo>
                    <a:lnTo>
                      <a:pt x="932688" y="14630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Maneuver sequence U | side face"/>
              <p:cNvSpPr/>
              <p:nvPr/>
            </p:nvSpPr>
            <p:spPr>
              <a:xfrm>
                <a:off x="1481328" y="5047488"/>
                <a:ext cx="118872" cy="493776"/>
              </a:xfrm>
              <a:custGeom>
                <a:avLst/>
                <a:gdLst/>
                <a:ahLst/>
                <a:cxnLst/>
                <a:rect l="l" t="t" r="r" b="b"/>
                <a:pathLst>
                  <a:path w="118872" h="493776">
                    <a:moveTo>
                      <a:pt x="0" y="146304"/>
                    </a:moveTo>
                    <a:lnTo>
                      <a:pt x="118872" y="0"/>
                    </a:lnTo>
                    <a:lnTo>
                      <a:pt x="118872" y="347472"/>
                    </a:lnTo>
                    <a:lnTo>
                      <a:pt x="0" y="4937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Maneuver sequence U | front face"/>
              <p:cNvSpPr/>
              <p:nvPr/>
            </p:nvSpPr>
            <p:spPr>
              <a:xfrm>
                <a:off x="548640" y="5193792"/>
                <a:ext cx="932688" cy="347472"/>
              </a:xfrm>
              <a:custGeom>
                <a:avLst/>
                <a:gdLst/>
                <a:ahLst/>
                <a:cxnLst/>
                <a:rect l="l" t="t" r="r" b="b"/>
                <a:pathLst>
                  <a:path w="932688" h="347472">
                    <a:moveTo>
                      <a:pt x="0" y="0"/>
                    </a:moveTo>
                    <a:lnTo>
                      <a:pt x="932688" y="0"/>
                    </a:lnTo>
                    <a:lnTo>
                      <a:pt x="932688" y="347472"/>
                    </a:lnTo>
                    <a:lnTo>
                      <a:pt x="0" y="34747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3" name="Maneuver sequence U | front column 1"/>
              <p:cNvCxnSpPr/>
              <p:nvPr/>
            </p:nvCxnSpPr>
            <p:spPr>
              <a:xfrm>
                <a:off x="665226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54" name="Maneuver sequence U | top column 1"/>
              <p:cNvCxnSpPr/>
              <p:nvPr/>
            </p:nvCxnSpPr>
            <p:spPr>
              <a:xfrm flipV="1">
                <a:off x="665226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55" name="Maneuver sequence U | front column 2"/>
              <p:cNvCxnSpPr/>
              <p:nvPr/>
            </p:nvCxnSpPr>
            <p:spPr>
              <a:xfrm>
                <a:off x="781812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56" name="Maneuver sequence U | top column 2"/>
              <p:cNvCxnSpPr/>
              <p:nvPr/>
            </p:nvCxnSpPr>
            <p:spPr>
              <a:xfrm flipV="1">
                <a:off x="781812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57" name="Maneuver sequence U | front column 3"/>
              <p:cNvCxnSpPr/>
              <p:nvPr/>
            </p:nvCxnSpPr>
            <p:spPr>
              <a:xfrm>
                <a:off x="898398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58" name="Maneuver sequence U | top column 3"/>
              <p:cNvCxnSpPr/>
              <p:nvPr/>
            </p:nvCxnSpPr>
            <p:spPr>
              <a:xfrm flipV="1">
                <a:off x="898398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59" name="Maneuver sequence U | front column 4"/>
              <p:cNvCxnSpPr/>
              <p:nvPr/>
            </p:nvCxnSpPr>
            <p:spPr>
              <a:xfrm>
                <a:off x="1014984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0" name="Maneuver sequence U | top column 4"/>
              <p:cNvCxnSpPr/>
              <p:nvPr/>
            </p:nvCxnSpPr>
            <p:spPr>
              <a:xfrm flipV="1">
                <a:off x="1014984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1" name="Maneuver sequence U | front column 5"/>
              <p:cNvCxnSpPr/>
              <p:nvPr/>
            </p:nvCxnSpPr>
            <p:spPr>
              <a:xfrm>
                <a:off x="1131570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2" name="Maneuver sequence U | top column 5"/>
              <p:cNvCxnSpPr/>
              <p:nvPr/>
            </p:nvCxnSpPr>
            <p:spPr>
              <a:xfrm flipV="1">
                <a:off x="1131570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3" name="Maneuver sequence U | front column 6"/>
              <p:cNvCxnSpPr/>
              <p:nvPr/>
            </p:nvCxnSpPr>
            <p:spPr>
              <a:xfrm>
                <a:off x="1248156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4" name="Maneuver sequence U | top column 6"/>
              <p:cNvCxnSpPr/>
              <p:nvPr/>
            </p:nvCxnSpPr>
            <p:spPr>
              <a:xfrm flipV="1">
                <a:off x="1248156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5" name="Maneuver sequence U | front column 7"/>
              <p:cNvCxnSpPr/>
              <p:nvPr/>
            </p:nvCxnSpPr>
            <p:spPr>
              <a:xfrm>
                <a:off x="1364742" y="51937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6" name="Maneuver sequence U | top column 7"/>
              <p:cNvCxnSpPr/>
              <p:nvPr/>
            </p:nvCxnSpPr>
            <p:spPr>
              <a:xfrm flipV="1">
                <a:off x="1364742" y="5047488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7" name="Maneuver sequence U | front row 1"/>
              <p:cNvCxnSpPr/>
              <p:nvPr/>
            </p:nvCxnSpPr>
            <p:spPr>
              <a:xfrm>
                <a:off x="548640" y="5309616"/>
                <a:ext cx="932688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8" name="Maneuver sequence U | side row 1"/>
              <p:cNvCxnSpPr/>
              <p:nvPr/>
            </p:nvCxnSpPr>
            <p:spPr>
              <a:xfrm flipV="1">
                <a:off x="1481328" y="5163312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69" name="Maneuver sequence U | front row 2"/>
              <p:cNvCxnSpPr/>
              <p:nvPr/>
            </p:nvCxnSpPr>
            <p:spPr>
              <a:xfrm>
                <a:off x="548640" y="5425440"/>
                <a:ext cx="932688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70" name="Maneuver sequence U | side row 2"/>
              <p:cNvCxnSpPr/>
              <p:nvPr/>
            </p:nvCxnSpPr>
            <p:spPr>
              <a:xfrm flipV="1">
                <a:off x="1481328" y="5279136"/>
                <a:ext cx="118872" cy="146304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71" name="Maneuver sequence U | top depth 1"/>
              <p:cNvCxnSpPr/>
              <p:nvPr/>
            </p:nvCxnSpPr>
            <p:spPr>
              <a:xfrm>
                <a:off x="588264" y="5145024"/>
                <a:ext cx="932688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72" name="Maneuver sequence U | side depth 1"/>
              <p:cNvCxnSpPr/>
              <p:nvPr/>
            </p:nvCxnSpPr>
            <p:spPr>
              <a:xfrm>
                <a:off x="1520952" y="5145024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73" name="Maneuver sequence U | top depth 2"/>
              <p:cNvCxnSpPr/>
              <p:nvPr/>
            </p:nvCxnSpPr>
            <p:spPr>
              <a:xfrm>
                <a:off x="627888" y="5096256"/>
                <a:ext cx="932688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174" name="Maneuver sequence U | side depth 2"/>
              <p:cNvCxnSpPr/>
              <p:nvPr/>
            </p:nvCxnSpPr>
            <p:spPr>
              <a:xfrm>
                <a:off x="1560576" y="5096256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</p:grpSp>
        <p:grpSp>
          <p:nvGrpSpPr>
            <p:cNvPr id="175" name="Maneuver feature hm"/>
            <p:cNvGrpSpPr/>
            <p:nvPr/>
          </p:nvGrpSpPr>
          <p:grpSpPr>
            <a:xfrm>
              <a:off x="1097366" y="5093527"/>
              <a:ext cx="585216" cy="475488"/>
              <a:chOff x="3282696" y="5221224"/>
              <a:chExt cx="585216" cy="475488"/>
            </a:xfrm>
          </p:grpSpPr>
          <p:sp>
            <p:nvSpPr>
              <p:cNvPr id="176" name="Maneuver feature hm | top face"/>
              <p:cNvSpPr/>
              <p:nvPr/>
            </p:nvSpPr>
            <p:spPr>
              <a:xfrm>
                <a:off x="3282696" y="5221224"/>
                <a:ext cx="585216" cy="118872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118872">
                    <a:moveTo>
                      <a:pt x="0" y="118872"/>
                    </a:moveTo>
                    <a:lnTo>
                      <a:pt x="137160" y="0"/>
                    </a:lnTo>
                    <a:lnTo>
                      <a:pt x="585216" y="0"/>
                    </a:lnTo>
                    <a:lnTo>
                      <a:pt x="448056" y="11887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Maneuver feature hm | side face"/>
              <p:cNvSpPr/>
              <p:nvPr/>
            </p:nvSpPr>
            <p:spPr>
              <a:xfrm>
                <a:off x="3730752" y="5221224"/>
                <a:ext cx="137160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475488">
                    <a:moveTo>
                      <a:pt x="0" y="118872"/>
                    </a:moveTo>
                    <a:lnTo>
                      <a:pt x="137160" y="0"/>
                    </a:lnTo>
                    <a:lnTo>
                      <a:pt x="137160" y="356616"/>
                    </a:lnTo>
                    <a:lnTo>
                      <a:pt x="0" y="47548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Maneuver feature hm | front face"/>
              <p:cNvSpPr/>
              <p:nvPr/>
            </p:nvSpPr>
            <p:spPr>
              <a:xfrm>
                <a:off x="3282696" y="5340096"/>
                <a:ext cx="448056" cy="356616"/>
              </a:xfrm>
              <a:custGeom>
                <a:avLst/>
                <a:gdLst/>
                <a:ahLst/>
                <a:cxnLst/>
                <a:rect l="l" t="t" r="r" b="b"/>
                <a:pathLst>
                  <a:path w="448056" h="356616">
                    <a:moveTo>
                      <a:pt x="0" y="0"/>
                    </a:moveTo>
                    <a:lnTo>
                      <a:pt x="448056" y="0"/>
                    </a:lnTo>
                    <a:lnTo>
                      <a:pt x="448056" y="356616"/>
                    </a:lnTo>
                    <a:lnTo>
                      <a:pt x="0" y="3566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79" name="Maneuver feature hm | front column 1"/>
              <p:cNvCxnSpPr/>
              <p:nvPr/>
            </p:nvCxnSpPr>
            <p:spPr>
              <a:xfrm>
                <a:off x="3394710" y="5340096"/>
                <a:ext cx="0" cy="3566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0" name="Maneuver feature hm | top column 1"/>
              <p:cNvCxnSpPr/>
              <p:nvPr/>
            </p:nvCxnSpPr>
            <p:spPr>
              <a:xfrm flipV="1">
                <a:off x="3394710" y="5221224"/>
                <a:ext cx="137160" cy="1188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1" name="Maneuver feature hm | front column 2"/>
              <p:cNvCxnSpPr/>
              <p:nvPr/>
            </p:nvCxnSpPr>
            <p:spPr>
              <a:xfrm>
                <a:off x="3506724" y="5340096"/>
                <a:ext cx="0" cy="3566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2" name="Maneuver feature hm | top column 2"/>
              <p:cNvCxnSpPr/>
              <p:nvPr/>
            </p:nvCxnSpPr>
            <p:spPr>
              <a:xfrm flipV="1">
                <a:off x="3506724" y="5221224"/>
                <a:ext cx="137160" cy="1188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3" name="Maneuver feature hm | front column 3"/>
              <p:cNvCxnSpPr/>
              <p:nvPr/>
            </p:nvCxnSpPr>
            <p:spPr>
              <a:xfrm>
                <a:off x="3618738" y="5340096"/>
                <a:ext cx="0" cy="3566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4" name="Maneuver feature hm | top column 3"/>
              <p:cNvCxnSpPr/>
              <p:nvPr/>
            </p:nvCxnSpPr>
            <p:spPr>
              <a:xfrm flipV="1">
                <a:off x="3618738" y="5221224"/>
                <a:ext cx="137160" cy="1188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5" name="Maneuver feature hm | front row 1"/>
              <p:cNvCxnSpPr/>
              <p:nvPr/>
            </p:nvCxnSpPr>
            <p:spPr>
              <a:xfrm>
                <a:off x="3282696" y="5458968"/>
                <a:ext cx="448056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6" name="Maneuver feature hm | side row 1"/>
              <p:cNvCxnSpPr/>
              <p:nvPr/>
            </p:nvCxnSpPr>
            <p:spPr>
              <a:xfrm flipV="1">
                <a:off x="3730752" y="5340096"/>
                <a:ext cx="137160" cy="1188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7" name="Maneuver feature hm | front row 2"/>
              <p:cNvCxnSpPr/>
              <p:nvPr/>
            </p:nvCxnSpPr>
            <p:spPr>
              <a:xfrm>
                <a:off x="3282696" y="5577840"/>
                <a:ext cx="448056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8" name="Maneuver feature hm | side row 2"/>
              <p:cNvCxnSpPr/>
              <p:nvPr/>
            </p:nvCxnSpPr>
            <p:spPr>
              <a:xfrm flipV="1">
                <a:off x="3730752" y="5458968"/>
                <a:ext cx="137160" cy="1188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89" name="Maneuver feature hm | top depth 1"/>
              <p:cNvCxnSpPr/>
              <p:nvPr/>
            </p:nvCxnSpPr>
            <p:spPr>
              <a:xfrm>
                <a:off x="3328416" y="5300472"/>
                <a:ext cx="448056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90" name="Maneuver feature hm | side depth 1"/>
              <p:cNvCxnSpPr/>
              <p:nvPr/>
            </p:nvCxnSpPr>
            <p:spPr>
              <a:xfrm>
                <a:off x="3776472" y="5300472"/>
                <a:ext cx="0" cy="3566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91" name="Maneuver feature hm | top depth 2"/>
              <p:cNvCxnSpPr/>
              <p:nvPr/>
            </p:nvCxnSpPr>
            <p:spPr>
              <a:xfrm>
                <a:off x="3374136" y="5260848"/>
                <a:ext cx="448056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92" name="Maneuver feature hm | side depth 2"/>
              <p:cNvCxnSpPr/>
              <p:nvPr/>
            </p:nvCxnSpPr>
            <p:spPr>
              <a:xfrm>
                <a:off x="3822192" y="5260848"/>
                <a:ext cx="0" cy="3566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p:grpSp>
          <p:nvGrpSpPr>
            <p:cNvPr id="193" name="Event feature he"/>
            <p:cNvGrpSpPr/>
            <p:nvPr/>
          </p:nvGrpSpPr>
          <p:grpSpPr>
            <a:xfrm>
              <a:off x="4268152" y="6839979"/>
              <a:ext cx="1330071" cy="614112"/>
              <a:chOff x="7507224" y="5312664"/>
              <a:chExt cx="868680" cy="585216"/>
            </a:xfrm>
          </p:grpSpPr>
          <p:sp>
            <p:nvSpPr>
              <p:cNvPr id="194" name="Event feature he | top face"/>
              <p:cNvSpPr/>
              <p:nvPr/>
            </p:nvSpPr>
            <p:spPr>
              <a:xfrm>
                <a:off x="7507224" y="5312664"/>
                <a:ext cx="86868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868680" h="182880">
                    <a:moveTo>
                      <a:pt x="0" y="182880"/>
                    </a:moveTo>
                    <a:lnTo>
                      <a:pt x="228600" y="0"/>
                    </a:lnTo>
                    <a:lnTo>
                      <a:pt x="868680" y="0"/>
                    </a:lnTo>
                    <a:lnTo>
                      <a:pt x="640080" y="1828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1DA"/>
                  </a:gs>
                  <a:gs pos="100000">
                    <a:srgbClr val="FFAB55"/>
                  </a:gs>
                </a:gsLst>
                <a:lin ang="5400000" scaled="1"/>
                <a:tileRect/>
              </a:gradFill>
              <a:ln w="8636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5" name="Event feature he | side face"/>
              <p:cNvSpPr/>
              <p:nvPr/>
            </p:nvSpPr>
            <p:spPr>
              <a:xfrm>
                <a:off x="8147304" y="5312664"/>
                <a:ext cx="228600" cy="5852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85216">
                    <a:moveTo>
                      <a:pt x="0" y="182880"/>
                    </a:moveTo>
                    <a:lnTo>
                      <a:pt x="228600" y="0"/>
                    </a:lnTo>
                    <a:lnTo>
                      <a:pt x="228600" y="402336"/>
                    </a:lnTo>
                    <a:lnTo>
                      <a:pt x="0" y="5852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AB55"/>
                  </a:gs>
                  <a:gs pos="100000">
                    <a:srgbClr val="EA6C13"/>
                  </a:gs>
                </a:gsLst>
                <a:lin ang="0" scaled="1"/>
                <a:tileRect/>
              </a:gradFill>
              <a:ln w="8636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6" name="Event feature he | front face"/>
              <p:cNvSpPr/>
              <p:nvPr/>
            </p:nvSpPr>
            <p:spPr>
              <a:xfrm>
                <a:off x="7507224" y="5495544"/>
                <a:ext cx="640080" cy="402336"/>
              </a:xfrm>
              <a:custGeom>
                <a:avLst/>
                <a:gdLst/>
                <a:ahLst/>
                <a:cxnLst/>
                <a:rect l="l" t="t" r="r" b="b"/>
                <a:pathLst>
                  <a:path w="640080" h="402336">
                    <a:moveTo>
                      <a:pt x="0" y="0"/>
                    </a:moveTo>
                    <a:lnTo>
                      <a:pt x="640080" y="0"/>
                    </a:lnTo>
                    <a:lnTo>
                      <a:pt x="640080" y="402336"/>
                    </a:lnTo>
                    <a:lnTo>
                      <a:pt x="0" y="40233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1DA"/>
                  </a:gs>
                  <a:gs pos="35000">
                    <a:srgbClr val="FFAB55"/>
                  </a:gs>
                  <a:gs pos="100000">
                    <a:srgbClr val="FFAB55"/>
                  </a:gs>
                </a:gsLst>
                <a:lin ang="5400000" scaled="1"/>
                <a:tileRect/>
              </a:gradFill>
              <a:ln w="8636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7" name="Event feature he | front column 1"/>
              <p:cNvCxnSpPr/>
              <p:nvPr/>
            </p:nvCxnSpPr>
            <p:spPr>
              <a:xfrm>
                <a:off x="7598664" y="549554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198" name="Event feature he | top column 1"/>
              <p:cNvCxnSpPr/>
              <p:nvPr/>
            </p:nvCxnSpPr>
            <p:spPr>
              <a:xfrm flipV="1">
                <a:off x="7598664" y="5312664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199" name="Event feature he | front column 2"/>
              <p:cNvCxnSpPr/>
              <p:nvPr/>
            </p:nvCxnSpPr>
            <p:spPr>
              <a:xfrm>
                <a:off x="7690104" y="549554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0" name="Event feature he | top column 2"/>
              <p:cNvCxnSpPr/>
              <p:nvPr/>
            </p:nvCxnSpPr>
            <p:spPr>
              <a:xfrm flipV="1">
                <a:off x="7690104" y="5312664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1" name="Event feature he | front column 3"/>
              <p:cNvCxnSpPr/>
              <p:nvPr/>
            </p:nvCxnSpPr>
            <p:spPr>
              <a:xfrm>
                <a:off x="7781544" y="549554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2" name="Event feature he | top column 3"/>
              <p:cNvCxnSpPr/>
              <p:nvPr/>
            </p:nvCxnSpPr>
            <p:spPr>
              <a:xfrm flipV="1">
                <a:off x="7781544" y="5312664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3" name="Event feature he | front column 4"/>
              <p:cNvCxnSpPr/>
              <p:nvPr/>
            </p:nvCxnSpPr>
            <p:spPr>
              <a:xfrm>
                <a:off x="7872984" y="549554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4" name="Event feature he | top column 4"/>
              <p:cNvCxnSpPr/>
              <p:nvPr/>
            </p:nvCxnSpPr>
            <p:spPr>
              <a:xfrm flipV="1">
                <a:off x="7872984" y="5312664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5" name="Event feature he | front column 5"/>
              <p:cNvCxnSpPr/>
              <p:nvPr/>
            </p:nvCxnSpPr>
            <p:spPr>
              <a:xfrm>
                <a:off x="7964424" y="549554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6" name="Event feature he | top column 5"/>
              <p:cNvCxnSpPr/>
              <p:nvPr/>
            </p:nvCxnSpPr>
            <p:spPr>
              <a:xfrm flipV="1">
                <a:off x="7964424" y="5312664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7" name="Event feature he | front column 6"/>
              <p:cNvCxnSpPr/>
              <p:nvPr/>
            </p:nvCxnSpPr>
            <p:spPr>
              <a:xfrm>
                <a:off x="8055864" y="549554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8" name="Event feature he | top column 6"/>
              <p:cNvCxnSpPr/>
              <p:nvPr/>
            </p:nvCxnSpPr>
            <p:spPr>
              <a:xfrm flipV="1">
                <a:off x="8055864" y="5312664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09" name="Event feature he | front row 1"/>
              <p:cNvCxnSpPr/>
              <p:nvPr/>
            </p:nvCxnSpPr>
            <p:spPr>
              <a:xfrm>
                <a:off x="7507224" y="5596128"/>
                <a:ext cx="64008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0" name="Event feature he | side row 1"/>
              <p:cNvCxnSpPr/>
              <p:nvPr/>
            </p:nvCxnSpPr>
            <p:spPr>
              <a:xfrm flipV="1">
                <a:off x="8147304" y="5413248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1" name="Event feature he | front row 2"/>
              <p:cNvCxnSpPr/>
              <p:nvPr/>
            </p:nvCxnSpPr>
            <p:spPr>
              <a:xfrm>
                <a:off x="7507224" y="5696712"/>
                <a:ext cx="64008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2" name="Event feature he | side row 2"/>
              <p:cNvCxnSpPr/>
              <p:nvPr/>
            </p:nvCxnSpPr>
            <p:spPr>
              <a:xfrm flipV="1">
                <a:off x="8147304" y="5513832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3" name="Event feature he | front row 3"/>
              <p:cNvCxnSpPr/>
              <p:nvPr/>
            </p:nvCxnSpPr>
            <p:spPr>
              <a:xfrm>
                <a:off x="7507224" y="5797296"/>
                <a:ext cx="64008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4" name="Event feature he | side row 3"/>
              <p:cNvCxnSpPr/>
              <p:nvPr/>
            </p:nvCxnSpPr>
            <p:spPr>
              <a:xfrm flipV="1">
                <a:off x="8147304" y="5614416"/>
                <a:ext cx="228600" cy="18288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5" name="Event feature he | top depth 1"/>
              <p:cNvCxnSpPr/>
              <p:nvPr/>
            </p:nvCxnSpPr>
            <p:spPr>
              <a:xfrm>
                <a:off x="7564374" y="5449824"/>
                <a:ext cx="64008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6" name="Event feature he | side depth 1"/>
              <p:cNvCxnSpPr/>
              <p:nvPr/>
            </p:nvCxnSpPr>
            <p:spPr>
              <a:xfrm>
                <a:off x="8204454" y="544982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7" name="Event feature he | top depth 2"/>
              <p:cNvCxnSpPr/>
              <p:nvPr/>
            </p:nvCxnSpPr>
            <p:spPr>
              <a:xfrm>
                <a:off x="7621524" y="5404104"/>
                <a:ext cx="64008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8" name="Event feature he | side depth 2"/>
              <p:cNvCxnSpPr/>
              <p:nvPr/>
            </p:nvCxnSpPr>
            <p:spPr>
              <a:xfrm>
                <a:off x="8261604" y="540410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19" name="Event feature he | top depth 3"/>
              <p:cNvCxnSpPr/>
              <p:nvPr/>
            </p:nvCxnSpPr>
            <p:spPr>
              <a:xfrm>
                <a:off x="7678674" y="5358384"/>
                <a:ext cx="64008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220" name="Event feature he | side depth 3"/>
              <p:cNvCxnSpPr/>
              <p:nvPr/>
            </p:nvCxnSpPr>
            <p:spPr>
              <a:xfrm>
                <a:off x="8318754" y="5358384"/>
                <a:ext cx="0" cy="40233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</p:grpSp>
        <p:grpSp>
          <p:nvGrpSpPr>
            <p:cNvPr id="221" name="Analytic sequence input"/>
            <p:cNvGrpSpPr/>
            <p:nvPr/>
          </p:nvGrpSpPr>
          <p:grpSpPr>
            <a:xfrm>
              <a:off x="6955675" y="4594968"/>
              <a:ext cx="1819895" cy="742879"/>
              <a:chOff x="557784" y="7845552"/>
              <a:chExt cx="1380744" cy="484632"/>
            </a:xfrm>
          </p:grpSpPr>
          <p:sp>
            <p:nvSpPr>
              <p:cNvPr id="222" name="Analytic sequence input | top face"/>
              <p:cNvSpPr/>
              <p:nvPr/>
            </p:nvSpPr>
            <p:spPr>
              <a:xfrm>
                <a:off x="557784" y="7845552"/>
                <a:ext cx="1380744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380744" h="137160">
                    <a:moveTo>
                      <a:pt x="0" y="137160"/>
                    </a:moveTo>
                    <a:lnTo>
                      <a:pt x="137160" y="0"/>
                    </a:lnTo>
                    <a:lnTo>
                      <a:pt x="1380744" y="0"/>
                    </a:lnTo>
                    <a:lnTo>
                      <a:pt x="1243584" y="13716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3" name="Analytic sequence input | side face"/>
              <p:cNvSpPr/>
              <p:nvPr/>
            </p:nvSpPr>
            <p:spPr>
              <a:xfrm>
                <a:off x="1801368" y="7845552"/>
                <a:ext cx="137160" cy="484632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484632">
                    <a:moveTo>
                      <a:pt x="0" y="137160"/>
                    </a:moveTo>
                    <a:lnTo>
                      <a:pt x="137160" y="0"/>
                    </a:lnTo>
                    <a:lnTo>
                      <a:pt x="137160" y="347472"/>
                    </a:lnTo>
                    <a:lnTo>
                      <a:pt x="0" y="48463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4" name="Analytic sequence input | front face"/>
              <p:cNvSpPr/>
              <p:nvPr/>
            </p:nvSpPr>
            <p:spPr>
              <a:xfrm>
                <a:off x="557784" y="7982712"/>
                <a:ext cx="1243584" cy="347472"/>
              </a:xfrm>
              <a:custGeom>
                <a:avLst/>
                <a:gdLst/>
                <a:ahLst/>
                <a:cxnLst/>
                <a:rect l="l" t="t" r="r" b="b"/>
                <a:pathLst>
                  <a:path w="1243584" h="347472">
                    <a:moveTo>
                      <a:pt x="0" y="0"/>
                    </a:moveTo>
                    <a:lnTo>
                      <a:pt x="1243584" y="0"/>
                    </a:lnTo>
                    <a:lnTo>
                      <a:pt x="1243584" y="347472"/>
                    </a:lnTo>
                    <a:lnTo>
                      <a:pt x="0" y="34747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chemeClr val="accent5">
                    <a:lumMod val="50000"/>
                  </a:schemeClr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5" name="Analytic sequence input | front column 1"/>
              <p:cNvCxnSpPr/>
              <p:nvPr/>
            </p:nvCxnSpPr>
            <p:spPr>
              <a:xfrm>
                <a:off x="682142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26" name="Analytic sequence input | top column 1"/>
              <p:cNvCxnSpPr/>
              <p:nvPr/>
            </p:nvCxnSpPr>
            <p:spPr>
              <a:xfrm flipV="1">
                <a:off x="682142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27" name="Analytic sequence input | front column 2"/>
              <p:cNvCxnSpPr/>
              <p:nvPr/>
            </p:nvCxnSpPr>
            <p:spPr>
              <a:xfrm>
                <a:off x="806501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28" name="Analytic sequence input | top column 2"/>
              <p:cNvCxnSpPr/>
              <p:nvPr/>
            </p:nvCxnSpPr>
            <p:spPr>
              <a:xfrm flipV="1">
                <a:off x="806501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29" name="Analytic sequence input | front column 3"/>
              <p:cNvCxnSpPr/>
              <p:nvPr/>
            </p:nvCxnSpPr>
            <p:spPr>
              <a:xfrm>
                <a:off x="930859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0" name="Analytic sequence input | top column 3"/>
              <p:cNvCxnSpPr/>
              <p:nvPr/>
            </p:nvCxnSpPr>
            <p:spPr>
              <a:xfrm flipV="1">
                <a:off x="930859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1" name="Analytic sequence input | front column 4"/>
              <p:cNvCxnSpPr/>
              <p:nvPr/>
            </p:nvCxnSpPr>
            <p:spPr>
              <a:xfrm>
                <a:off x="1055218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2" name="Analytic sequence input | top column 4"/>
              <p:cNvCxnSpPr/>
              <p:nvPr/>
            </p:nvCxnSpPr>
            <p:spPr>
              <a:xfrm flipV="1">
                <a:off x="1055218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3" name="Analytic sequence input | front column 5"/>
              <p:cNvCxnSpPr/>
              <p:nvPr/>
            </p:nvCxnSpPr>
            <p:spPr>
              <a:xfrm>
                <a:off x="1179576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4" name="Analytic sequence input | top column 5"/>
              <p:cNvCxnSpPr/>
              <p:nvPr/>
            </p:nvCxnSpPr>
            <p:spPr>
              <a:xfrm flipV="1">
                <a:off x="1179576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5" name="Analytic sequence input | front column 6"/>
              <p:cNvCxnSpPr/>
              <p:nvPr/>
            </p:nvCxnSpPr>
            <p:spPr>
              <a:xfrm>
                <a:off x="1303934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6" name="Analytic sequence input | top column 6"/>
              <p:cNvCxnSpPr/>
              <p:nvPr/>
            </p:nvCxnSpPr>
            <p:spPr>
              <a:xfrm flipV="1">
                <a:off x="1303934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7" name="Analytic sequence input | front column 7"/>
              <p:cNvCxnSpPr/>
              <p:nvPr/>
            </p:nvCxnSpPr>
            <p:spPr>
              <a:xfrm>
                <a:off x="1428293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8" name="Analytic sequence input | top column 7"/>
              <p:cNvCxnSpPr/>
              <p:nvPr/>
            </p:nvCxnSpPr>
            <p:spPr>
              <a:xfrm flipV="1">
                <a:off x="1428293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39" name="Analytic sequence input | front column 8"/>
              <p:cNvCxnSpPr/>
              <p:nvPr/>
            </p:nvCxnSpPr>
            <p:spPr>
              <a:xfrm>
                <a:off x="1552651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0" name="Analytic sequence input | top column 8"/>
              <p:cNvCxnSpPr/>
              <p:nvPr/>
            </p:nvCxnSpPr>
            <p:spPr>
              <a:xfrm flipV="1">
                <a:off x="1552651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1" name="Analytic sequence input | front column 9"/>
              <p:cNvCxnSpPr/>
              <p:nvPr/>
            </p:nvCxnSpPr>
            <p:spPr>
              <a:xfrm>
                <a:off x="1677010" y="798271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2" name="Analytic sequence input | top column 9"/>
              <p:cNvCxnSpPr/>
              <p:nvPr/>
            </p:nvCxnSpPr>
            <p:spPr>
              <a:xfrm flipV="1">
                <a:off x="1677010" y="7845552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3" name="Analytic sequence input | front row 1"/>
              <p:cNvCxnSpPr/>
              <p:nvPr/>
            </p:nvCxnSpPr>
            <p:spPr>
              <a:xfrm>
                <a:off x="557784" y="8098536"/>
                <a:ext cx="12435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4" name="Analytic sequence input | side row 1"/>
              <p:cNvCxnSpPr/>
              <p:nvPr/>
            </p:nvCxnSpPr>
            <p:spPr>
              <a:xfrm flipV="1">
                <a:off x="1801368" y="7961376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5" name="Analytic sequence input | front row 2"/>
              <p:cNvCxnSpPr/>
              <p:nvPr/>
            </p:nvCxnSpPr>
            <p:spPr>
              <a:xfrm>
                <a:off x="557784" y="8214360"/>
                <a:ext cx="12435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6" name="Analytic sequence input | side row 2"/>
              <p:cNvCxnSpPr/>
              <p:nvPr/>
            </p:nvCxnSpPr>
            <p:spPr>
              <a:xfrm flipV="1">
                <a:off x="1801368" y="8077200"/>
                <a:ext cx="137160" cy="13716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7" name="Analytic sequence input | top depth 1"/>
              <p:cNvCxnSpPr/>
              <p:nvPr/>
            </p:nvCxnSpPr>
            <p:spPr>
              <a:xfrm>
                <a:off x="603504" y="7936992"/>
                <a:ext cx="12435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8" name="Analytic sequence input | side depth 1"/>
              <p:cNvCxnSpPr/>
              <p:nvPr/>
            </p:nvCxnSpPr>
            <p:spPr>
              <a:xfrm>
                <a:off x="1847088" y="793699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49" name="Analytic sequence input | top depth 2"/>
              <p:cNvCxnSpPr/>
              <p:nvPr/>
            </p:nvCxnSpPr>
            <p:spPr>
              <a:xfrm>
                <a:off x="649224" y="7891272"/>
                <a:ext cx="1243584" cy="0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  <p:cxnSp>
            <p:nvCxnSpPr>
              <p:cNvPr id="250" name="Analytic sequence input | side depth 2"/>
              <p:cNvCxnSpPr/>
              <p:nvPr/>
            </p:nvCxnSpPr>
            <p:spPr>
              <a:xfrm>
                <a:off x="1892808" y="7891272"/>
                <a:ext cx="0" cy="347472"/>
              </a:xfrm>
              <a:prstGeom prst="line">
                <a:avLst/>
              </a:prstGeom>
              <a:ln w="6096">
                <a:solidFill>
                  <a:schemeClr val="accent5">
                    <a:lumMod val="50000"/>
                  </a:schemeClr>
                </a:solidFill>
              </a:ln>
              <a:effectLst/>
            </p:spPr>
          </p:cxnSp>
        </p:grpSp>
        <p:grpSp>
          <p:nvGrpSpPr>
            <p:cNvPr id="251" name="Analytic feature hz"/>
            <p:cNvGrpSpPr/>
            <p:nvPr/>
          </p:nvGrpSpPr>
          <p:grpSpPr>
            <a:xfrm>
              <a:off x="7470145" y="6978641"/>
              <a:ext cx="704088" cy="594360"/>
              <a:chOff x="3785616" y="7799832"/>
              <a:chExt cx="704088" cy="594360"/>
            </a:xfrm>
          </p:grpSpPr>
          <p:sp>
            <p:nvSpPr>
              <p:cNvPr id="252" name="Analytic feature hz | top face"/>
              <p:cNvSpPr/>
              <p:nvPr/>
            </p:nvSpPr>
            <p:spPr>
              <a:xfrm>
                <a:off x="3785616" y="7799832"/>
                <a:ext cx="704088" cy="201168"/>
              </a:xfrm>
              <a:custGeom>
                <a:avLst/>
                <a:gdLst/>
                <a:ahLst/>
                <a:cxnLst/>
                <a:rect l="l" t="t" r="r" b="b"/>
                <a:pathLst>
                  <a:path w="704088" h="201168">
                    <a:moveTo>
                      <a:pt x="0" y="201168"/>
                    </a:moveTo>
                    <a:lnTo>
                      <a:pt x="292608" y="0"/>
                    </a:lnTo>
                    <a:lnTo>
                      <a:pt x="704088" y="0"/>
                    </a:lnTo>
                    <a:lnTo>
                      <a:pt x="411480" y="20116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0FBEA"/>
                  </a:gs>
                  <a:gs pos="100000">
                    <a:srgbClr val="74D59F"/>
                  </a:gs>
                </a:gsLst>
                <a:lin ang="5400000" scaled="1"/>
                <a:tileRect/>
              </a:gradFill>
              <a:ln w="8636">
                <a:solidFill>
                  <a:srgbClr val="419A7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3" name="Analytic feature hz | side face"/>
              <p:cNvSpPr/>
              <p:nvPr/>
            </p:nvSpPr>
            <p:spPr>
              <a:xfrm>
                <a:off x="4197096" y="7799832"/>
                <a:ext cx="292608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292608" h="594360">
                    <a:moveTo>
                      <a:pt x="0" y="201168"/>
                    </a:moveTo>
                    <a:lnTo>
                      <a:pt x="292608" y="0"/>
                    </a:lnTo>
                    <a:lnTo>
                      <a:pt x="292608" y="393192"/>
                    </a:lnTo>
                    <a:lnTo>
                      <a:pt x="0" y="59436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D59F"/>
                  </a:gs>
                  <a:gs pos="100000">
                    <a:srgbClr val="209F67"/>
                  </a:gs>
                </a:gsLst>
                <a:lin ang="0" scaled="1"/>
                <a:tileRect/>
              </a:gradFill>
              <a:ln w="8636">
                <a:solidFill>
                  <a:srgbClr val="419A7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Analytic feature hz | front face"/>
              <p:cNvSpPr/>
              <p:nvPr/>
            </p:nvSpPr>
            <p:spPr>
              <a:xfrm>
                <a:off x="3785616" y="8001000"/>
                <a:ext cx="411480" cy="393192"/>
              </a:xfrm>
              <a:custGeom>
                <a:avLst/>
                <a:gdLst/>
                <a:ahLst/>
                <a:cxnLst/>
                <a:rect l="l" t="t" r="r" b="b"/>
                <a:pathLst>
                  <a:path w="411480" h="393192">
                    <a:moveTo>
                      <a:pt x="0" y="0"/>
                    </a:moveTo>
                    <a:lnTo>
                      <a:pt x="411480" y="0"/>
                    </a:lnTo>
                    <a:lnTo>
                      <a:pt x="411480" y="393192"/>
                    </a:lnTo>
                    <a:lnTo>
                      <a:pt x="0" y="3931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0FBEA"/>
                  </a:gs>
                  <a:gs pos="35000">
                    <a:srgbClr val="74D59F"/>
                  </a:gs>
                  <a:gs pos="100000">
                    <a:srgbClr val="74D59F"/>
                  </a:gs>
                </a:gsLst>
                <a:lin ang="5400000" scaled="1"/>
                <a:tileRect/>
              </a:gradFill>
              <a:ln w="8636">
                <a:solidFill>
                  <a:srgbClr val="419A7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5" name="Analytic feature hz | front column 1"/>
              <p:cNvCxnSpPr/>
              <p:nvPr/>
            </p:nvCxnSpPr>
            <p:spPr>
              <a:xfrm>
                <a:off x="3888486" y="8001000"/>
                <a:ext cx="0" cy="393192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56" name="Analytic feature hz | top column 1"/>
              <p:cNvCxnSpPr/>
              <p:nvPr/>
            </p:nvCxnSpPr>
            <p:spPr>
              <a:xfrm flipV="1">
                <a:off x="3888486" y="7799832"/>
                <a:ext cx="292608" cy="201168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57" name="Analytic feature hz | front column 2"/>
              <p:cNvCxnSpPr/>
              <p:nvPr/>
            </p:nvCxnSpPr>
            <p:spPr>
              <a:xfrm>
                <a:off x="3991356" y="8001000"/>
                <a:ext cx="0" cy="393192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58" name="Analytic feature hz | top column 2"/>
              <p:cNvCxnSpPr/>
              <p:nvPr/>
            </p:nvCxnSpPr>
            <p:spPr>
              <a:xfrm flipV="1">
                <a:off x="3991356" y="7799832"/>
                <a:ext cx="292608" cy="201168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59" name="Analytic feature hz | front column 3"/>
              <p:cNvCxnSpPr/>
              <p:nvPr/>
            </p:nvCxnSpPr>
            <p:spPr>
              <a:xfrm>
                <a:off x="4094226" y="8001000"/>
                <a:ext cx="0" cy="393192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0" name="Analytic feature hz | top column 3"/>
              <p:cNvCxnSpPr/>
              <p:nvPr/>
            </p:nvCxnSpPr>
            <p:spPr>
              <a:xfrm flipV="1">
                <a:off x="4094226" y="7799832"/>
                <a:ext cx="292608" cy="201168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1" name="Analytic feature hz | front row 1"/>
              <p:cNvCxnSpPr/>
              <p:nvPr/>
            </p:nvCxnSpPr>
            <p:spPr>
              <a:xfrm>
                <a:off x="3785616" y="8132064"/>
                <a:ext cx="411480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2" name="Analytic feature hz | side row 1"/>
              <p:cNvCxnSpPr/>
              <p:nvPr/>
            </p:nvCxnSpPr>
            <p:spPr>
              <a:xfrm flipV="1">
                <a:off x="4197096" y="7930896"/>
                <a:ext cx="292608" cy="201168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3" name="Analytic feature hz | front row 2"/>
              <p:cNvCxnSpPr/>
              <p:nvPr/>
            </p:nvCxnSpPr>
            <p:spPr>
              <a:xfrm>
                <a:off x="3785616" y="8263128"/>
                <a:ext cx="411480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4" name="Analytic feature hz | side row 2"/>
              <p:cNvCxnSpPr/>
              <p:nvPr/>
            </p:nvCxnSpPr>
            <p:spPr>
              <a:xfrm flipV="1">
                <a:off x="4197096" y="8061960"/>
                <a:ext cx="292608" cy="201168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5" name="Analytic feature hz | top depth 1"/>
              <p:cNvCxnSpPr/>
              <p:nvPr/>
            </p:nvCxnSpPr>
            <p:spPr>
              <a:xfrm>
                <a:off x="3858768" y="7950708"/>
                <a:ext cx="411480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6" name="Analytic feature hz | side depth 1"/>
              <p:cNvCxnSpPr/>
              <p:nvPr/>
            </p:nvCxnSpPr>
            <p:spPr>
              <a:xfrm>
                <a:off x="4270248" y="7950708"/>
                <a:ext cx="0" cy="393192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7" name="Analytic feature hz | top depth 2"/>
              <p:cNvCxnSpPr/>
              <p:nvPr/>
            </p:nvCxnSpPr>
            <p:spPr>
              <a:xfrm>
                <a:off x="3931920" y="7900416"/>
                <a:ext cx="411480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8" name="Analytic feature hz | side depth 2"/>
              <p:cNvCxnSpPr/>
              <p:nvPr/>
            </p:nvCxnSpPr>
            <p:spPr>
              <a:xfrm>
                <a:off x="4343400" y="7900416"/>
                <a:ext cx="0" cy="393192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69" name="Analytic feature hz | top depth 3"/>
              <p:cNvCxnSpPr/>
              <p:nvPr/>
            </p:nvCxnSpPr>
            <p:spPr>
              <a:xfrm>
                <a:off x="4005072" y="7850124"/>
                <a:ext cx="411480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270" name="Analytic feature hz | side depth 3"/>
              <p:cNvCxnSpPr/>
              <p:nvPr/>
            </p:nvCxnSpPr>
            <p:spPr>
              <a:xfrm>
                <a:off x="4416552" y="7850124"/>
                <a:ext cx="0" cy="393192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</p:grpSp>
        <p:grpSp>
          <p:nvGrpSpPr>
            <p:cNvPr id="693" name="组合 692">
              <a:extLst>
                <a:ext uri="{FF2B5EF4-FFF2-40B4-BE49-F238E27FC236}">
                  <a16:creationId xmlns:a16="http://schemas.microsoft.com/office/drawing/2014/main" id="{C4923867-A8F6-4F0D-9871-18A32CB0D051}"/>
                </a:ext>
              </a:extLst>
            </p:cNvPr>
            <p:cNvGrpSpPr/>
            <p:nvPr/>
          </p:nvGrpSpPr>
          <p:grpSpPr>
            <a:xfrm rot="5400000">
              <a:off x="7749182" y="10051587"/>
              <a:ext cx="2355373" cy="302738"/>
              <a:chOff x="8176196" y="5661821"/>
              <a:chExt cx="1051560" cy="99387"/>
            </a:xfrm>
          </p:grpSpPr>
          <p:sp>
            <p:nvSpPr>
              <p:cNvPr id="274" name="Static feature input S | front face"/>
              <p:cNvSpPr/>
              <p:nvPr/>
            </p:nvSpPr>
            <p:spPr>
              <a:xfrm>
                <a:off x="8176196" y="5661821"/>
                <a:ext cx="1051560" cy="99387"/>
              </a:xfrm>
              <a:custGeom>
                <a:avLst/>
                <a:gdLst/>
                <a:ahLst/>
                <a:cxnLst/>
                <a:rect l="l" t="t" r="r" b="b"/>
                <a:pathLst>
                  <a:path w="1051560" h="320040">
                    <a:moveTo>
                      <a:pt x="0" y="0"/>
                    </a:moveTo>
                    <a:lnTo>
                      <a:pt x="1051560" y="0"/>
                    </a:lnTo>
                    <a:lnTo>
                      <a:pt x="1051560" y="320040"/>
                    </a:lnTo>
                    <a:lnTo>
                      <a:pt x="0" y="32004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5" name="Static feature input S | front column 1"/>
              <p:cNvCxnSpPr>
                <a:cxnSpLocks/>
              </p:cNvCxnSpPr>
              <p:nvPr/>
            </p:nvCxnSpPr>
            <p:spPr>
              <a:xfrm>
                <a:off x="829303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77" name="Static feature input S | front column 2"/>
              <p:cNvCxnSpPr>
                <a:cxnSpLocks/>
              </p:cNvCxnSpPr>
              <p:nvPr/>
            </p:nvCxnSpPr>
            <p:spPr>
              <a:xfrm>
                <a:off x="840987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79" name="Static feature input S | front column 3"/>
              <p:cNvCxnSpPr>
                <a:cxnSpLocks/>
              </p:cNvCxnSpPr>
              <p:nvPr/>
            </p:nvCxnSpPr>
            <p:spPr>
              <a:xfrm>
                <a:off x="852671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81" name="Static feature input S | front column 4"/>
              <p:cNvCxnSpPr>
                <a:cxnSpLocks/>
              </p:cNvCxnSpPr>
              <p:nvPr/>
            </p:nvCxnSpPr>
            <p:spPr>
              <a:xfrm>
                <a:off x="864355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83" name="Static feature input S | front column 5"/>
              <p:cNvCxnSpPr>
                <a:cxnSpLocks/>
              </p:cNvCxnSpPr>
              <p:nvPr/>
            </p:nvCxnSpPr>
            <p:spPr>
              <a:xfrm>
                <a:off x="876039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85" name="Static feature input S | front column 6"/>
              <p:cNvCxnSpPr>
                <a:cxnSpLocks/>
              </p:cNvCxnSpPr>
              <p:nvPr/>
            </p:nvCxnSpPr>
            <p:spPr>
              <a:xfrm>
                <a:off x="887723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87" name="Static feature input S | front column 7"/>
              <p:cNvCxnSpPr>
                <a:cxnSpLocks/>
              </p:cNvCxnSpPr>
              <p:nvPr/>
            </p:nvCxnSpPr>
            <p:spPr>
              <a:xfrm>
                <a:off x="899407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289" name="Static feature input S | front column 8"/>
              <p:cNvCxnSpPr>
                <a:cxnSpLocks/>
              </p:cNvCxnSpPr>
              <p:nvPr/>
            </p:nvCxnSpPr>
            <p:spPr>
              <a:xfrm>
                <a:off x="9110916" y="5661821"/>
                <a:ext cx="0" cy="99387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</p:grpSp>
        <p:grpSp>
          <p:nvGrpSpPr>
            <p:cNvPr id="319" name="Counterpart type input gc"/>
            <p:cNvGrpSpPr/>
            <p:nvPr/>
          </p:nvGrpSpPr>
          <p:grpSpPr>
            <a:xfrm>
              <a:off x="1816819" y="11060780"/>
              <a:ext cx="649224" cy="457200"/>
              <a:chOff x="8241235" y="12326112"/>
              <a:chExt cx="649224" cy="457200"/>
            </a:xfrm>
          </p:grpSpPr>
          <p:sp>
            <p:nvSpPr>
              <p:cNvPr id="320" name="Counterpart type input gc | top face"/>
              <p:cNvSpPr/>
              <p:nvPr/>
            </p:nvSpPr>
            <p:spPr>
              <a:xfrm>
                <a:off x="8241235" y="12326112"/>
                <a:ext cx="649224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649224" h="128016">
                    <a:moveTo>
                      <a:pt x="0" y="128016"/>
                    </a:moveTo>
                    <a:lnTo>
                      <a:pt x="109728" y="0"/>
                    </a:lnTo>
                    <a:lnTo>
                      <a:pt x="649224" y="0"/>
                    </a:lnTo>
                    <a:lnTo>
                      <a:pt x="539496" y="1280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AFC"/>
                  </a:gs>
                  <a:gs pos="100000">
                    <a:srgbClr val="BAC3CD"/>
                  </a:gs>
                </a:gsLst>
                <a:lin ang="5400000" scaled="1"/>
                <a:tileRect/>
              </a:gradFill>
              <a:ln w="8636">
                <a:solidFill>
                  <a:srgbClr val="8A96A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1" name="Counterpart type input gc | side face"/>
              <p:cNvSpPr/>
              <p:nvPr/>
            </p:nvSpPr>
            <p:spPr>
              <a:xfrm>
                <a:off x="8780731" y="12326112"/>
                <a:ext cx="109728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09728" h="457200">
                    <a:moveTo>
                      <a:pt x="0" y="128016"/>
                    </a:moveTo>
                    <a:lnTo>
                      <a:pt x="109728" y="0"/>
                    </a:lnTo>
                    <a:lnTo>
                      <a:pt x="109728" y="329184"/>
                    </a:lnTo>
                    <a:lnTo>
                      <a:pt x="0" y="4572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BAC3CD"/>
                  </a:gs>
                  <a:gs pos="100000">
                    <a:srgbClr val="7D8A98"/>
                  </a:gs>
                </a:gsLst>
                <a:lin ang="0" scaled="1"/>
                <a:tileRect/>
              </a:gradFill>
              <a:ln w="8636">
                <a:solidFill>
                  <a:srgbClr val="8A96A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2" name="Counterpart type input gc | front face"/>
              <p:cNvSpPr/>
              <p:nvPr/>
            </p:nvSpPr>
            <p:spPr>
              <a:xfrm>
                <a:off x="8241235" y="12454128"/>
                <a:ext cx="539496" cy="329184"/>
              </a:xfrm>
              <a:custGeom>
                <a:avLst/>
                <a:gdLst/>
                <a:ahLst/>
                <a:cxnLst/>
                <a:rect l="l" t="t" r="r" b="b"/>
                <a:pathLst>
                  <a:path w="539496" h="329184">
                    <a:moveTo>
                      <a:pt x="0" y="0"/>
                    </a:moveTo>
                    <a:lnTo>
                      <a:pt x="539496" y="0"/>
                    </a:lnTo>
                    <a:lnTo>
                      <a:pt x="539496" y="329184"/>
                    </a:lnTo>
                    <a:lnTo>
                      <a:pt x="0" y="32918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9FAFC"/>
                  </a:gs>
                  <a:gs pos="35000">
                    <a:srgbClr val="BAC3CD"/>
                  </a:gs>
                  <a:gs pos="100000">
                    <a:srgbClr val="BAC3CD"/>
                  </a:gs>
                </a:gsLst>
                <a:lin ang="5400000" scaled="1"/>
                <a:tileRect/>
              </a:gradFill>
              <a:ln w="8636">
                <a:solidFill>
                  <a:srgbClr val="8A96A4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24" name="Shared trajectory TCN frame"/>
            <p:cNvSpPr/>
            <p:nvPr/>
          </p:nvSpPr>
          <p:spPr>
            <a:xfrm>
              <a:off x="2957894" y="1444752"/>
              <a:ext cx="3904487" cy="1655064"/>
            </a:xfrm>
            <a:prstGeom prst="roundRect">
              <a:avLst>
                <a:gd name="adj" fmla="val 8287"/>
              </a:avLst>
            </a:prstGeom>
            <a:solidFill>
              <a:srgbClr val="E5F7FA"/>
            </a:solidFill>
            <a:ln w="22859" cap="rnd">
              <a:solidFill>
                <a:srgbClr val="0088AE"/>
              </a:solidFill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5" name="Shared trajectory TCN title"/>
            <p:cNvSpPr txBox="1"/>
            <p:nvPr/>
          </p:nvSpPr>
          <p:spPr>
            <a:xfrm>
              <a:off x="2957894" y="1512773"/>
              <a:ext cx="3904326" cy="43088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Shared trajectory TCN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6" name="Shared encoder E theta"/>
                <p:cNvSpPr txBox="1"/>
                <p:nvPr/>
              </p:nvSpPr>
              <p:spPr>
                <a:xfrm>
                  <a:off x="4729270" y="1956655"/>
                  <a:ext cx="444031" cy="420949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zh-CN" altLang="en-US" sz="2800" b="1" i="1" baseline="-23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𝜽</m:t>
                        </m:r>
                      </m:oMath>
                    </m:oMathPara>
                  </a14:m>
                  <a:endParaRPr lang="zh-CN" altLang="en-US" sz="2800" b="1" i="1" baseline="-23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26" name="Shared encoder E theta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270" y="1956655"/>
                  <a:ext cx="444031" cy="42094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7" name="TCN feature stack 1"/>
            <p:cNvGrpSpPr/>
            <p:nvPr/>
          </p:nvGrpSpPr>
          <p:grpSpPr>
            <a:xfrm>
              <a:off x="3186493" y="2029968"/>
              <a:ext cx="658368" cy="841248"/>
              <a:chOff x="2734056" y="2029968"/>
              <a:chExt cx="658368" cy="841248"/>
            </a:xfrm>
          </p:grpSpPr>
          <p:sp>
            <p:nvSpPr>
              <p:cNvPr id="328" name="TCN feature stack 1 | top face"/>
              <p:cNvSpPr/>
              <p:nvPr/>
            </p:nvSpPr>
            <p:spPr>
              <a:xfrm>
                <a:off x="2734056" y="2029968"/>
                <a:ext cx="658368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658368" h="274320">
                    <a:moveTo>
                      <a:pt x="0" y="274320"/>
                    </a:moveTo>
                    <a:lnTo>
                      <a:pt x="365760" y="0"/>
                    </a:lnTo>
                    <a:lnTo>
                      <a:pt x="658368" y="0"/>
                    </a:lnTo>
                    <a:lnTo>
                      <a:pt x="292608" y="2743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9" name="TCN feature stack 1 | side face"/>
              <p:cNvSpPr/>
              <p:nvPr/>
            </p:nvSpPr>
            <p:spPr>
              <a:xfrm>
                <a:off x="3026664" y="2029968"/>
                <a:ext cx="365760" cy="841248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841248">
                    <a:moveTo>
                      <a:pt x="0" y="274320"/>
                    </a:moveTo>
                    <a:lnTo>
                      <a:pt x="365760" y="0"/>
                    </a:lnTo>
                    <a:lnTo>
                      <a:pt x="365760" y="566928"/>
                    </a:lnTo>
                    <a:lnTo>
                      <a:pt x="0" y="84124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0" name="TCN feature stack 1 | front face"/>
              <p:cNvSpPr/>
              <p:nvPr/>
            </p:nvSpPr>
            <p:spPr>
              <a:xfrm>
                <a:off x="2734056" y="2304288"/>
                <a:ext cx="292608" cy="566928"/>
              </a:xfrm>
              <a:custGeom>
                <a:avLst/>
                <a:gdLst/>
                <a:ahLst/>
                <a:cxnLst/>
                <a:rect l="l" t="t" r="r" b="b"/>
                <a:pathLst>
                  <a:path w="292608" h="566928">
                    <a:moveTo>
                      <a:pt x="0" y="0"/>
                    </a:moveTo>
                    <a:lnTo>
                      <a:pt x="292608" y="0"/>
                    </a:lnTo>
                    <a:lnTo>
                      <a:pt x="292608" y="566928"/>
                    </a:lnTo>
                    <a:lnTo>
                      <a:pt x="0" y="56692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31" name="TCN feature stack 1 | front column 1"/>
              <p:cNvCxnSpPr/>
              <p:nvPr/>
            </p:nvCxnSpPr>
            <p:spPr>
              <a:xfrm>
                <a:off x="2807208" y="2304288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2" name="TCN feature stack 1 | top column 1"/>
              <p:cNvCxnSpPr/>
              <p:nvPr/>
            </p:nvCxnSpPr>
            <p:spPr>
              <a:xfrm flipV="1">
                <a:off x="2807208" y="2029968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3" name="TCN feature stack 1 | front column 2"/>
              <p:cNvCxnSpPr/>
              <p:nvPr/>
            </p:nvCxnSpPr>
            <p:spPr>
              <a:xfrm>
                <a:off x="2880360" y="2304288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4" name="TCN feature stack 1 | top column 2"/>
              <p:cNvCxnSpPr/>
              <p:nvPr/>
            </p:nvCxnSpPr>
            <p:spPr>
              <a:xfrm flipV="1">
                <a:off x="2880360" y="2029968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5" name="TCN feature stack 1 | front column 3"/>
              <p:cNvCxnSpPr/>
              <p:nvPr/>
            </p:nvCxnSpPr>
            <p:spPr>
              <a:xfrm>
                <a:off x="2953512" y="2304288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6" name="TCN feature stack 1 | top column 3"/>
              <p:cNvCxnSpPr/>
              <p:nvPr/>
            </p:nvCxnSpPr>
            <p:spPr>
              <a:xfrm flipV="1">
                <a:off x="2953512" y="2029968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7" name="TCN feature stack 1 | front row 1"/>
              <p:cNvCxnSpPr/>
              <p:nvPr/>
            </p:nvCxnSpPr>
            <p:spPr>
              <a:xfrm>
                <a:off x="2734056" y="2398776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8" name="TCN feature stack 1 | side row 1"/>
              <p:cNvCxnSpPr/>
              <p:nvPr/>
            </p:nvCxnSpPr>
            <p:spPr>
              <a:xfrm flipV="1">
                <a:off x="3026664" y="2124456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39" name="TCN feature stack 1 | front row 2"/>
              <p:cNvCxnSpPr/>
              <p:nvPr/>
            </p:nvCxnSpPr>
            <p:spPr>
              <a:xfrm>
                <a:off x="2734056" y="2493264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0" name="TCN feature stack 1 | side row 2"/>
              <p:cNvCxnSpPr/>
              <p:nvPr/>
            </p:nvCxnSpPr>
            <p:spPr>
              <a:xfrm flipV="1">
                <a:off x="3026664" y="2218944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1" name="TCN feature stack 1 | front row 3"/>
              <p:cNvCxnSpPr/>
              <p:nvPr/>
            </p:nvCxnSpPr>
            <p:spPr>
              <a:xfrm>
                <a:off x="2734056" y="2587752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2" name="TCN feature stack 1 | side row 3"/>
              <p:cNvCxnSpPr/>
              <p:nvPr/>
            </p:nvCxnSpPr>
            <p:spPr>
              <a:xfrm flipV="1">
                <a:off x="3026664" y="2313432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3" name="TCN feature stack 1 | front row 4"/>
              <p:cNvCxnSpPr/>
              <p:nvPr/>
            </p:nvCxnSpPr>
            <p:spPr>
              <a:xfrm>
                <a:off x="2734056" y="2682240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4" name="TCN feature stack 1 | side row 4"/>
              <p:cNvCxnSpPr/>
              <p:nvPr/>
            </p:nvCxnSpPr>
            <p:spPr>
              <a:xfrm flipV="1">
                <a:off x="3026664" y="2407920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5" name="TCN feature stack 1 | front row 5"/>
              <p:cNvCxnSpPr/>
              <p:nvPr/>
            </p:nvCxnSpPr>
            <p:spPr>
              <a:xfrm>
                <a:off x="2734056" y="2776728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6" name="TCN feature stack 1 | side row 5"/>
              <p:cNvCxnSpPr/>
              <p:nvPr/>
            </p:nvCxnSpPr>
            <p:spPr>
              <a:xfrm flipV="1">
                <a:off x="3026664" y="2502408"/>
                <a:ext cx="365760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7" name="TCN feature stack 1 | top depth 1"/>
              <p:cNvCxnSpPr/>
              <p:nvPr/>
            </p:nvCxnSpPr>
            <p:spPr>
              <a:xfrm>
                <a:off x="2807208" y="2249424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8" name="TCN feature stack 1 | side depth 1"/>
              <p:cNvCxnSpPr/>
              <p:nvPr/>
            </p:nvCxnSpPr>
            <p:spPr>
              <a:xfrm>
                <a:off x="3099816" y="2249424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49" name="TCN feature stack 1 | top depth 2"/>
              <p:cNvCxnSpPr/>
              <p:nvPr/>
            </p:nvCxnSpPr>
            <p:spPr>
              <a:xfrm>
                <a:off x="2880360" y="2194560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50" name="TCN feature stack 1 | side depth 2"/>
              <p:cNvCxnSpPr/>
              <p:nvPr/>
            </p:nvCxnSpPr>
            <p:spPr>
              <a:xfrm>
                <a:off x="3172968" y="2194560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51" name="TCN feature stack 1 | top depth 3"/>
              <p:cNvCxnSpPr/>
              <p:nvPr/>
            </p:nvCxnSpPr>
            <p:spPr>
              <a:xfrm>
                <a:off x="2953512" y="2139696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52" name="TCN feature stack 1 | side depth 3"/>
              <p:cNvCxnSpPr/>
              <p:nvPr/>
            </p:nvCxnSpPr>
            <p:spPr>
              <a:xfrm>
                <a:off x="3246120" y="2139696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53" name="TCN feature stack 1 | top depth 4"/>
              <p:cNvCxnSpPr/>
              <p:nvPr/>
            </p:nvCxnSpPr>
            <p:spPr>
              <a:xfrm>
                <a:off x="3026664" y="2084832"/>
                <a:ext cx="29260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54" name="TCN feature stack 1 | side depth 4"/>
              <p:cNvCxnSpPr/>
              <p:nvPr/>
            </p:nvCxnSpPr>
            <p:spPr>
              <a:xfrm>
                <a:off x="3319272" y="2084832"/>
                <a:ext cx="0" cy="56692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p:grpSp>
          <p:nvGrpSpPr>
            <p:cNvPr id="355" name="TCN feature stack 2"/>
            <p:cNvGrpSpPr/>
            <p:nvPr/>
          </p:nvGrpSpPr>
          <p:grpSpPr>
            <a:xfrm>
              <a:off x="4073461" y="2167128"/>
              <a:ext cx="539496" cy="566928"/>
              <a:chOff x="3621024" y="2167128"/>
              <a:chExt cx="539496" cy="566928"/>
            </a:xfrm>
          </p:grpSpPr>
          <p:sp>
            <p:nvSpPr>
              <p:cNvPr id="356" name="TCN feature stack 2 | top face"/>
              <p:cNvSpPr/>
              <p:nvPr/>
            </p:nvSpPr>
            <p:spPr>
              <a:xfrm>
                <a:off x="3621024" y="2167128"/>
                <a:ext cx="539496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539496" h="182880">
                    <a:moveTo>
                      <a:pt x="0" y="182880"/>
                    </a:moveTo>
                    <a:lnTo>
                      <a:pt x="201168" y="0"/>
                    </a:lnTo>
                    <a:lnTo>
                      <a:pt x="539496" y="0"/>
                    </a:lnTo>
                    <a:lnTo>
                      <a:pt x="338328" y="1828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7" name="TCN feature stack 2 | side face"/>
              <p:cNvSpPr/>
              <p:nvPr/>
            </p:nvSpPr>
            <p:spPr>
              <a:xfrm>
                <a:off x="3959352" y="2167128"/>
                <a:ext cx="201168" cy="566928"/>
              </a:xfrm>
              <a:custGeom>
                <a:avLst/>
                <a:gdLst/>
                <a:ahLst/>
                <a:cxnLst/>
                <a:rect l="l" t="t" r="r" b="b"/>
                <a:pathLst>
                  <a:path w="201168" h="566928">
                    <a:moveTo>
                      <a:pt x="0" y="182880"/>
                    </a:moveTo>
                    <a:lnTo>
                      <a:pt x="201168" y="0"/>
                    </a:lnTo>
                    <a:lnTo>
                      <a:pt x="201168" y="384048"/>
                    </a:lnTo>
                    <a:lnTo>
                      <a:pt x="0" y="56692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8" name="TCN feature stack 2 | front face"/>
              <p:cNvSpPr/>
              <p:nvPr/>
            </p:nvSpPr>
            <p:spPr>
              <a:xfrm>
                <a:off x="3621024" y="2350008"/>
                <a:ext cx="338328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338328" h="384048">
                    <a:moveTo>
                      <a:pt x="0" y="0"/>
                    </a:moveTo>
                    <a:lnTo>
                      <a:pt x="338328" y="0"/>
                    </a:lnTo>
                    <a:lnTo>
                      <a:pt x="338328" y="384048"/>
                    </a:lnTo>
                    <a:lnTo>
                      <a:pt x="0" y="38404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59" name="TCN feature stack 2 | front column 1"/>
              <p:cNvCxnSpPr/>
              <p:nvPr/>
            </p:nvCxnSpPr>
            <p:spPr>
              <a:xfrm>
                <a:off x="3705606" y="2350008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0" name="TCN feature stack 2 | top column 1"/>
              <p:cNvCxnSpPr/>
              <p:nvPr/>
            </p:nvCxnSpPr>
            <p:spPr>
              <a:xfrm flipV="1">
                <a:off x="3705606" y="2167128"/>
                <a:ext cx="201168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1" name="TCN feature stack 2 | front column 2"/>
              <p:cNvCxnSpPr/>
              <p:nvPr/>
            </p:nvCxnSpPr>
            <p:spPr>
              <a:xfrm>
                <a:off x="3790188" y="2350008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2" name="TCN feature stack 2 | top column 2"/>
              <p:cNvCxnSpPr/>
              <p:nvPr/>
            </p:nvCxnSpPr>
            <p:spPr>
              <a:xfrm flipV="1">
                <a:off x="3790188" y="2167128"/>
                <a:ext cx="201168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3" name="TCN feature stack 2 | front column 3"/>
              <p:cNvCxnSpPr/>
              <p:nvPr/>
            </p:nvCxnSpPr>
            <p:spPr>
              <a:xfrm>
                <a:off x="3874770" y="2350008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4" name="TCN feature stack 2 | top column 3"/>
              <p:cNvCxnSpPr/>
              <p:nvPr/>
            </p:nvCxnSpPr>
            <p:spPr>
              <a:xfrm flipV="1">
                <a:off x="3874770" y="2167128"/>
                <a:ext cx="201168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5" name="TCN feature stack 2 | front row 1"/>
              <p:cNvCxnSpPr/>
              <p:nvPr/>
            </p:nvCxnSpPr>
            <p:spPr>
              <a:xfrm>
                <a:off x="3621024" y="2446020"/>
                <a:ext cx="33832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6" name="TCN feature stack 2 | side row 1"/>
              <p:cNvCxnSpPr/>
              <p:nvPr/>
            </p:nvCxnSpPr>
            <p:spPr>
              <a:xfrm flipV="1">
                <a:off x="3959352" y="2263140"/>
                <a:ext cx="201168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7" name="TCN feature stack 2 | front row 2"/>
              <p:cNvCxnSpPr/>
              <p:nvPr/>
            </p:nvCxnSpPr>
            <p:spPr>
              <a:xfrm>
                <a:off x="3621024" y="2542032"/>
                <a:ext cx="33832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8" name="TCN feature stack 2 | side row 2"/>
              <p:cNvCxnSpPr/>
              <p:nvPr/>
            </p:nvCxnSpPr>
            <p:spPr>
              <a:xfrm flipV="1">
                <a:off x="3959352" y="2359152"/>
                <a:ext cx="201168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69" name="TCN feature stack 2 | front row 3"/>
              <p:cNvCxnSpPr/>
              <p:nvPr/>
            </p:nvCxnSpPr>
            <p:spPr>
              <a:xfrm>
                <a:off x="3621024" y="2638044"/>
                <a:ext cx="33832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0" name="TCN feature stack 2 | side row 3"/>
              <p:cNvCxnSpPr/>
              <p:nvPr/>
            </p:nvCxnSpPr>
            <p:spPr>
              <a:xfrm flipV="1">
                <a:off x="3959352" y="2455164"/>
                <a:ext cx="201168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1" name="TCN feature stack 2 | top depth 1"/>
              <p:cNvCxnSpPr/>
              <p:nvPr/>
            </p:nvCxnSpPr>
            <p:spPr>
              <a:xfrm>
                <a:off x="3671316" y="2304288"/>
                <a:ext cx="33832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2" name="TCN feature stack 2 | side depth 1"/>
              <p:cNvCxnSpPr/>
              <p:nvPr/>
            </p:nvCxnSpPr>
            <p:spPr>
              <a:xfrm>
                <a:off x="4009644" y="2304288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3" name="TCN feature stack 2 | top depth 2"/>
              <p:cNvCxnSpPr/>
              <p:nvPr/>
            </p:nvCxnSpPr>
            <p:spPr>
              <a:xfrm>
                <a:off x="3721608" y="2258568"/>
                <a:ext cx="33832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4" name="TCN feature stack 2 | side depth 2"/>
              <p:cNvCxnSpPr/>
              <p:nvPr/>
            </p:nvCxnSpPr>
            <p:spPr>
              <a:xfrm>
                <a:off x="4059936" y="2258568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5" name="TCN feature stack 2 | top depth 3"/>
              <p:cNvCxnSpPr/>
              <p:nvPr/>
            </p:nvCxnSpPr>
            <p:spPr>
              <a:xfrm>
                <a:off x="3771900" y="2212848"/>
                <a:ext cx="33832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76" name="TCN feature stack 2 | side depth 3"/>
              <p:cNvCxnSpPr/>
              <p:nvPr/>
            </p:nvCxnSpPr>
            <p:spPr>
              <a:xfrm>
                <a:off x="4110228" y="2212848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p:grpSp>
          <p:nvGrpSpPr>
            <p:cNvPr id="377" name="TCN feature stack 3"/>
            <p:cNvGrpSpPr/>
            <p:nvPr/>
          </p:nvGrpSpPr>
          <p:grpSpPr>
            <a:xfrm>
              <a:off x="5216461" y="2157984"/>
              <a:ext cx="539496" cy="566928"/>
              <a:chOff x="4764024" y="2157984"/>
              <a:chExt cx="539496" cy="566928"/>
            </a:xfrm>
          </p:grpSpPr>
          <p:sp>
            <p:nvSpPr>
              <p:cNvPr id="378" name="TCN feature stack 3 | top face"/>
              <p:cNvSpPr/>
              <p:nvPr/>
            </p:nvSpPr>
            <p:spPr>
              <a:xfrm>
                <a:off x="4764024" y="2157984"/>
                <a:ext cx="539496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539496" h="182880">
                    <a:moveTo>
                      <a:pt x="0" y="182880"/>
                    </a:moveTo>
                    <a:lnTo>
                      <a:pt x="210312" y="0"/>
                    </a:lnTo>
                    <a:lnTo>
                      <a:pt x="539496" y="0"/>
                    </a:lnTo>
                    <a:lnTo>
                      <a:pt x="329184" y="1828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9" name="TCN feature stack 3 | side face"/>
              <p:cNvSpPr/>
              <p:nvPr/>
            </p:nvSpPr>
            <p:spPr>
              <a:xfrm>
                <a:off x="5093208" y="2157984"/>
                <a:ext cx="210312" cy="566928"/>
              </a:xfrm>
              <a:custGeom>
                <a:avLst/>
                <a:gdLst/>
                <a:ahLst/>
                <a:cxnLst/>
                <a:rect l="l" t="t" r="r" b="b"/>
                <a:pathLst>
                  <a:path w="210312" h="566928">
                    <a:moveTo>
                      <a:pt x="0" y="182880"/>
                    </a:moveTo>
                    <a:lnTo>
                      <a:pt x="210312" y="0"/>
                    </a:lnTo>
                    <a:lnTo>
                      <a:pt x="210312" y="384048"/>
                    </a:lnTo>
                    <a:lnTo>
                      <a:pt x="0" y="56692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0" name="TCN feature stack 3 | front face"/>
              <p:cNvSpPr/>
              <p:nvPr/>
            </p:nvSpPr>
            <p:spPr>
              <a:xfrm>
                <a:off x="4764024" y="2340864"/>
                <a:ext cx="329184" cy="384048"/>
              </a:xfrm>
              <a:custGeom>
                <a:avLst/>
                <a:gdLst/>
                <a:ahLst/>
                <a:cxnLst/>
                <a:rect l="l" t="t" r="r" b="b"/>
                <a:pathLst>
                  <a:path w="329184" h="384048">
                    <a:moveTo>
                      <a:pt x="0" y="0"/>
                    </a:moveTo>
                    <a:lnTo>
                      <a:pt x="329184" y="0"/>
                    </a:lnTo>
                    <a:lnTo>
                      <a:pt x="329184" y="384048"/>
                    </a:lnTo>
                    <a:lnTo>
                      <a:pt x="0" y="38404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81" name="TCN feature stack 3 | front column 1"/>
              <p:cNvCxnSpPr/>
              <p:nvPr/>
            </p:nvCxnSpPr>
            <p:spPr>
              <a:xfrm>
                <a:off x="4846320" y="2340864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2" name="TCN feature stack 3 | top column 1"/>
              <p:cNvCxnSpPr/>
              <p:nvPr/>
            </p:nvCxnSpPr>
            <p:spPr>
              <a:xfrm flipV="1">
                <a:off x="4846320" y="2157984"/>
                <a:ext cx="210312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3" name="TCN feature stack 3 | front column 2"/>
              <p:cNvCxnSpPr/>
              <p:nvPr/>
            </p:nvCxnSpPr>
            <p:spPr>
              <a:xfrm>
                <a:off x="4928616" y="2340864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4" name="TCN feature stack 3 | top column 2"/>
              <p:cNvCxnSpPr/>
              <p:nvPr/>
            </p:nvCxnSpPr>
            <p:spPr>
              <a:xfrm flipV="1">
                <a:off x="4928616" y="2157984"/>
                <a:ext cx="210312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5" name="TCN feature stack 3 | front column 3"/>
              <p:cNvCxnSpPr/>
              <p:nvPr/>
            </p:nvCxnSpPr>
            <p:spPr>
              <a:xfrm>
                <a:off x="5010912" y="2340864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6" name="TCN feature stack 3 | top column 3"/>
              <p:cNvCxnSpPr/>
              <p:nvPr/>
            </p:nvCxnSpPr>
            <p:spPr>
              <a:xfrm flipV="1">
                <a:off x="5010912" y="2157984"/>
                <a:ext cx="210312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7" name="TCN feature stack 3 | front row 1"/>
              <p:cNvCxnSpPr/>
              <p:nvPr/>
            </p:nvCxnSpPr>
            <p:spPr>
              <a:xfrm>
                <a:off x="4764024" y="2436876"/>
                <a:ext cx="32918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8" name="TCN feature stack 3 | side row 1"/>
              <p:cNvCxnSpPr/>
              <p:nvPr/>
            </p:nvCxnSpPr>
            <p:spPr>
              <a:xfrm flipV="1">
                <a:off x="5093208" y="2253996"/>
                <a:ext cx="210312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89" name="TCN feature stack 3 | front row 2"/>
              <p:cNvCxnSpPr/>
              <p:nvPr/>
            </p:nvCxnSpPr>
            <p:spPr>
              <a:xfrm>
                <a:off x="4764024" y="2532888"/>
                <a:ext cx="32918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0" name="TCN feature stack 3 | side row 2"/>
              <p:cNvCxnSpPr/>
              <p:nvPr/>
            </p:nvCxnSpPr>
            <p:spPr>
              <a:xfrm flipV="1">
                <a:off x="5093208" y="2350008"/>
                <a:ext cx="210312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1" name="TCN feature stack 3 | front row 3"/>
              <p:cNvCxnSpPr/>
              <p:nvPr/>
            </p:nvCxnSpPr>
            <p:spPr>
              <a:xfrm>
                <a:off x="4764024" y="2628900"/>
                <a:ext cx="32918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2" name="TCN feature stack 3 | side row 3"/>
              <p:cNvCxnSpPr/>
              <p:nvPr/>
            </p:nvCxnSpPr>
            <p:spPr>
              <a:xfrm flipV="1">
                <a:off x="5093208" y="2446020"/>
                <a:ext cx="210312" cy="18288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3" name="TCN feature stack 3 | top depth 1"/>
              <p:cNvCxnSpPr/>
              <p:nvPr/>
            </p:nvCxnSpPr>
            <p:spPr>
              <a:xfrm>
                <a:off x="4816602" y="2295144"/>
                <a:ext cx="32918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4" name="TCN feature stack 3 | side depth 1"/>
              <p:cNvCxnSpPr/>
              <p:nvPr/>
            </p:nvCxnSpPr>
            <p:spPr>
              <a:xfrm>
                <a:off x="5145786" y="2295144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5" name="TCN feature stack 3 | top depth 2"/>
              <p:cNvCxnSpPr/>
              <p:nvPr/>
            </p:nvCxnSpPr>
            <p:spPr>
              <a:xfrm>
                <a:off x="4869180" y="2249424"/>
                <a:ext cx="32918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6" name="TCN feature stack 3 | side depth 2"/>
              <p:cNvCxnSpPr/>
              <p:nvPr/>
            </p:nvCxnSpPr>
            <p:spPr>
              <a:xfrm>
                <a:off x="5198364" y="2249424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7" name="TCN feature stack 3 | top depth 3"/>
              <p:cNvCxnSpPr/>
              <p:nvPr/>
            </p:nvCxnSpPr>
            <p:spPr>
              <a:xfrm>
                <a:off x="4921758" y="2203704"/>
                <a:ext cx="32918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398" name="TCN feature stack 3 | side depth 3"/>
              <p:cNvCxnSpPr/>
              <p:nvPr/>
            </p:nvCxnSpPr>
            <p:spPr>
              <a:xfrm>
                <a:off x="5250942" y="2203704"/>
                <a:ext cx="0" cy="38404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p:grpSp>
          <p:nvGrpSpPr>
            <p:cNvPr id="399" name="TCN feature stack 4"/>
            <p:cNvGrpSpPr/>
            <p:nvPr/>
          </p:nvGrpSpPr>
          <p:grpSpPr>
            <a:xfrm>
              <a:off x="5975413" y="2039113"/>
              <a:ext cx="585216" cy="850392"/>
              <a:chOff x="5522976" y="2039112"/>
              <a:chExt cx="585216" cy="850392"/>
            </a:xfrm>
          </p:grpSpPr>
          <p:sp>
            <p:nvSpPr>
              <p:cNvPr id="400" name="TCN feature stack 4 | top face"/>
              <p:cNvSpPr/>
              <p:nvPr/>
            </p:nvSpPr>
            <p:spPr>
              <a:xfrm>
                <a:off x="5522976" y="2039112"/>
                <a:ext cx="585216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274320">
                    <a:moveTo>
                      <a:pt x="0" y="274320"/>
                    </a:moveTo>
                    <a:lnTo>
                      <a:pt x="301752" y="0"/>
                    </a:lnTo>
                    <a:lnTo>
                      <a:pt x="585216" y="0"/>
                    </a:lnTo>
                    <a:lnTo>
                      <a:pt x="283464" y="27432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1" name="TCN feature stack 4 | side face"/>
              <p:cNvSpPr/>
              <p:nvPr/>
            </p:nvSpPr>
            <p:spPr>
              <a:xfrm>
                <a:off x="5806440" y="2039112"/>
                <a:ext cx="301752" cy="850392"/>
              </a:xfrm>
              <a:custGeom>
                <a:avLst/>
                <a:gdLst/>
                <a:ahLst/>
                <a:cxnLst/>
                <a:rect l="l" t="t" r="r" b="b"/>
                <a:pathLst>
                  <a:path w="301752" h="850392">
                    <a:moveTo>
                      <a:pt x="0" y="274320"/>
                    </a:moveTo>
                    <a:lnTo>
                      <a:pt x="301752" y="0"/>
                    </a:lnTo>
                    <a:lnTo>
                      <a:pt x="301752" y="576072"/>
                    </a:lnTo>
                    <a:lnTo>
                      <a:pt x="0" y="8503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2" name="TCN feature stack 4 | front face"/>
              <p:cNvSpPr/>
              <p:nvPr/>
            </p:nvSpPr>
            <p:spPr>
              <a:xfrm>
                <a:off x="5522976" y="2313432"/>
                <a:ext cx="283464" cy="576072"/>
              </a:xfrm>
              <a:custGeom>
                <a:avLst/>
                <a:gdLst/>
                <a:ahLst/>
                <a:cxnLst/>
                <a:rect l="l" t="t" r="r" b="b"/>
                <a:pathLst>
                  <a:path w="283464" h="576072">
                    <a:moveTo>
                      <a:pt x="0" y="0"/>
                    </a:moveTo>
                    <a:lnTo>
                      <a:pt x="283464" y="0"/>
                    </a:lnTo>
                    <a:lnTo>
                      <a:pt x="283464" y="576072"/>
                    </a:lnTo>
                    <a:lnTo>
                      <a:pt x="0" y="57607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03" name="TCN feature stack 4 | front column 1"/>
              <p:cNvCxnSpPr/>
              <p:nvPr/>
            </p:nvCxnSpPr>
            <p:spPr>
              <a:xfrm>
                <a:off x="5593842" y="2313432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04" name="TCN feature stack 4 | top column 1"/>
              <p:cNvCxnSpPr/>
              <p:nvPr/>
            </p:nvCxnSpPr>
            <p:spPr>
              <a:xfrm flipV="1">
                <a:off x="5593842" y="2039112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05" name="TCN feature stack 4 | front column 2"/>
              <p:cNvCxnSpPr/>
              <p:nvPr/>
            </p:nvCxnSpPr>
            <p:spPr>
              <a:xfrm>
                <a:off x="5664708" y="2313432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06" name="TCN feature stack 4 | top column 2"/>
              <p:cNvCxnSpPr/>
              <p:nvPr/>
            </p:nvCxnSpPr>
            <p:spPr>
              <a:xfrm flipV="1">
                <a:off x="5664708" y="2039112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07" name="TCN feature stack 4 | front column 3"/>
              <p:cNvCxnSpPr/>
              <p:nvPr/>
            </p:nvCxnSpPr>
            <p:spPr>
              <a:xfrm>
                <a:off x="5735574" y="2313432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08" name="TCN feature stack 4 | top column 3"/>
              <p:cNvCxnSpPr/>
              <p:nvPr/>
            </p:nvCxnSpPr>
            <p:spPr>
              <a:xfrm flipV="1">
                <a:off x="5735574" y="2039112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09" name="TCN feature stack 4 | front row 1"/>
              <p:cNvCxnSpPr/>
              <p:nvPr/>
            </p:nvCxnSpPr>
            <p:spPr>
              <a:xfrm>
                <a:off x="5522976" y="2409444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0" name="TCN feature stack 4 | side row 1"/>
              <p:cNvCxnSpPr/>
              <p:nvPr/>
            </p:nvCxnSpPr>
            <p:spPr>
              <a:xfrm flipV="1">
                <a:off x="5806440" y="2135124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1" name="TCN feature stack 4 | front row 2"/>
              <p:cNvCxnSpPr/>
              <p:nvPr/>
            </p:nvCxnSpPr>
            <p:spPr>
              <a:xfrm>
                <a:off x="5522976" y="2505456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2" name="TCN feature stack 4 | side row 2"/>
              <p:cNvCxnSpPr/>
              <p:nvPr/>
            </p:nvCxnSpPr>
            <p:spPr>
              <a:xfrm flipV="1">
                <a:off x="5806440" y="2231136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3" name="TCN feature stack 4 | front row 3"/>
              <p:cNvCxnSpPr/>
              <p:nvPr/>
            </p:nvCxnSpPr>
            <p:spPr>
              <a:xfrm>
                <a:off x="5522976" y="2601468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4" name="TCN feature stack 4 | side row 3"/>
              <p:cNvCxnSpPr/>
              <p:nvPr/>
            </p:nvCxnSpPr>
            <p:spPr>
              <a:xfrm flipV="1">
                <a:off x="5806440" y="2327148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5" name="TCN feature stack 4 | front row 4"/>
              <p:cNvCxnSpPr/>
              <p:nvPr/>
            </p:nvCxnSpPr>
            <p:spPr>
              <a:xfrm>
                <a:off x="5522976" y="2697480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6" name="TCN feature stack 4 | side row 4"/>
              <p:cNvCxnSpPr/>
              <p:nvPr/>
            </p:nvCxnSpPr>
            <p:spPr>
              <a:xfrm flipV="1">
                <a:off x="5806440" y="2423160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7" name="TCN feature stack 4 | front row 5"/>
              <p:cNvCxnSpPr/>
              <p:nvPr/>
            </p:nvCxnSpPr>
            <p:spPr>
              <a:xfrm>
                <a:off x="5522976" y="2793492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8" name="TCN feature stack 4 | side row 5"/>
              <p:cNvCxnSpPr/>
              <p:nvPr/>
            </p:nvCxnSpPr>
            <p:spPr>
              <a:xfrm flipV="1">
                <a:off x="5806440" y="2519172"/>
                <a:ext cx="301752" cy="27432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19" name="TCN feature stack 4 | top depth 1"/>
              <p:cNvCxnSpPr/>
              <p:nvPr/>
            </p:nvCxnSpPr>
            <p:spPr>
              <a:xfrm>
                <a:off x="5583326" y="2258568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0" name="TCN feature stack 4 | side depth 1"/>
              <p:cNvCxnSpPr/>
              <p:nvPr/>
            </p:nvCxnSpPr>
            <p:spPr>
              <a:xfrm>
                <a:off x="5866790" y="2258568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1" name="TCN feature stack 4 | top depth 2"/>
              <p:cNvCxnSpPr/>
              <p:nvPr/>
            </p:nvCxnSpPr>
            <p:spPr>
              <a:xfrm>
                <a:off x="5643677" y="2203704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2" name="TCN feature stack 4 | side depth 2"/>
              <p:cNvCxnSpPr/>
              <p:nvPr/>
            </p:nvCxnSpPr>
            <p:spPr>
              <a:xfrm>
                <a:off x="5927141" y="2203704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3" name="TCN feature stack 4 | top depth 3"/>
              <p:cNvCxnSpPr/>
              <p:nvPr/>
            </p:nvCxnSpPr>
            <p:spPr>
              <a:xfrm>
                <a:off x="5704027" y="2148840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4" name="TCN feature stack 4 | side depth 3"/>
              <p:cNvCxnSpPr/>
              <p:nvPr/>
            </p:nvCxnSpPr>
            <p:spPr>
              <a:xfrm>
                <a:off x="5987491" y="2148840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5" name="TCN feature stack 4 | top depth 4"/>
              <p:cNvCxnSpPr/>
              <p:nvPr/>
            </p:nvCxnSpPr>
            <p:spPr>
              <a:xfrm>
                <a:off x="5764378" y="2093976"/>
                <a:ext cx="283464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426" name="TCN feature stack 4 | side depth 4"/>
              <p:cNvCxnSpPr/>
              <p:nvPr/>
            </p:nvCxnSpPr>
            <p:spPr>
              <a:xfrm>
                <a:off x="6047842" y="2093976"/>
                <a:ext cx="0" cy="576072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p:cxnSp>
          <p:nvCxnSpPr>
            <p:cNvPr id="427" name="TCN internal forward 1"/>
            <p:cNvCxnSpPr/>
            <p:nvPr/>
          </p:nvCxnSpPr>
          <p:spPr>
            <a:xfrm>
              <a:off x="3854005" y="2459736"/>
              <a:ext cx="219456" cy="0"/>
            </a:xfrm>
            <a:prstGeom prst="line">
              <a:avLst/>
            </a:prstGeom>
            <a:ln w="32004" cap="rnd">
              <a:solidFill>
                <a:srgbClr val="0088AE"/>
              </a:solidFill>
              <a:tailEnd type="triangle" w="med" len="med"/>
            </a:ln>
            <a:effectLst/>
          </p:spPr>
        </p:cxnSp>
        <p:cxnSp>
          <p:nvCxnSpPr>
            <p:cNvPr id="428" name="TCN internal forward 2"/>
            <p:cNvCxnSpPr/>
            <p:nvPr/>
          </p:nvCxnSpPr>
          <p:spPr>
            <a:xfrm>
              <a:off x="5755957" y="2459736"/>
              <a:ext cx="219456" cy="0"/>
            </a:xfrm>
            <a:prstGeom prst="line">
              <a:avLst/>
            </a:prstGeom>
            <a:ln w="32004" cap="rnd">
              <a:solidFill>
                <a:srgbClr val="0088AE"/>
              </a:solidFill>
              <a:tailEnd type="triangle" w="med" len="med"/>
            </a:ln>
            <a:effectLst/>
          </p:spPr>
        </p:cxnSp>
        <p:sp>
          <p:nvSpPr>
            <p:cNvPr id="429" name="TCN ellipsis"/>
            <p:cNvSpPr txBox="1"/>
            <p:nvPr/>
          </p:nvSpPr>
          <p:spPr>
            <a:xfrm>
              <a:off x="4739564" y="2276932"/>
              <a:ext cx="304571" cy="36561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376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…</a:t>
              </a:r>
            </a:p>
          </p:txBody>
        </p:sp>
        <p:grpSp>
          <p:nvGrpSpPr>
            <p:cNvPr id="694" name="组合 693">
              <a:extLst>
                <a:ext uri="{FF2B5EF4-FFF2-40B4-BE49-F238E27FC236}">
                  <a16:creationId xmlns:a16="http://schemas.microsoft.com/office/drawing/2014/main" id="{2CFAFCF4-65BE-405F-9305-63268D1EDEDE}"/>
                </a:ext>
              </a:extLst>
            </p:cNvPr>
            <p:cNvGrpSpPr/>
            <p:nvPr/>
          </p:nvGrpSpPr>
          <p:grpSpPr>
            <a:xfrm>
              <a:off x="675488" y="3631402"/>
              <a:ext cx="2069619" cy="1080000"/>
              <a:chOff x="258521" y="1647952"/>
              <a:chExt cx="2336648" cy="868680"/>
            </a:xfrm>
          </p:grpSpPr>
          <p:sp>
            <p:nvSpPr>
              <p:cNvPr id="431" name="Maneuver TCN frame"/>
              <p:cNvSpPr/>
              <p:nvPr/>
            </p:nvSpPr>
            <p:spPr>
              <a:xfrm>
                <a:off x="274321" y="1647952"/>
                <a:ext cx="2276111" cy="868680"/>
              </a:xfrm>
              <a:prstGeom prst="roundRect">
                <a:avLst>
                  <a:gd name="adj" fmla="val 15789"/>
                </a:avLst>
              </a:prstGeom>
              <a:solidFill>
                <a:srgbClr val="E5F7FA"/>
              </a:solidFill>
              <a:ln w="22859" cap="rnd">
                <a:solidFill>
                  <a:srgbClr val="0088AE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2" name="Maneuver TCN title"/>
              <p:cNvSpPr txBox="1"/>
              <p:nvPr/>
            </p:nvSpPr>
            <p:spPr>
              <a:xfrm>
                <a:off x="258521" y="1731144"/>
                <a:ext cx="2336648" cy="693153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Maneuver</a:t>
                </a:r>
              </a:p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TCN</a:t>
                </a:r>
              </a:p>
            </p:txBody>
          </p:sp>
        </p:grpSp>
        <p:grpSp>
          <p:nvGrpSpPr>
            <p:cNvPr id="697" name="组合 696">
              <a:extLst>
                <a:ext uri="{FF2B5EF4-FFF2-40B4-BE49-F238E27FC236}">
                  <a16:creationId xmlns:a16="http://schemas.microsoft.com/office/drawing/2014/main" id="{2917570D-4ACD-43C9-BB9E-231506647A00}"/>
                </a:ext>
              </a:extLst>
            </p:cNvPr>
            <p:cNvGrpSpPr/>
            <p:nvPr/>
          </p:nvGrpSpPr>
          <p:grpSpPr>
            <a:xfrm>
              <a:off x="365029" y="5883298"/>
              <a:ext cx="1628815" cy="914182"/>
              <a:chOff x="596923" y="5461329"/>
              <a:chExt cx="1397620" cy="711861"/>
            </a:xfrm>
          </p:grpSpPr>
          <p:sp>
            <p:nvSpPr>
              <p:cNvPr id="434" name="Event gate frame"/>
              <p:cNvSpPr/>
              <p:nvPr/>
            </p:nvSpPr>
            <p:spPr>
              <a:xfrm>
                <a:off x="596923" y="5461329"/>
                <a:ext cx="1389888" cy="711861"/>
              </a:xfrm>
              <a:prstGeom prst="roundRect">
                <a:avLst>
                  <a:gd name="adj" fmla="val 16666"/>
                </a:avLst>
              </a:prstGeom>
              <a:solidFill>
                <a:srgbClr val="FFF0E1"/>
              </a:solidFill>
              <a:ln w="22859" cap="rnd">
                <a:solidFill>
                  <a:srgbClr val="FF560A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4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5" name="Event gate title"/>
              <p:cNvSpPr txBox="1"/>
              <p:nvPr/>
            </p:nvSpPr>
            <p:spPr>
              <a:xfrm>
                <a:off x="732048" y="5511673"/>
                <a:ext cx="1119634" cy="287594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4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Event gate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6" name="Event gate M"/>
                  <p:cNvSpPr txBox="1"/>
                  <p:nvPr/>
                </p:nvSpPr>
                <p:spPr>
                  <a:xfrm>
                    <a:off x="596923" y="5850002"/>
                    <a:ext cx="1397620" cy="28759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zh-CN" altLang="en-US" sz="2400" i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微软雅黑" panose="020B0503020204020204" pitchFamily="34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436" name="Event gate M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923" y="5850002"/>
                    <a:ext cx="1397620" cy="28759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197"/>
                    </a:stretch>
                  </a:blipFill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8" name="Event comparator frame"/>
            <p:cNvSpPr/>
            <p:nvPr/>
          </p:nvSpPr>
          <p:spPr>
            <a:xfrm>
              <a:off x="3277527" y="4745736"/>
              <a:ext cx="3182540" cy="1924562"/>
            </a:xfrm>
            <a:prstGeom prst="roundRect">
              <a:avLst>
                <a:gd name="adj" fmla="val 6410"/>
              </a:avLst>
            </a:prstGeom>
            <a:solidFill>
              <a:srgbClr val="FFF0E1"/>
            </a:solidFill>
            <a:ln w="22859" cap="rnd">
              <a:solidFill>
                <a:srgbClr val="FF560A"/>
              </a:solidFill>
            </a:ln>
            <a:effectLst/>
          </p:spPr>
          <p:txBody>
            <a:bodyPr rtlCol="0" anchor="ctr"/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39" name="Event comparator title"/>
            <p:cNvSpPr txBox="1"/>
            <p:nvPr/>
          </p:nvSpPr>
          <p:spPr>
            <a:xfrm>
              <a:off x="3277528" y="4795469"/>
              <a:ext cx="3184072" cy="43088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Event comparator</a:t>
              </a:r>
            </a:p>
          </p:txBody>
        </p:sp>
        <p:grpSp>
          <p:nvGrpSpPr>
            <p:cNvPr id="440" name="Event MLP neurons"/>
            <p:cNvGrpSpPr/>
            <p:nvPr/>
          </p:nvGrpSpPr>
          <p:grpSpPr>
            <a:xfrm>
              <a:off x="3743707" y="5385816"/>
              <a:ext cx="2248044" cy="1089966"/>
              <a:chOff x="4599432" y="5266944"/>
              <a:chExt cx="1682496" cy="749808"/>
            </a:xfrm>
          </p:grpSpPr>
          <p:cxnSp>
            <p:nvCxnSpPr>
              <p:cNvPr id="441" name="Event MLP neurons | connection 1.1-2.1"/>
              <p:cNvCxnSpPr/>
              <p:nvPr/>
            </p:nvCxnSpPr>
            <p:spPr>
              <a:xfrm>
                <a:off x="4800600" y="5367528"/>
                <a:ext cx="530352" cy="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2" name="Event MLP neurons | connection 1.1-2.2"/>
              <p:cNvCxnSpPr/>
              <p:nvPr/>
            </p:nvCxnSpPr>
            <p:spPr>
              <a:xfrm>
                <a:off x="4793805" y="5403871"/>
                <a:ext cx="543942" cy="210778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3" name="Event MLP neurons | connection 1.1-2.3"/>
              <p:cNvCxnSpPr/>
              <p:nvPr/>
            </p:nvCxnSpPr>
            <p:spPr>
              <a:xfrm>
                <a:off x="4780483" y="5427878"/>
                <a:ext cx="570586" cy="42794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4" name="Event MLP neurons | connection 1.2-2.1"/>
              <p:cNvCxnSpPr/>
              <p:nvPr/>
            </p:nvCxnSpPr>
            <p:spPr>
              <a:xfrm flipV="1">
                <a:off x="4793805" y="5403871"/>
                <a:ext cx="543942" cy="210778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5" name="Event MLP neurons | connection 1.2-2.2"/>
              <p:cNvCxnSpPr/>
              <p:nvPr/>
            </p:nvCxnSpPr>
            <p:spPr>
              <a:xfrm>
                <a:off x="4800600" y="5650992"/>
                <a:ext cx="530352" cy="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6" name="Event MLP neurons | connection 1.2-2.3"/>
              <p:cNvCxnSpPr/>
              <p:nvPr/>
            </p:nvCxnSpPr>
            <p:spPr>
              <a:xfrm>
                <a:off x="4794579" y="5685271"/>
                <a:ext cx="542394" cy="196618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7" name="Event MLP neurons | connection 1.3-2.1"/>
              <p:cNvCxnSpPr/>
              <p:nvPr/>
            </p:nvCxnSpPr>
            <p:spPr>
              <a:xfrm flipV="1">
                <a:off x="4780483" y="5427878"/>
                <a:ext cx="570586" cy="42794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8" name="Event MLP neurons | connection 1.3-2.2"/>
              <p:cNvCxnSpPr/>
              <p:nvPr/>
            </p:nvCxnSpPr>
            <p:spPr>
              <a:xfrm flipV="1">
                <a:off x="4794579" y="5685271"/>
                <a:ext cx="542394" cy="196618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49" name="Event MLP neurons | connection 1.3-2.3"/>
              <p:cNvCxnSpPr/>
              <p:nvPr/>
            </p:nvCxnSpPr>
            <p:spPr>
              <a:xfrm>
                <a:off x="4800600" y="5916168"/>
                <a:ext cx="530352" cy="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0" name="Event MLP neurons | connection 2.1-3.1"/>
              <p:cNvCxnSpPr/>
              <p:nvPr/>
            </p:nvCxnSpPr>
            <p:spPr>
              <a:xfrm>
                <a:off x="5532120" y="5367528"/>
                <a:ext cx="548640" cy="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1" name="Event MLP neurons | connection 2.1-3.2"/>
              <p:cNvCxnSpPr/>
              <p:nvPr/>
            </p:nvCxnSpPr>
            <p:spPr>
              <a:xfrm>
                <a:off x="5525621" y="5403097"/>
                <a:ext cx="561638" cy="212326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2" name="Event MLP neurons | connection 2.1-3.3"/>
              <p:cNvCxnSpPr/>
              <p:nvPr/>
            </p:nvCxnSpPr>
            <p:spPr>
              <a:xfrm>
                <a:off x="5512710" y="5426924"/>
                <a:ext cx="587460" cy="429848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3" name="Event MLP neurons | connection 2.2-3.1"/>
              <p:cNvCxnSpPr/>
              <p:nvPr/>
            </p:nvCxnSpPr>
            <p:spPr>
              <a:xfrm flipV="1">
                <a:off x="5525621" y="5403097"/>
                <a:ext cx="561638" cy="212326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4" name="Event MLP neurons | connection 2.2-3.2"/>
              <p:cNvCxnSpPr/>
              <p:nvPr/>
            </p:nvCxnSpPr>
            <p:spPr>
              <a:xfrm>
                <a:off x="5532120" y="5650992"/>
                <a:ext cx="548640" cy="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5" name="Event MLP neurons | connection 2.2-3.3"/>
              <p:cNvCxnSpPr/>
              <p:nvPr/>
            </p:nvCxnSpPr>
            <p:spPr>
              <a:xfrm>
                <a:off x="5526364" y="5684529"/>
                <a:ext cx="560152" cy="198102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6" name="Event MLP neurons | connection 2.3-3.1"/>
              <p:cNvCxnSpPr/>
              <p:nvPr/>
            </p:nvCxnSpPr>
            <p:spPr>
              <a:xfrm flipV="1">
                <a:off x="5512710" y="5426924"/>
                <a:ext cx="587460" cy="429848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7" name="Event MLP neurons | connection 2.3-3.2"/>
              <p:cNvCxnSpPr/>
              <p:nvPr/>
            </p:nvCxnSpPr>
            <p:spPr>
              <a:xfrm flipV="1">
                <a:off x="5526364" y="5684529"/>
                <a:ext cx="560152" cy="198102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cxnSp>
            <p:nvCxnSpPr>
              <p:cNvPr id="458" name="Event MLP neurons | connection 2.3-3.3"/>
              <p:cNvCxnSpPr/>
              <p:nvPr/>
            </p:nvCxnSpPr>
            <p:spPr>
              <a:xfrm>
                <a:off x="5532120" y="5916168"/>
                <a:ext cx="548640" cy="0"/>
              </a:xfrm>
              <a:prstGeom prst="line">
                <a:avLst/>
              </a:prstGeom>
              <a:ln w="4826">
                <a:solidFill>
                  <a:srgbClr val="DD8030"/>
                </a:solidFill>
              </a:ln>
              <a:effectLst/>
            </p:spPr>
          </p:cxnSp>
          <p:sp>
            <p:nvSpPr>
              <p:cNvPr id="459" name="Event MLP neurons | layer 1 node 1"/>
              <p:cNvSpPr/>
              <p:nvPr/>
            </p:nvSpPr>
            <p:spPr>
              <a:xfrm>
                <a:off x="4599432" y="5266944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0" name="Event MLP neurons | layer 1 node 1 highlight"/>
              <p:cNvSpPr/>
              <p:nvPr/>
            </p:nvSpPr>
            <p:spPr>
              <a:xfrm>
                <a:off x="4649724" y="5315224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1" name="Event MLP neurons | layer 1 node 2"/>
              <p:cNvSpPr/>
              <p:nvPr/>
            </p:nvSpPr>
            <p:spPr>
              <a:xfrm>
                <a:off x="4599432" y="5550408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2" name="Event MLP neurons | layer 1 node 2 highlight"/>
              <p:cNvSpPr/>
              <p:nvPr/>
            </p:nvSpPr>
            <p:spPr>
              <a:xfrm>
                <a:off x="4649724" y="5598688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3" name="Event MLP neurons | layer 1 node 3"/>
              <p:cNvSpPr/>
              <p:nvPr/>
            </p:nvSpPr>
            <p:spPr>
              <a:xfrm>
                <a:off x="4599432" y="5815584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4" name="Event MLP neurons | layer 1 node 3 highlight"/>
              <p:cNvSpPr/>
              <p:nvPr/>
            </p:nvSpPr>
            <p:spPr>
              <a:xfrm>
                <a:off x="4649724" y="5863864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5" name="Event MLP neurons | layer 2 node 1"/>
              <p:cNvSpPr/>
              <p:nvPr/>
            </p:nvSpPr>
            <p:spPr>
              <a:xfrm>
                <a:off x="5330952" y="5266944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6" name="Event MLP neurons | layer 2 node 1 highlight"/>
              <p:cNvSpPr/>
              <p:nvPr/>
            </p:nvSpPr>
            <p:spPr>
              <a:xfrm>
                <a:off x="5381244" y="5315224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7" name="Event MLP neurons | layer 2 node 2"/>
              <p:cNvSpPr/>
              <p:nvPr/>
            </p:nvSpPr>
            <p:spPr>
              <a:xfrm>
                <a:off x="5330952" y="5550408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8" name="Event MLP neurons | layer 2 node 2 highlight"/>
              <p:cNvSpPr/>
              <p:nvPr/>
            </p:nvSpPr>
            <p:spPr>
              <a:xfrm>
                <a:off x="5381244" y="5598688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9" name="Event MLP neurons | layer 2 node 3"/>
              <p:cNvSpPr/>
              <p:nvPr/>
            </p:nvSpPr>
            <p:spPr>
              <a:xfrm>
                <a:off x="5330952" y="5815584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0" name="Event MLP neurons | layer 2 node 3 highlight"/>
              <p:cNvSpPr/>
              <p:nvPr/>
            </p:nvSpPr>
            <p:spPr>
              <a:xfrm>
                <a:off x="5381244" y="5863864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1" name="Event MLP neurons | layer 3 node 1"/>
              <p:cNvSpPr/>
              <p:nvPr/>
            </p:nvSpPr>
            <p:spPr>
              <a:xfrm>
                <a:off x="6080760" y="5266944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2" name="Event MLP neurons | layer 3 node 1 highlight"/>
              <p:cNvSpPr/>
              <p:nvPr/>
            </p:nvSpPr>
            <p:spPr>
              <a:xfrm>
                <a:off x="6131052" y="5315224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3" name="Event MLP neurons | layer 3 node 2"/>
              <p:cNvSpPr/>
              <p:nvPr/>
            </p:nvSpPr>
            <p:spPr>
              <a:xfrm>
                <a:off x="6080760" y="5550408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4" name="Event MLP neurons | layer 3 node 2 highlight"/>
              <p:cNvSpPr/>
              <p:nvPr/>
            </p:nvSpPr>
            <p:spPr>
              <a:xfrm>
                <a:off x="6131052" y="5598688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5" name="Event MLP neurons | layer 3 node 3"/>
              <p:cNvSpPr/>
              <p:nvPr/>
            </p:nvSpPr>
            <p:spPr>
              <a:xfrm>
                <a:off x="6080760" y="5815584"/>
                <a:ext cx="201168" cy="20116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27000">
                    <a:srgbClr val="FFF1DA"/>
                  </a:gs>
                  <a:gs pos="52000">
                    <a:srgbClr val="FFAB55"/>
                  </a:gs>
                  <a:gs pos="100000">
                    <a:srgbClr val="EA6C13"/>
                  </a:gs>
                </a:gsLst>
                <a:lin ang="2700000" scaled="1"/>
                <a:tileRect/>
              </a:gradFill>
              <a:ln w="5715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6" name="Event MLP neurons | layer 3 node 3 highlight"/>
              <p:cNvSpPr/>
              <p:nvPr/>
            </p:nvSpPr>
            <p:spPr>
              <a:xfrm>
                <a:off x="6131052" y="5863864"/>
                <a:ext cx="48280" cy="3017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9" name="MODULE Analytic TCN"/>
            <p:cNvGrpSpPr/>
            <p:nvPr/>
          </p:nvGrpSpPr>
          <p:grpSpPr>
            <a:xfrm>
              <a:off x="6842920" y="5581598"/>
              <a:ext cx="2016000" cy="1080000"/>
              <a:chOff x="2200032" y="7507224"/>
              <a:chExt cx="1338696" cy="1033271"/>
            </a:xfrm>
          </p:grpSpPr>
          <p:sp>
            <p:nvSpPr>
              <p:cNvPr id="480" name="Analytic TCN frame"/>
              <p:cNvSpPr/>
              <p:nvPr/>
            </p:nvSpPr>
            <p:spPr>
              <a:xfrm>
                <a:off x="2212848" y="7507224"/>
                <a:ext cx="1325880" cy="1033271"/>
              </a:xfrm>
              <a:prstGeom prst="roundRect">
                <a:avLst>
                  <a:gd name="adj" fmla="val 13274"/>
                </a:avLst>
              </a:prstGeom>
              <a:solidFill>
                <a:srgbClr val="E5F7FA"/>
              </a:solidFill>
              <a:ln w="22859" cap="rnd">
                <a:solidFill>
                  <a:srgbClr val="0088AE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1" name="Analytic TCN title"/>
              <p:cNvSpPr txBox="1"/>
              <p:nvPr/>
            </p:nvSpPr>
            <p:spPr>
              <a:xfrm>
                <a:off x="2200032" y="7625333"/>
                <a:ext cx="1338696" cy="824487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Analytic</a:t>
                </a:r>
              </a:p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TCN</a:t>
                </a:r>
              </a:p>
            </p:txBody>
          </p:sp>
        </p:grpSp>
        <p:grpSp>
          <p:nvGrpSpPr>
            <p:cNvPr id="732" name="组合 731">
              <a:extLst>
                <a:ext uri="{FF2B5EF4-FFF2-40B4-BE49-F238E27FC236}">
                  <a16:creationId xmlns:a16="http://schemas.microsoft.com/office/drawing/2014/main" id="{9A4508DD-2424-47CF-8110-743407F5DCC7}"/>
                </a:ext>
              </a:extLst>
            </p:cNvPr>
            <p:cNvGrpSpPr/>
            <p:nvPr/>
          </p:nvGrpSpPr>
          <p:grpSpPr>
            <a:xfrm>
              <a:off x="6539393" y="9560912"/>
              <a:ext cx="1915864" cy="1231832"/>
              <a:chOff x="8044656" y="9279196"/>
              <a:chExt cx="1659318" cy="1231832"/>
            </a:xfrm>
          </p:grpSpPr>
          <p:sp>
            <p:nvSpPr>
              <p:cNvPr id="483" name="Static MLP frame"/>
              <p:cNvSpPr/>
              <p:nvPr/>
            </p:nvSpPr>
            <p:spPr>
              <a:xfrm>
                <a:off x="8049565" y="9331452"/>
                <a:ext cx="1654409" cy="1179576"/>
              </a:xfrm>
              <a:prstGeom prst="roundRect">
                <a:avLst>
                  <a:gd name="adj" fmla="val 12096"/>
                </a:avLst>
              </a:prstGeom>
              <a:solidFill>
                <a:srgbClr val="E3F1FF"/>
              </a:solidFill>
              <a:ln w="22859" cap="rnd">
                <a:solidFill>
                  <a:srgbClr val="0060F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84" name="Static MLP neurons"/>
              <p:cNvGrpSpPr/>
              <p:nvPr/>
            </p:nvGrpSpPr>
            <p:grpSpPr>
              <a:xfrm>
                <a:off x="8457400" y="9644932"/>
                <a:ext cx="921927" cy="784021"/>
                <a:chOff x="6635210" y="7680960"/>
                <a:chExt cx="675840" cy="592908"/>
              </a:xfrm>
            </p:grpSpPr>
            <p:cxnSp>
              <p:nvCxnSpPr>
                <p:cNvPr id="485" name="Static MLP neurons | connection 1.1-2.1"/>
                <p:cNvCxnSpPr/>
                <p:nvPr/>
              </p:nvCxnSpPr>
              <p:spPr>
                <a:xfrm>
                  <a:off x="6802477" y="7783356"/>
                  <a:ext cx="348790" cy="42096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486" name="Static MLP neurons | connection 1.1-2.2"/>
                <p:cNvCxnSpPr/>
                <p:nvPr/>
              </p:nvCxnSpPr>
              <p:spPr>
                <a:xfrm>
                  <a:off x="6788182" y="7822512"/>
                  <a:ext cx="377380" cy="247248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487" name="Static MLP neurons | connection 1.2-2.1"/>
                <p:cNvCxnSpPr/>
                <p:nvPr/>
              </p:nvCxnSpPr>
              <p:spPr>
                <a:xfrm flipV="1">
                  <a:off x="6800223" y="7859303"/>
                  <a:ext cx="353298" cy="9137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488" name="Static MLP neurons | connection 1.2-2.2"/>
                <p:cNvCxnSpPr/>
                <p:nvPr/>
              </p:nvCxnSpPr>
              <p:spPr>
                <a:xfrm>
                  <a:off x="6799843" y="7997885"/>
                  <a:ext cx="354058" cy="9767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489" name="Static MLP neurons | connection 1.3-2.1"/>
                <p:cNvCxnSpPr/>
                <p:nvPr/>
              </p:nvCxnSpPr>
              <p:spPr>
                <a:xfrm flipV="1">
                  <a:off x="6788786" y="7885586"/>
                  <a:ext cx="376172" cy="239972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490" name="Static MLP neurons | connection 1.3-2.2"/>
                <p:cNvCxnSpPr/>
                <p:nvPr/>
              </p:nvCxnSpPr>
              <p:spPr>
                <a:xfrm flipV="1">
                  <a:off x="6802651" y="8129281"/>
                  <a:ext cx="348442" cy="36046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sp>
              <p:nvSpPr>
                <p:cNvPr id="491" name="Static MLP neurons | layer 1 node 1"/>
                <p:cNvSpPr/>
                <p:nvPr/>
              </p:nvSpPr>
              <p:spPr>
                <a:xfrm>
                  <a:off x="6635210" y="7680960"/>
                  <a:ext cx="159997" cy="19057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2" name="Static MLP neurons | layer 1 node 1 highlight"/>
                <p:cNvSpPr/>
                <p:nvPr/>
              </p:nvSpPr>
              <p:spPr>
                <a:xfrm>
                  <a:off x="6665976" y="7724851"/>
                  <a:ext cx="43891" cy="2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3" name="Static MLP neurons | layer 1 node 2"/>
                <p:cNvSpPr/>
                <p:nvPr/>
              </p:nvSpPr>
              <p:spPr>
                <a:xfrm>
                  <a:off x="6635210" y="7882128"/>
                  <a:ext cx="159997" cy="19057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4" name="Static MLP neurons | layer 1 node 2 highlight"/>
                <p:cNvSpPr/>
                <p:nvPr/>
              </p:nvSpPr>
              <p:spPr>
                <a:xfrm>
                  <a:off x="6665976" y="7926019"/>
                  <a:ext cx="43891" cy="2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5" name="Static MLP neurons | layer 1 node 3"/>
                <p:cNvSpPr/>
                <p:nvPr/>
              </p:nvSpPr>
              <p:spPr>
                <a:xfrm>
                  <a:off x="6635210" y="8083296"/>
                  <a:ext cx="159997" cy="19057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6" name="Static MLP neurons | layer 1 node 3 highlight"/>
                <p:cNvSpPr/>
                <p:nvPr/>
              </p:nvSpPr>
              <p:spPr>
                <a:xfrm>
                  <a:off x="6665976" y="8127187"/>
                  <a:ext cx="43891" cy="2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7" name="Static MLP neurons | layer 2 node 1"/>
                <p:cNvSpPr/>
                <p:nvPr/>
              </p:nvSpPr>
              <p:spPr>
                <a:xfrm>
                  <a:off x="7151053" y="7741126"/>
                  <a:ext cx="159997" cy="19057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8" name="Static MLP neurons | layer 2 node 1 highlight"/>
                <p:cNvSpPr/>
                <p:nvPr/>
              </p:nvSpPr>
              <p:spPr>
                <a:xfrm>
                  <a:off x="7196328" y="7788859"/>
                  <a:ext cx="43891" cy="2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9" name="Static MLP neurons | layer 2 node 2"/>
                <p:cNvSpPr/>
                <p:nvPr/>
              </p:nvSpPr>
              <p:spPr>
                <a:xfrm>
                  <a:off x="7151053" y="8024590"/>
                  <a:ext cx="159997" cy="19057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0" name="Static MLP neurons | layer 2 node 2 highlight"/>
                <p:cNvSpPr/>
                <p:nvPr/>
              </p:nvSpPr>
              <p:spPr>
                <a:xfrm>
                  <a:off x="7196328" y="8072323"/>
                  <a:ext cx="43891" cy="2743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01" name="Static MLP title"/>
              <p:cNvSpPr txBox="1"/>
              <p:nvPr/>
            </p:nvSpPr>
            <p:spPr>
              <a:xfrm>
                <a:off x="8044656" y="9279196"/>
                <a:ext cx="1634696" cy="430887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Static</a:t>
                </a:r>
                <a:r>
                  <a:rPr lang="en-US"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MLP</a:t>
                </a:r>
              </a:p>
            </p:txBody>
          </p:sp>
        </p:grpSp>
        <p:sp>
          <p:nvSpPr>
            <p:cNvPr id="503" name="Concatenate frame"/>
            <p:cNvSpPr/>
            <p:nvPr/>
          </p:nvSpPr>
          <p:spPr>
            <a:xfrm>
              <a:off x="1905001" y="7663593"/>
              <a:ext cx="6072860" cy="868680"/>
            </a:xfrm>
            <a:prstGeom prst="roundRect">
              <a:avLst>
                <a:gd name="adj" fmla="val 15789"/>
              </a:avLst>
            </a:prstGeom>
            <a:solidFill>
              <a:srgbClr val="E5F7FA"/>
            </a:solidFill>
            <a:ln w="22859" cap="rnd">
              <a:solidFill>
                <a:srgbClr val="0088AE"/>
              </a:solidFill>
            </a:ln>
            <a:effectLst/>
          </p:spPr>
          <p:txBody>
            <a:bodyPr rtlCol="0" anchor="ctr"/>
            <a:lstStyle/>
            <a:p>
              <a:pPr algn="ctr"/>
              <a:endParaRPr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04" name="Concatenate title"/>
            <p:cNvSpPr txBox="1"/>
            <p:nvPr/>
          </p:nvSpPr>
          <p:spPr>
            <a:xfrm>
              <a:off x="1905001" y="7685131"/>
              <a:ext cx="6072860" cy="43088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Concatenate</a:t>
              </a:r>
            </a:p>
          </p:txBody>
        </p:sp>
        <p:grpSp>
          <p:nvGrpSpPr>
            <p:cNvPr id="505" name="Factual fusion component"/>
            <p:cNvGrpSpPr/>
            <p:nvPr/>
          </p:nvGrpSpPr>
          <p:grpSpPr>
            <a:xfrm>
              <a:off x="2034136" y="8083455"/>
              <a:ext cx="1416325" cy="393192"/>
              <a:chOff x="2468880" y="9326880"/>
              <a:chExt cx="1069848" cy="393192"/>
            </a:xfrm>
          </p:grpSpPr>
          <p:sp>
            <p:nvSpPr>
              <p:cNvPr id="506" name="Factual fusion component | top face"/>
              <p:cNvSpPr/>
              <p:nvPr/>
            </p:nvSpPr>
            <p:spPr>
              <a:xfrm>
                <a:off x="2468880" y="9326880"/>
                <a:ext cx="1069848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069848" h="128016">
                    <a:moveTo>
                      <a:pt x="0" y="128016"/>
                    </a:moveTo>
                    <a:lnTo>
                      <a:pt x="155448" y="0"/>
                    </a:lnTo>
                    <a:lnTo>
                      <a:pt x="1069848" y="0"/>
                    </a:lnTo>
                    <a:lnTo>
                      <a:pt x="914400" y="1280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7" name="Factual fusion component | side face"/>
              <p:cNvSpPr/>
              <p:nvPr/>
            </p:nvSpPr>
            <p:spPr>
              <a:xfrm>
                <a:off x="3383280" y="9326880"/>
                <a:ext cx="155448" cy="393192"/>
              </a:xfrm>
              <a:custGeom>
                <a:avLst/>
                <a:gdLst/>
                <a:ahLst/>
                <a:cxnLst/>
                <a:rect l="l" t="t" r="r" b="b"/>
                <a:pathLst>
                  <a:path w="155448" h="393192">
                    <a:moveTo>
                      <a:pt x="0" y="128016"/>
                    </a:moveTo>
                    <a:lnTo>
                      <a:pt x="155448" y="0"/>
                    </a:lnTo>
                    <a:lnTo>
                      <a:pt x="155448" y="265176"/>
                    </a:lnTo>
                    <a:lnTo>
                      <a:pt x="0" y="3931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8" name="Factual fusion component | front face"/>
              <p:cNvSpPr/>
              <p:nvPr/>
            </p:nvSpPr>
            <p:spPr>
              <a:xfrm>
                <a:off x="2468880" y="9454896"/>
                <a:ext cx="914400" cy="265176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265176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265176"/>
                    </a:lnTo>
                    <a:lnTo>
                      <a:pt x="0" y="2651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09" name="Factual fusion component | front column 1"/>
              <p:cNvCxnSpPr/>
              <p:nvPr/>
            </p:nvCxnSpPr>
            <p:spPr>
              <a:xfrm>
                <a:off x="2599509" y="9454896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0" name="Factual fusion component | top column 1"/>
              <p:cNvCxnSpPr/>
              <p:nvPr/>
            </p:nvCxnSpPr>
            <p:spPr>
              <a:xfrm flipV="1">
                <a:off x="2599509" y="9326880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1" name="Factual fusion component | front column 2"/>
              <p:cNvCxnSpPr/>
              <p:nvPr/>
            </p:nvCxnSpPr>
            <p:spPr>
              <a:xfrm>
                <a:off x="2730137" y="9454896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2" name="Factual fusion component | top column 2"/>
              <p:cNvCxnSpPr/>
              <p:nvPr/>
            </p:nvCxnSpPr>
            <p:spPr>
              <a:xfrm flipV="1">
                <a:off x="2730137" y="9326880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3" name="Factual fusion component | front column 3"/>
              <p:cNvCxnSpPr/>
              <p:nvPr/>
            </p:nvCxnSpPr>
            <p:spPr>
              <a:xfrm>
                <a:off x="2860766" y="9454896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4" name="Factual fusion component | top column 3"/>
              <p:cNvCxnSpPr/>
              <p:nvPr/>
            </p:nvCxnSpPr>
            <p:spPr>
              <a:xfrm flipV="1">
                <a:off x="2860766" y="9326880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5" name="Factual fusion component | front column 4"/>
              <p:cNvCxnSpPr/>
              <p:nvPr/>
            </p:nvCxnSpPr>
            <p:spPr>
              <a:xfrm>
                <a:off x="2991394" y="9454896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6" name="Factual fusion component | top column 4"/>
              <p:cNvCxnSpPr/>
              <p:nvPr/>
            </p:nvCxnSpPr>
            <p:spPr>
              <a:xfrm flipV="1">
                <a:off x="2991394" y="9326880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7" name="Factual fusion component | front column 5"/>
              <p:cNvCxnSpPr/>
              <p:nvPr/>
            </p:nvCxnSpPr>
            <p:spPr>
              <a:xfrm>
                <a:off x="3122023" y="9454896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8" name="Factual fusion component | top column 5"/>
              <p:cNvCxnSpPr/>
              <p:nvPr/>
            </p:nvCxnSpPr>
            <p:spPr>
              <a:xfrm flipV="1">
                <a:off x="3122023" y="9326880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19" name="Factual fusion component | front column 6"/>
              <p:cNvCxnSpPr/>
              <p:nvPr/>
            </p:nvCxnSpPr>
            <p:spPr>
              <a:xfrm>
                <a:off x="3252651" y="9454896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0" name="Factual fusion component | top column 6"/>
              <p:cNvCxnSpPr/>
              <p:nvPr/>
            </p:nvCxnSpPr>
            <p:spPr>
              <a:xfrm flipV="1">
                <a:off x="3252651" y="9326880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1" name="Factual fusion component | front row 1"/>
              <p:cNvCxnSpPr/>
              <p:nvPr/>
            </p:nvCxnSpPr>
            <p:spPr>
              <a:xfrm>
                <a:off x="2468880" y="9587484"/>
                <a:ext cx="914400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2" name="Factual fusion component | side row 1"/>
              <p:cNvCxnSpPr/>
              <p:nvPr/>
            </p:nvCxnSpPr>
            <p:spPr>
              <a:xfrm flipV="1">
                <a:off x="3383280" y="9459468"/>
                <a:ext cx="155448" cy="12801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3" name="Factual fusion component | top depth 1"/>
              <p:cNvCxnSpPr/>
              <p:nvPr/>
            </p:nvCxnSpPr>
            <p:spPr>
              <a:xfrm>
                <a:off x="2520696" y="9412224"/>
                <a:ext cx="914400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4" name="Factual fusion component | side depth 1"/>
              <p:cNvCxnSpPr/>
              <p:nvPr/>
            </p:nvCxnSpPr>
            <p:spPr>
              <a:xfrm>
                <a:off x="3435096" y="9412224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5" name="Factual fusion component | top depth 2"/>
              <p:cNvCxnSpPr/>
              <p:nvPr/>
            </p:nvCxnSpPr>
            <p:spPr>
              <a:xfrm>
                <a:off x="2572512" y="9369552"/>
                <a:ext cx="914400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526" name="Factual fusion component | side depth 2"/>
              <p:cNvCxnSpPr/>
              <p:nvPr/>
            </p:nvCxnSpPr>
            <p:spPr>
              <a:xfrm>
                <a:off x="3486912" y="9369552"/>
                <a:ext cx="0" cy="265176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p:grpSp>
          <p:nvGrpSpPr>
            <p:cNvPr id="527" name="Event fusion component"/>
            <p:cNvGrpSpPr/>
            <p:nvPr/>
          </p:nvGrpSpPr>
          <p:grpSpPr>
            <a:xfrm>
              <a:off x="3438356" y="8083455"/>
              <a:ext cx="1174219" cy="393192"/>
              <a:chOff x="3529584" y="9326880"/>
              <a:chExt cx="886968" cy="393192"/>
            </a:xfrm>
          </p:grpSpPr>
          <p:sp>
            <p:nvSpPr>
              <p:cNvPr id="528" name="Event fusion component | top face"/>
              <p:cNvSpPr/>
              <p:nvPr/>
            </p:nvSpPr>
            <p:spPr>
              <a:xfrm>
                <a:off x="3529584" y="9326880"/>
                <a:ext cx="886968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886968" h="128016">
                    <a:moveTo>
                      <a:pt x="0" y="128016"/>
                    </a:moveTo>
                    <a:lnTo>
                      <a:pt x="155448" y="0"/>
                    </a:lnTo>
                    <a:lnTo>
                      <a:pt x="886968" y="0"/>
                    </a:lnTo>
                    <a:lnTo>
                      <a:pt x="731520" y="1280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1DA"/>
                  </a:gs>
                  <a:gs pos="100000">
                    <a:srgbClr val="FFAB55"/>
                  </a:gs>
                </a:gsLst>
                <a:lin ang="5400000" scaled="1"/>
                <a:tileRect/>
              </a:gradFill>
              <a:ln w="8636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9" name="Event fusion component | side face"/>
              <p:cNvSpPr/>
              <p:nvPr/>
            </p:nvSpPr>
            <p:spPr>
              <a:xfrm>
                <a:off x="4261104" y="9326880"/>
                <a:ext cx="155448" cy="393192"/>
              </a:xfrm>
              <a:custGeom>
                <a:avLst/>
                <a:gdLst/>
                <a:ahLst/>
                <a:cxnLst/>
                <a:rect l="l" t="t" r="r" b="b"/>
                <a:pathLst>
                  <a:path w="155448" h="393192">
                    <a:moveTo>
                      <a:pt x="0" y="128016"/>
                    </a:moveTo>
                    <a:lnTo>
                      <a:pt x="155448" y="0"/>
                    </a:lnTo>
                    <a:lnTo>
                      <a:pt x="155448" y="265176"/>
                    </a:lnTo>
                    <a:lnTo>
                      <a:pt x="0" y="3931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AB55"/>
                  </a:gs>
                  <a:gs pos="100000">
                    <a:srgbClr val="EA6C13"/>
                  </a:gs>
                </a:gsLst>
                <a:lin ang="0" scaled="1"/>
                <a:tileRect/>
              </a:gradFill>
              <a:ln w="8636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0" name="Event fusion component | front face"/>
              <p:cNvSpPr/>
              <p:nvPr/>
            </p:nvSpPr>
            <p:spPr>
              <a:xfrm>
                <a:off x="3529584" y="9454896"/>
                <a:ext cx="731520" cy="265176"/>
              </a:xfrm>
              <a:custGeom>
                <a:avLst/>
                <a:gdLst/>
                <a:ahLst/>
                <a:cxnLst/>
                <a:rect l="l" t="t" r="r" b="b"/>
                <a:pathLst>
                  <a:path w="731520" h="265176">
                    <a:moveTo>
                      <a:pt x="0" y="0"/>
                    </a:moveTo>
                    <a:lnTo>
                      <a:pt x="731520" y="0"/>
                    </a:lnTo>
                    <a:lnTo>
                      <a:pt x="731520" y="265176"/>
                    </a:lnTo>
                    <a:lnTo>
                      <a:pt x="0" y="2651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1DA"/>
                  </a:gs>
                  <a:gs pos="35000">
                    <a:srgbClr val="FFAB55"/>
                  </a:gs>
                  <a:gs pos="100000">
                    <a:srgbClr val="FFAB55"/>
                  </a:gs>
                </a:gsLst>
                <a:lin ang="5400000" scaled="1"/>
                <a:tileRect/>
              </a:gradFill>
              <a:ln w="8636">
                <a:solidFill>
                  <a:srgbClr val="DD803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31" name="Event fusion component | front column 1"/>
              <p:cNvCxnSpPr/>
              <p:nvPr/>
            </p:nvCxnSpPr>
            <p:spPr>
              <a:xfrm>
                <a:off x="3651504" y="9454896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2" name="Event fusion component | top column 1"/>
              <p:cNvCxnSpPr/>
              <p:nvPr/>
            </p:nvCxnSpPr>
            <p:spPr>
              <a:xfrm flipV="1">
                <a:off x="3651504" y="9326880"/>
                <a:ext cx="155448" cy="12801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3" name="Event fusion component | front column 2"/>
              <p:cNvCxnSpPr/>
              <p:nvPr/>
            </p:nvCxnSpPr>
            <p:spPr>
              <a:xfrm>
                <a:off x="3773424" y="9454896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4" name="Event fusion component | top column 2"/>
              <p:cNvCxnSpPr/>
              <p:nvPr/>
            </p:nvCxnSpPr>
            <p:spPr>
              <a:xfrm flipV="1">
                <a:off x="3773424" y="9326880"/>
                <a:ext cx="155448" cy="12801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5" name="Event fusion component | front column 3"/>
              <p:cNvCxnSpPr/>
              <p:nvPr/>
            </p:nvCxnSpPr>
            <p:spPr>
              <a:xfrm>
                <a:off x="3895344" y="9454896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6" name="Event fusion component | top column 3"/>
              <p:cNvCxnSpPr/>
              <p:nvPr/>
            </p:nvCxnSpPr>
            <p:spPr>
              <a:xfrm flipV="1">
                <a:off x="3895344" y="9326880"/>
                <a:ext cx="155448" cy="12801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7" name="Event fusion component | front column 4"/>
              <p:cNvCxnSpPr/>
              <p:nvPr/>
            </p:nvCxnSpPr>
            <p:spPr>
              <a:xfrm>
                <a:off x="4017264" y="9454896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8" name="Event fusion component | top column 4"/>
              <p:cNvCxnSpPr/>
              <p:nvPr/>
            </p:nvCxnSpPr>
            <p:spPr>
              <a:xfrm flipV="1">
                <a:off x="4017264" y="9326880"/>
                <a:ext cx="155448" cy="12801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39" name="Event fusion component | front column 5"/>
              <p:cNvCxnSpPr/>
              <p:nvPr/>
            </p:nvCxnSpPr>
            <p:spPr>
              <a:xfrm>
                <a:off x="4139184" y="9454896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0" name="Event fusion component | top column 5"/>
              <p:cNvCxnSpPr/>
              <p:nvPr/>
            </p:nvCxnSpPr>
            <p:spPr>
              <a:xfrm flipV="1">
                <a:off x="4139184" y="9326880"/>
                <a:ext cx="155448" cy="12801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1" name="Event fusion component | front row 1"/>
              <p:cNvCxnSpPr/>
              <p:nvPr/>
            </p:nvCxnSpPr>
            <p:spPr>
              <a:xfrm>
                <a:off x="3529584" y="9587484"/>
                <a:ext cx="73152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2" name="Event fusion component | side row 1"/>
              <p:cNvCxnSpPr/>
              <p:nvPr/>
            </p:nvCxnSpPr>
            <p:spPr>
              <a:xfrm flipV="1">
                <a:off x="4261104" y="9459468"/>
                <a:ext cx="155448" cy="12801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3" name="Event fusion component | top depth 1"/>
              <p:cNvCxnSpPr/>
              <p:nvPr/>
            </p:nvCxnSpPr>
            <p:spPr>
              <a:xfrm>
                <a:off x="3581400" y="9412224"/>
                <a:ext cx="73152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4" name="Event fusion component | side depth 1"/>
              <p:cNvCxnSpPr/>
              <p:nvPr/>
            </p:nvCxnSpPr>
            <p:spPr>
              <a:xfrm>
                <a:off x="4312920" y="9412224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5" name="Event fusion component | top depth 2"/>
              <p:cNvCxnSpPr/>
              <p:nvPr/>
            </p:nvCxnSpPr>
            <p:spPr>
              <a:xfrm>
                <a:off x="3633216" y="9369552"/>
                <a:ext cx="731520" cy="0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  <p:cxnSp>
            <p:nvCxnSpPr>
              <p:cNvPr id="546" name="Event fusion component | side depth 2"/>
              <p:cNvCxnSpPr/>
              <p:nvPr/>
            </p:nvCxnSpPr>
            <p:spPr>
              <a:xfrm>
                <a:off x="4364736" y="9369552"/>
                <a:ext cx="0" cy="265176"/>
              </a:xfrm>
              <a:prstGeom prst="line">
                <a:avLst/>
              </a:prstGeom>
              <a:ln w="6096">
                <a:solidFill>
                  <a:srgbClr val="DD8030"/>
                </a:solidFill>
              </a:ln>
              <a:effectLst/>
            </p:spPr>
          </p:cxnSp>
        </p:grpSp>
        <p:grpSp>
          <p:nvGrpSpPr>
            <p:cNvPr id="547" name="Analytic fusion component"/>
            <p:cNvGrpSpPr/>
            <p:nvPr/>
          </p:nvGrpSpPr>
          <p:grpSpPr>
            <a:xfrm>
              <a:off x="4624680" y="8083455"/>
              <a:ext cx="1077376" cy="393192"/>
              <a:chOff x="4425696" y="9326880"/>
              <a:chExt cx="813816" cy="393192"/>
            </a:xfrm>
          </p:grpSpPr>
          <p:sp>
            <p:nvSpPr>
              <p:cNvPr id="548" name="Analytic fusion component | top face"/>
              <p:cNvSpPr/>
              <p:nvPr/>
            </p:nvSpPr>
            <p:spPr>
              <a:xfrm>
                <a:off x="4425696" y="9326880"/>
                <a:ext cx="813816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813816" h="128016">
                    <a:moveTo>
                      <a:pt x="0" y="128016"/>
                    </a:moveTo>
                    <a:lnTo>
                      <a:pt x="155448" y="0"/>
                    </a:lnTo>
                    <a:lnTo>
                      <a:pt x="813816" y="0"/>
                    </a:lnTo>
                    <a:lnTo>
                      <a:pt x="658368" y="1280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0FBEA"/>
                  </a:gs>
                  <a:gs pos="100000">
                    <a:srgbClr val="74D59F"/>
                  </a:gs>
                </a:gsLst>
                <a:lin ang="5400000" scaled="1"/>
                <a:tileRect/>
              </a:gradFill>
              <a:ln w="8636">
                <a:solidFill>
                  <a:srgbClr val="419A7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9" name="Analytic fusion component | side face"/>
              <p:cNvSpPr/>
              <p:nvPr/>
            </p:nvSpPr>
            <p:spPr>
              <a:xfrm>
                <a:off x="5084064" y="9326880"/>
                <a:ext cx="155448" cy="393192"/>
              </a:xfrm>
              <a:custGeom>
                <a:avLst/>
                <a:gdLst/>
                <a:ahLst/>
                <a:cxnLst/>
                <a:rect l="l" t="t" r="r" b="b"/>
                <a:pathLst>
                  <a:path w="155448" h="393192">
                    <a:moveTo>
                      <a:pt x="0" y="128016"/>
                    </a:moveTo>
                    <a:lnTo>
                      <a:pt x="155448" y="0"/>
                    </a:lnTo>
                    <a:lnTo>
                      <a:pt x="155448" y="265176"/>
                    </a:lnTo>
                    <a:lnTo>
                      <a:pt x="0" y="3931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4D59F"/>
                  </a:gs>
                  <a:gs pos="100000">
                    <a:srgbClr val="209F67"/>
                  </a:gs>
                </a:gsLst>
                <a:lin ang="0" scaled="1"/>
                <a:tileRect/>
              </a:gradFill>
              <a:ln w="8636">
                <a:solidFill>
                  <a:srgbClr val="419A7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0" name="Analytic fusion component | front face"/>
              <p:cNvSpPr/>
              <p:nvPr/>
            </p:nvSpPr>
            <p:spPr>
              <a:xfrm>
                <a:off x="4425696" y="9454896"/>
                <a:ext cx="658368" cy="265176"/>
              </a:xfrm>
              <a:custGeom>
                <a:avLst/>
                <a:gdLst/>
                <a:ahLst/>
                <a:cxnLst/>
                <a:rect l="l" t="t" r="r" b="b"/>
                <a:pathLst>
                  <a:path w="658368" h="265176">
                    <a:moveTo>
                      <a:pt x="0" y="0"/>
                    </a:moveTo>
                    <a:lnTo>
                      <a:pt x="658368" y="0"/>
                    </a:lnTo>
                    <a:lnTo>
                      <a:pt x="658368" y="265176"/>
                    </a:lnTo>
                    <a:lnTo>
                      <a:pt x="0" y="2651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0FBEA"/>
                  </a:gs>
                  <a:gs pos="35000">
                    <a:srgbClr val="74D59F"/>
                  </a:gs>
                  <a:gs pos="100000">
                    <a:srgbClr val="74D59F"/>
                  </a:gs>
                </a:gsLst>
                <a:lin ang="5400000" scaled="1"/>
                <a:tileRect/>
              </a:gradFill>
              <a:ln w="8636">
                <a:solidFill>
                  <a:srgbClr val="419A72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51" name="Analytic fusion component | front column 1"/>
              <p:cNvCxnSpPr/>
              <p:nvPr/>
            </p:nvCxnSpPr>
            <p:spPr>
              <a:xfrm>
                <a:off x="4557370" y="9454896"/>
                <a:ext cx="0" cy="26517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2" name="Analytic fusion component | top column 1"/>
              <p:cNvCxnSpPr/>
              <p:nvPr/>
            </p:nvCxnSpPr>
            <p:spPr>
              <a:xfrm flipV="1">
                <a:off x="4557370" y="9326880"/>
                <a:ext cx="155448" cy="12801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3" name="Analytic fusion component | front column 2"/>
              <p:cNvCxnSpPr/>
              <p:nvPr/>
            </p:nvCxnSpPr>
            <p:spPr>
              <a:xfrm>
                <a:off x="4689043" y="9454896"/>
                <a:ext cx="0" cy="26517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4" name="Analytic fusion component | top column 2"/>
              <p:cNvCxnSpPr/>
              <p:nvPr/>
            </p:nvCxnSpPr>
            <p:spPr>
              <a:xfrm flipV="1">
                <a:off x="4689043" y="9326880"/>
                <a:ext cx="155448" cy="12801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5" name="Analytic fusion component | front column 3"/>
              <p:cNvCxnSpPr/>
              <p:nvPr/>
            </p:nvCxnSpPr>
            <p:spPr>
              <a:xfrm>
                <a:off x="4820717" y="9454896"/>
                <a:ext cx="0" cy="26517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6" name="Analytic fusion component | top column 3"/>
              <p:cNvCxnSpPr/>
              <p:nvPr/>
            </p:nvCxnSpPr>
            <p:spPr>
              <a:xfrm flipV="1">
                <a:off x="4820717" y="9326880"/>
                <a:ext cx="155448" cy="12801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7" name="Analytic fusion component | front column 4"/>
              <p:cNvCxnSpPr/>
              <p:nvPr/>
            </p:nvCxnSpPr>
            <p:spPr>
              <a:xfrm>
                <a:off x="4952390" y="9454896"/>
                <a:ext cx="0" cy="26517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8" name="Analytic fusion component | top column 4"/>
              <p:cNvCxnSpPr/>
              <p:nvPr/>
            </p:nvCxnSpPr>
            <p:spPr>
              <a:xfrm flipV="1">
                <a:off x="4952390" y="9326880"/>
                <a:ext cx="155448" cy="12801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59" name="Analytic fusion component | front row 1"/>
              <p:cNvCxnSpPr/>
              <p:nvPr/>
            </p:nvCxnSpPr>
            <p:spPr>
              <a:xfrm>
                <a:off x="4425696" y="9587484"/>
                <a:ext cx="658368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60" name="Analytic fusion component | side row 1"/>
              <p:cNvCxnSpPr/>
              <p:nvPr/>
            </p:nvCxnSpPr>
            <p:spPr>
              <a:xfrm flipV="1">
                <a:off x="5084064" y="9459468"/>
                <a:ext cx="155448" cy="12801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61" name="Analytic fusion component | top depth 1"/>
              <p:cNvCxnSpPr/>
              <p:nvPr/>
            </p:nvCxnSpPr>
            <p:spPr>
              <a:xfrm>
                <a:off x="4477512" y="9412224"/>
                <a:ext cx="658368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62" name="Analytic fusion component | side depth 1"/>
              <p:cNvCxnSpPr/>
              <p:nvPr/>
            </p:nvCxnSpPr>
            <p:spPr>
              <a:xfrm>
                <a:off x="5135880" y="9412224"/>
                <a:ext cx="0" cy="26517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63" name="Analytic fusion component | top depth 2"/>
              <p:cNvCxnSpPr/>
              <p:nvPr/>
            </p:nvCxnSpPr>
            <p:spPr>
              <a:xfrm>
                <a:off x="4529328" y="9369552"/>
                <a:ext cx="658368" cy="0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  <p:cxnSp>
            <p:nvCxnSpPr>
              <p:cNvPr id="564" name="Analytic fusion component | side depth 2"/>
              <p:cNvCxnSpPr/>
              <p:nvPr/>
            </p:nvCxnSpPr>
            <p:spPr>
              <a:xfrm>
                <a:off x="5187696" y="9369552"/>
                <a:ext cx="0" cy="265176"/>
              </a:xfrm>
              <a:prstGeom prst="line">
                <a:avLst/>
              </a:prstGeom>
              <a:ln w="6096">
                <a:solidFill>
                  <a:srgbClr val="419A72"/>
                </a:solidFill>
              </a:ln>
              <a:effectLst/>
            </p:spPr>
          </p:cxnSp>
        </p:grpSp>
        <p:grpSp>
          <p:nvGrpSpPr>
            <p:cNvPr id="565" name="Static fusion component"/>
            <p:cNvGrpSpPr/>
            <p:nvPr/>
          </p:nvGrpSpPr>
          <p:grpSpPr>
            <a:xfrm>
              <a:off x="5759489" y="8076638"/>
              <a:ext cx="1961066" cy="393192"/>
              <a:chOff x="5248656" y="9326880"/>
              <a:chExt cx="1481328" cy="393192"/>
            </a:xfrm>
          </p:grpSpPr>
          <p:sp>
            <p:nvSpPr>
              <p:cNvPr id="566" name="Static fusion component | top face"/>
              <p:cNvSpPr/>
              <p:nvPr/>
            </p:nvSpPr>
            <p:spPr>
              <a:xfrm>
                <a:off x="5248656" y="9326880"/>
                <a:ext cx="1481328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481328" h="128016">
                    <a:moveTo>
                      <a:pt x="0" y="128016"/>
                    </a:moveTo>
                    <a:lnTo>
                      <a:pt x="155448" y="0"/>
                    </a:lnTo>
                    <a:lnTo>
                      <a:pt x="1481328" y="0"/>
                    </a:lnTo>
                    <a:lnTo>
                      <a:pt x="1325880" y="1280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7" name="Static fusion component | side face"/>
              <p:cNvSpPr/>
              <p:nvPr/>
            </p:nvSpPr>
            <p:spPr>
              <a:xfrm>
                <a:off x="6574536" y="9326880"/>
                <a:ext cx="155448" cy="393192"/>
              </a:xfrm>
              <a:custGeom>
                <a:avLst/>
                <a:gdLst/>
                <a:ahLst/>
                <a:cxnLst/>
                <a:rect l="l" t="t" r="r" b="b"/>
                <a:pathLst>
                  <a:path w="155448" h="393192">
                    <a:moveTo>
                      <a:pt x="0" y="128016"/>
                    </a:moveTo>
                    <a:lnTo>
                      <a:pt x="155448" y="0"/>
                    </a:lnTo>
                    <a:lnTo>
                      <a:pt x="155448" y="265176"/>
                    </a:lnTo>
                    <a:lnTo>
                      <a:pt x="0" y="39319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8" name="Static fusion component | front face"/>
              <p:cNvSpPr/>
              <p:nvPr/>
            </p:nvSpPr>
            <p:spPr>
              <a:xfrm>
                <a:off x="5248656" y="9454896"/>
                <a:ext cx="1325880" cy="265176"/>
              </a:xfrm>
              <a:custGeom>
                <a:avLst/>
                <a:gdLst/>
                <a:ahLst/>
                <a:cxnLst/>
                <a:rect l="l" t="t" r="r" b="b"/>
                <a:pathLst>
                  <a:path w="1325880" h="265176">
                    <a:moveTo>
                      <a:pt x="0" y="0"/>
                    </a:moveTo>
                    <a:lnTo>
                      <a:pt x="1325880" y="0"/>
                    </a:lnTo>
                    <a:lnTo>
                      <a:pt x="1325880" y="265176"/>
                    </a:lnTo>
                    <a:lnTo>
                      <a:pt x="0" y="26517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69" name="Static fusion component | front column 1"/>
              <p:cNvCxnSpPr/>
              <p:nvPr/>
            </p:nvCxnSpPr>
            <p:spPr>
              <a:xfrm>
                <a:off x="5381244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0" name="Static fusion component | top column 1"/>
              <p:cNvCxnSpPr/>
              <p:nvPr/>
            </p:nvCxnSpPr>
            <p:spPr>
              <a:xfrm flipV="1">
                <a:off x="5381244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1" name="Static fusion component | front column 2"/>
              <p:cNvCxnSpPr/>
              <p:nvPr/>
            </p:nvCxnSpPr>
            <p:spPr>
              <a:xfrm>
                <a:off x="5513832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2" name="Static fusion component | top column 2"/>
              <p:cNvCxnSpPr/>
              <p:nvPr/>
            </p:nvCxnSpPr>
            <p:spPr>
              <a:xfrm flipV="1">
                <a:off x="5513832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3" name="Static fusion component | front column 3"/>
              <p:cNvCxnSpPr/>
              <p:nvPr/>
            </p:nvCxnSpPr>
            <p:spPr>
              <a:xfrm>
                <a:off x="5646420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4" name="Static fusion component | top column 3"/>
              <p:cNvCxnSpPr/>
              <p:nvPr/>
            </p:nvCxnSpPr>
            <p:spPr>
              <a:xfrm flipV="1">
                <a:off x="5646420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5" name="Static fusion component | front column 4"/>
              <p:cNvCxnSpPr/>
              <p:nvPr/>
            </p:nvCxnSpPr>
            <p:spPr>
              <a:xfrm>
                <a:off x="5779008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6" name="Static fusion component | top column 4"/>
              <p:cNvCxnSpPr/>
              <p:nvPr/>
            </p:nvCxnSpPr>
            <p:spPr>
              <a:xfrm flipV="1">
                <a:off x="5779008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7" name="Static fusion component | front column 5"/>
              <p:cNvCxnSpPr/>
              <p:nvPr/>
            </p:nvCxnSpPr>
            <p:spPr>
              <a:xfrm>
                <a:off x="5911596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8" name="Static fusion component | top column 5"/>
              <p:cNvCxnSpPr/>
              <p:nvPr/>
            </p:nvCxnSpPr>
            <p:spPr>
              <a:xfrm flipV="1">
                <a:off x="5911596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79" name="Static fusion component | front column 6"/>
              <p:cNvCxnSpPr/>
              <p:nvPr/>
            </p:nvCxnSpPr>
            <p:spPr>
              <a:xfrm>
                <a:off x="6044184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0" name="Static fusion component | top column 6"/>
              <p:cNvCxnSpPr/>
              <p:nvPr/>
            </p:nvCxnSpPr>
            <p:spPr>
              <a:xfrm flipV="1">
                <a:off x="6044184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1" name="Static fusion component | front column 7"/>
              <p:cNvCxnSpPr/>
              <p:nvPr/>
            </p:nvCxnSpPr>
            <p:spPr>
              <a:xfrm>
                <a:off x="6176772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2" name="Static fusion component | top column 7"/>
              <p:cNvCxnSpPr/>
              <p:nvPr/>
            </p:nvCxnSpPr>
            <p:spPr>
              <a:xfrm flipV="1">
                <a:off x="6176772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3" name="Static fusion component | front column 8"/>
              <p:cNvCxnSpPr/>
              <p:nvPr/>
            </p:nvCxnSpPr>
            <p:spPr>
              <a:xfrm>
                <a:off x="6309360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4" name="Static fusion component | top column 8"/>
              <p:cNvCxnSpPr/>
              <p:nvPr/>
            </p:nvCxnSpPr>
            <p:spPr>
              <a:xfrm flipV="1">
                <a:off x="6309360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5" name="Static fusion component | front column 9"/>
              <p:cNvCxnSpPr/>
              <p:nvPr/>
            </p:nvCxnSpPr>
            <p:spPr>
              <a:xfrm>
                <a:off x="6441948" y="9454896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6" name="Static fusion component | top column 9"/>
              <p:cNvCxnSpPr/>
              <p:nvPr/>
            </p:nvCxnSpPr>
            <p:spPr>
              <a:xfrm flipV="1">
                <a:off x="6441948" y="9326880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7" name="Static fusion component | front row 1"/>
              <p:cNvCxnSpPr/>
              <p:nvPr/>
            </p:nvCxnSpPr>
            <p:spPr>
              <a:xfrm>
                <a:off x="5248656" y="9587484"/>
                <a:ext cx="1325880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8" name="Static fusion component | side row 1"/>
              <p:cNvCxnSpPr/>
              <p:nvPr/>
            </p:nvCxnSpPr>
            <p:spPr>
              <a:xfrm flipV="1">
                <a:off x="6574536" y="9459468"/>
                <a:ext cx="155448" cy="12801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89" name="Static fusion component | top depth 1"/>
              <p:cNvCxnSpPr/>
              <p:nvPr/>
            </p:nvCxnSpPr>
            <p:spPr>
              <a:xfrm>
                <a:off x="5300472" y="9412224"/>
                <a:ext cx="1325880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90" name="Static fusion component | side depth 1"/>
              <p:cNvCxnSpPr/>
              <p:nvPr/>
            </p:nvCxnSpPr>
            <p:spPr>
              <a:xfrm>
                <a:off x="6626352" y="9412224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91" name="Static fusion component | top depth 2"/>
              <p:cNvCxnSpPr/>
              <p:nvPr/>
            </p:nvCxnSpPr>
            <p:spPr>
              <a:xfrm>
                <a:off x="5352288" y="9369552"/>
                <a:ext cx="1325880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592" name="Static fusion component | side depth 2"/>
              <p:cNvCxnSpPr/>
              <p:nvPr/>
            </p:nvCxnSpPr>
            <p:spPr>
              <a:xfrm>
                <a:off x="6678168" y="9369552"/>
                <a:ext cx="0" cy="26517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</p:grpSp>
        <p:grpSp>
          <p:nvGrpSpPr>
            <p:cNvPr id="593" name="MODULE Classifier MLP"/>
            <p:cNvGrpSpPr/>
            <p:nvPr/>
          </p:nvGrpSpPr>
          <p:grpSpPr>
            <a:xfrm>
              <a:off x="3543110" y="8789979"/>
              <a:ext cx="2775113" cy="1189279"/>
              <a:chOff x="3131911" y="10021265"/>
              <a:chExt cx="2775113" cy="1189279"/>
            </a:xfrm>
          </p:grpSpPr>
          <p:sp>
            <p:nvSpPr>
              <p:cNvPr id="594" name="Classifier MLP frame"/>
              <p:cNvSpPr/>
              <p:nvPr/>
            </p:nvSpPr>
            <p:spPr>
              <a:xfrm>
                <a:off x="3145536" y="10040112"/>
                <a:ext cx="2761488" cy="1170432"/>
              </a:xfrm>
              <a:prstGeom prst="roundRect">
                <a:avLst>
                  <a:gd name="adj" fmla="val 11718"/>
                </a:avLst>
              </a:prstGeom>
              <a:solidFill>
                <a:srgbClr val="E3F1FF"/>
              </a:solidFill>
              <a:ln w="22859" cap="rnd">
                <a:solidFill>
                  <a:srgbClr val="0060F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5" name="Classifier MLP title"/>
              <p:cNvSpPr txBox="1"/>
              <p:nvPr/>
            </p:nvSpPr>
            <p:spPr>
              <a:xfrm>
                <a:off x="3131911" y="10021265"/>
                <a:ext cx="2755538" cy="430887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Classifier MLP</a:t>
                </a:r>
              </a:p>
            </p:txBody>
          </p:sp>
          <p:grpSp>
            <p:nvGrpSpPr>
              <p:cNvPr id="596" name="Classifier MLP neurons"/>
              <p:cNvGrpSpPr/>
              <p:nvPr/>
            </p:nvGrpSpPr>
            <p:grpSpPr>
              <a:xfrm>
                <a:off x="3419856" y="10378440"/>
                <a:ext cx="2057400" cy="768096"/>
                <a:chOff x="3419856" y="10378440"/>
                <a:chExt cx="2057400" cy="768096"/>
              </a:xfrm>
            </p:grpSpPr>
            <p:cxnSp>
              <p:nvCxnSpPr>
                <p:cNvPr id="597" name="Classifier MLP neurons | connection 1.1-2.1"/>
                <p:cNvCxnSpPr/>
                <p:nvPr/>
              </p:nvCxnSpPr>
              <p:spPr>
                <a:xfrm>
                  <a:off x="3657600" y="10497312"/>
                  <a:ext cx="658368" cy="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598" name="Classifier MLP neurons | connection 1.1-2.2"/>
                <p:cNvCxnSpPr/>
                <p:nvPr/>
              </p:nvCxnSpPr>
              <p:spPr>
                <a:xfrm>
                  <a:off x="3652714" y="10531043"/>
                  <a:ext cx="668140" cy="19771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599" name="Classifier MLP neurons | connection 1.1-2.3"/>
                <p:cNvCxnSpPr/>
                <p:nvPr/>
              </p:nvCxnSpPr>
              <p:spPr>
                <a:xfrm>
                  <a:off x="3641026" y="10557856"/>
                  <a:ext cx="691516" cy="40926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0" name="Classifier MLP neurons | connection 1.2-2.1"/>
                <p:cNvCxnSpPr/>
                <p:nvPr/>
              </p:nvCxnSpPr>
              <p:spPr>
                <a:xfrm flipV="1">
                  <a:off x="3652714" y="10531043"/>
                  <a:ext cx="668140" cy="19771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1" name="Classifier MLP neurons | connection 1.2-2.2"/>
                <p:cNvCxnSpPr/>
                <p:nvPr/>
              </p:nvCxnSpPr>
              <p:spPr>
                <a:xfrm>
                  <a:off x="3657600" y="10762488"/>
                  <a:ext cx="658368" cy="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2" name="Classifier MLP neurons | connection 1.2-2.3"/>
                <p:cNvCxnSpPr/>
                <p:nvPr/>
              </p:nvCxnSpPr>
              <p:spPr>
                <a:xfrm>
                  <a:off x="3652714" y="10796219"/>
                  <a:ext cx="668140" cy="19771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3" name="Classifier MLP neurons | connection 1.3-2.1"/>
                <p:cNvCxnSpPr/>
                <p:nvPr/>
              </p:nvCxnSpPr>
              <p:spPr>
                <a:xfrm flipV="1">
                  <a:off x="3641026" y="10557856"/>
                  <a:ext cx="691516" cy="40926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4" name="Classifier MLP neurons | connection 1.3-2.2"/>
                <p:cNvCxnSpPr/>
                <p:nvPr/>
              </p:nvCxnSpPr>
              <p:spPr>
                <a:xfrm flipV="1">
                  <a:off x="3652714" y="10796219"/>
                  <a:ext cx="668140" cy="19771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5" name="Classifier MLP neurons | connection 1.3-2.3"/>
                <p:cNvCxnSpPr/>
                <p:nvPr/>
              </p:nvCxnSpPr>
              <p:spPr>
                <a:xfrm>
                  <a:off x="3657600" y="11027664"/>
                  <a:ext cx="658368" cy="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6" name="Classifier MLP neurons | connection 2.1-3.1"/>
                <p:cNvCxnSpPr/>
                <p:nvPr/>
              </p:nvCxnSpPr>
              <p:spPr>
                <a:xfrm>
                  <a:off x="4553712" y="10497312"/>
                  <a:ext cx="685800" cy="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7" name="Classifier MLP neurons | connection 2.1-3.2"/>
                <p:cNvCxnSpPr/>
                <p:nvPr/>
              </p:nvCxnSpPr>
              <p:spPr>
                <a:xfrm>
                  <a:off x="4549095" y="10530118"/>
                  <a:ext cx="695034" cy="19956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8" name="Classifier MLP neurons | connection 2.1-3.3"/>
                <p:cNvCxnSpPr/>
                <p:nvPr/>
              </p:nvCxnSpPr>
              <p:spPr>
                <a:xfrm>
                  <a:off x="4537924" y="10556509"/>
                  <a:ext cx="717376" cy="411958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09" name="Classifier MLP neurons | connection 2.2-3.1"/>
                <p:cNvCxnSpPr/>
                <p:nvPr/>
              </p:nvCxnSpPr>
              <p:spPr>
                <a:xfrm flipV="1">
                  <a:off x="4549095" y="10530118"/>
                  <a:ext cx="695034" cy="19956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10" name="Classifier MLP neurons | connection 2.2-3.2"/>
                <p:cNvCxnSpPr/>
                <p:nvPr/>
              </p:nvCxnSpPr>
              <p:spPr>
                <a:xfrm>
                  <a:off x="4553712" y="10762488"/>
                  <a:ext cx="685800" cy="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11" name="Classifier MLP neurons | connection 2.2-3.3"/>
                <p:cNvCxnSpPr/>
                <p:nvPr/>
              </p:nvCxnSpPr>
              <p:spPr>
                <a:xfrm>
                  <a:off x="4549095" y="10795294"/>
                  <a:ext cx="695034" cy="19956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12" name="Classifier MLP neurons | connection 2.3-3.1"/>
                <p:cNvCxnSpPr/>
                <p:nvPr/>
              </p:nvCxnSpPr>
              <p:spPr>
                <a:xfrm flipV="1">
                  <a:off x="4537924" y="10556509"/>
                  <a:ext cx="717376" cy="411958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13" name="Classifier MLP neurons | connection 2.3-3.2"/>
                <p:cNvCxnSpPr/>
                <p:nvPr/>
              </p:nvCxnSpPr>
              <p:spPr>
                <a:xfrm flipV="1">
                  <a:off x="4549095" y="10795294"/>
                  <a:ext cx="695034" cy="199564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cxnSp>
              <p:nvCxnSpPr>
                <p:cNvPr id="614" name="Classifier MLP neurons | connection 2.3-3.3"/>
                <p:cNvCxnSpPr/>
                <p:nvPr/>
              </p:nvCxnSpPr>
              <p:spPr>
                <a:xfrm>
                  <a:off x="4553712" y="11027664"/>
                  <a:ext cx="685800" cy="0"/>
                </a:xfrm>
                <a:prstGeom prst="line">
                  <a:avLst/>
                </a:prstGeom>
                <a:ln w="4826">
                  <a:solidFill>
                    <a:srgbClr val="3A8FD5"/>
                  </a:solidFill>
                </a:ln>
                <a:effectLst/>
              </p:spPr>
            </p:cxnSp>
            <p:sp>
              <p:nvSpPr>
                <p:cNvPr id="615" name="Classifier MLP neurons | layer 1 node 1"/>
                <p:cNvSpPr/>
                <p:nvPr/>
              </p:nvSpPr>
              <p:spPr>
                <a:xfrm>
                  <a:off x="3419856" y="10378440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6" name="Classifier MLP neurons | layer 1 node 1 highlight"/>
                <p:cNvSpPr/>
                <p:nvPr/>
              </p:nvSpPr>
              <p:spPr>
                <a:xfrm>
                  <a:off x="3479292" y="10435499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7" name="Classifier MLP neurons | layer 1 node 2"/>
                <p:cNvSpPr/>
                <p:nvPr/>
              </p:nvSpPr>
              <p:spPr>
                <a:xfrm>
                  <a:off x="3419856" y="10643616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8" name="Classifier MLP neurons | layer 1 node 2 highlight"/>
                <p:cNvSpPr/>
                <p:nvPr/>
              </p:nvSpPr>
              <p:spPr>
                <a:xfrm>
                  <a:off x="3479292" y="10700675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9" name="Classifier MLP neurons | layer 1 node 3"/>
                <p:cNvSpPr/>
                <p:nvPr/>
              </p:nvSpPr>
              <p:spPr>
                <a:xfrm>
                  <a:off x="3419856" y="10908792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0" name="Classifier MLP neurons | layer 1 node 3 highlight"/>
                <p:cNvSpPr/>
                <p:nvPr/>
              </p:nvSpPr>
              <p:spPr>
                <a:xfrm>
                  <a:off x="3479292" y="10965851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1" name="Classifier MLP neurons | layer 2 node 1"/>
                <p:cNvSpPr/>
                <p:nvPr/>
              </p:nvSpPr>
              <p:spPr>
                <a:xfrm>
                  <a:off x="4315968" y="10378440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2" name="Classifier MLP neurons | layer 2 node 1 highlight"/>
                <p:cNvSpPr/>
                <p:nvPr/>
              </p:nvSpPr>
              <p:spPr>
                <a:xfrm>
                  <a:off x="4375404" y="10435499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3" name="Classifier MLP neurons | layer 2 node 2"/>
                <p:cNvSpPr/>
                <p:nvPr/>
              </p:nvSpPr>
              <p:spPr>
                <a:xfrm>
                  <a:off x="4315968" y="10643616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4" name="Classifier MLP neurons | layer 2 node 2 highlight"/>
                <p:cNvSpPr/>
                <p:nvPr/>
              </p:nvSpPr>
              <p:spPr>
                <a:xfrm>
                  <a:off x="4375404" y="10700675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5" name="Classifier MLP neurons | layer 2 node 3"/>
                <p:cNvSpPr/>
                <p:nvPr/>
              </p:nvSpPr>
              <p:spPr>
                <a:xfrm>
                  <a:off x="4315968" y="10908792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6" name="Classifier MLP neurons | layer 2 node 3 highlight"/>
                <p:cNvSpPr/>
                <p:nvPr/>
              </p:nvSpPr>
              <p:spPr>
                <a:xfrm>
                  <a:off x="4375404" y="10965851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7" name="Classifier MLP neurons | layer 3 node 1"/>
                <p:cNvSpPr/>
                <p:nvPr/>
              </p:nvSpPr>
              <p:spPr>
                <a:xfrm>
                  <a:off x="5239512" y="10378440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8" name="Classifier MLP neurons | layer 3 node 1 highlight"/>
                <p:cNvSpPr/>
                <p:nvPr/>
              </p:nvSpPr>
              <p:spPr>
                <a:xfrm>
                  <a:off x="5298948" y="10435499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9" name="Classifier MLP neurons | layer 3 node 2"/>
                <p:cNvSpPr/>
                <p:nvPr/>
              </p:nvSpPr>
              <p:spPr>
                <a:xfrm>
                  <a:off x="5239512" y="10643616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Classifier MLP neurons | layer 3 node 2 highlight"/>
                <p:cNvSpPr/>
                <p:nvPr/>
              </p:nvSpPr>
              <p:spPr>
                <a:xfrm>
                  <a:off x="5298948" y="10700675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Classifier MLP neurons | layer 3 node 3"/>
                <p:cNvSpPr/>
                <p:nvPr/>
              </p:nvSpPr>
              <p:spPr>
                <a:xfrm>
                  <a:off x="5239512" y="10908792"/>
                  <a:ext cx="237744" cy="237744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27000">
                      <a:srgbClr val="DCEFFF"/>
                    </a:gs>
                    <a:gs pos="52000">
                      <a:srgbClr val="72C5FF"/>
                    </a:gs>
                    <a:gs pos="100000">
                      <a:srgbClr val="137AD3"/>
                    </a:gs>
                  </a:gsLst>
                  <a:lin ang="2700000" scaled="1"/>
                  <a:tileRect/>
                </a:gradFill>
                <a:ln w="5715">
                  <a:solidFill>
                    <a:srgbClr val="3A8FD5"/>
                  </a:solidFill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2" name="Classifier MLP neurons | layer 3 node 3 highlight"/>
                <p:cNvSpPr/>
                <p:nvPr/>
              </p:nvSpPr>
              <p:spPr>
                <a:xfrm>
                  <a:off x="5298948" y="10965851"/>
                  <a:ext cx="57059" cy="35662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txBody>
                <a:bodyPr rtlCol="0" anchor="ctr"/>
                <a:lstStyle/>
                <a:p>
                  <a:pPr algn="ctr"/>
                  <a:endParaRPr sz="280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33" name="MODULE Logits"/>
            <p:cNvGrpSpPr/>
            <p:nvPr/>
          </p:nvGrpSpPr>
          <p:grpSpPr>
            <a:xfrm>
              <a:off x="3401286" y="10124034"/>
              <a:ext cx="3008376" cy="649224"/>
              <a:chOff x="2990088" y="11347704"/>
              <a:chExt cx="3008376" cy="649224"/>
            </a:xfrm>
          </p:grpSpPr>
          <p:sp>
            <p:nvSpPr>
              <p:cNvPr id="634" name="Logits frame"/>
              <p:cNvSpPr/>
              <p:nvPr/>
            </p:nvSpPr>
            <p:spPr>
              <a:xfrm>
                <a:off x="2990088" y="11347704"/>
                <a:ext cx="3008376" cy="649224"/>
              </a:xfrm>
              <a:prstGeom prst="roundRect">
                <a:avLst>
                  <a:gd name="adj" fmla="val 18309"/>
                </a:avLst>
              </a:prstGeom>
              <a:solidFill>
                <a:srgbClr val="E3F1FF"/>
              </a:solidFill>
              <a:ln w="22859" cap="rnd">
                <a:solidFill>
                  <a:srgbClr val="0060F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5" name="Logits title"/>
              <p:cNvSpPr txBox="1"/>
              <p:nvPr/>
            </p:nvSpPr>
            <p:spPr>
              <a:xfrm>
                <a:off x="4035816" y="11440853"/>
                <a:ext cx="916918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Logits</a:t>
                </a:r>
              </a:p>
            </p:txBody>
          </p:sp>
        </p:grpSp>
        <p:grpSp>
          <p:nvGrpSpPr>
            <p:cNvPr id="636" name="MODULE Counterpart-type mask"/>
            <p:cNvGrpSpPr/>
            <p:nvPr/>
          </p:nvGrpSpPr>
          <p:grpSpPr>
            <a:xfrm>
              <a:off x="3021254" y="10954038"/>
              <a:ext cx="3663138" cy="749808"/>
              <a:chOff x="2935224" y="12188952"/>
              <a:chExt cx="3063240" cy="749808"/>
            </a:xfrm>
          </p:grpSpPr>
          <p:sp>
            <p:nvSpPr>
              <p:cNvPr id="637" name="Counterpart-type mask frame"/>
              <p:cNvSpPr/>
              <p:nvPr/>
            </p:nvSpPr>
            <p:spPr>
              <a:xfrm>
                <a:off x="2935224" y="12188952"/>
                <a:ext cx="3063240" cy="749808"/>
              </a:xfrm>
              <a:prstGeom prst="roundRect">
                <a:avLst>
                  <a:gd name="adj" fmla="val 15853"/>
                </a:avLst>
              </a:prstGeom>
              <a:solidFill>
                <a:srgbClr val="EBEDF0"/>
              </a:solidFill>
              <a:ln w="22859" cap="rnd">
                <a:solidFill>
                  <a:srgbClr val="586678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8" name="Counterpart-type mask title"/>
              <p:cNvSpPr txBox="1"/>
              <p:nvPr/>
            </p:nvSpPr>
            <p:spPr>
              <a:xfrm>
                <a:off x="2944253" y="12322007"/>
                <a:ext cx="3041892" cy="430887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Counterpart-type mask</a:t>
                </a:r>
              </a:p>
            </p:txBody>
          </p:sp>
        </p:grpSp>
        <p:grpSp>
          <p:nvGrpSpPr>
            <p:cNvPr id="639" name="MODULE Softmax"/>
            <p:cNvGrpSpPr/>
            <p:nvPr/>
          </p:nvGrpSpPr>
          <p:grpSpPr>
            <a:xfrm>
              <a:off x="3346422" y="11837972"/>
              <a:ext cx="3063240" cy="462331"/>
              <a:chOff x="2935224" y="13061645"/>
              <a:chExt cx="3063240" cy="462331"/>
            </a:xfrm>
          </p:grpSpPr>
          <p:sp>
            <p:nvSpPr>
              <p:cNvPr id="640" name="Softmax frame"/>
              <p:cNvSpPr/>
              <p:nvPr/>
            </p:nvSpPr>
            <p:spPr>
              <a:xfrm>
                <a:off x="2935224" y="13075920"/>
                <a:ext cx="3063240" cy="448056"/>
              </a:xfrm>
              <a:prstGeom prst="roundRect">
                <a:avLst>
                  <a:gd name="adj" fmla="val 26530"/>
                </a:avLst>
              </a:prstGeom>
              <a:solidFill>
                <a:srgbClr val="E3F1FF"/>
              </a:solidFill>
              <a:ln w="22859" cap="rnd">
                <a:solidFill>
                  <a:srgbClr val="0060F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1" name="Softmax title"/>
              <p:cNvSpPr txBox="1"/>
              <p:nvPr/>
            </p:nvSpPr>
            <p:spPr>
              <a:xfrm>
                <a:off x="3858504" y="13061645"/>
                <a:ext cx="1216680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 dirty="0" err="1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Softmax</a:t>
                </a:r>
                <a:endPara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42" name="NODE Factual minus counterfactual"/>
            <p:cNvSpPr/>
            <p:nvPr/>
          </p:nvSpPr>
          <p:spPr>
            <a:xfrm>
              <a:off x="4667821" y="3995928"/>
              <a:ext cx="493776" cy="493776"/>
            </a:xfrm>
            <a:prstGeom prst="ellipse">
              <a:avLst/>
            </a:prstGeom>
            <a:solidFill>
              <a:srgbClr val="FFFFFF"/>
            </a:solidFill>
            <a:ln w="27432" cap="rnd">
              <a:solidFill>
                <a:srgbClr val="080C66"/>
              </a:solidFill>
            </a:ln>
            <a:effectLst/>
          </p:spPr>
          <p:txBody>
            <a:bodyPr rtlCol="0" anchor="ctr"/>
            <a:lstStyle/>
            <a:p>
              <a:pPr algn="ctr"/>
              <a:endParaRPr sz="28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43" name="Difference minus sign"/>
            <p:cNvSpPr txBox="1"/>
            <p:nvPr/>
          </p:nvSpPr>
          <p:spPr>
            <a:xfrm>
              <a:off x="4813721" y="3999943"/>
              <a:ext cx="201978" cy="43088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−</a:t>
              </a:r>
            </a:p>
          </p:txBody>
        </p:sp>
        <p:sp>
          <p:nvSpPr>
            <p:cNvPr id="644" name="Factual pair label"/>
            <p:cNvSpPr txBox="1"/>
            <p:nvPr/>
          </p:nvSpPr>
          <p:spPr>
            <a:xfrm>
              <a:off x="2485705" y="71110"/>
              <a:ext cx="2392337" cy="43088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Factual pair</a:t>
              </a:r>
            </a:p>
          </p:txBody>
        </p:sp>
        <p:sp>
          <p:nvSpPr>
            <p:cNvPr id="645" name="Counterfactual pair label"/>
            <p:cNvSpPr txBox="1"/>
            <p:nvPr/>
          </p:nvSpPr>
          <p:spPr>
            <a:xfrm>
              <a:off x="4928225" y="100339"/>
              <a:ext cx="2791094" cy="43088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Counterfactual pair</a:t>
              </a:r>
            </a:p>
          </p:txBody>
        </p:sp>
        <p:sp>
          <p:nvSpPr>
            <p:cNvPr id="646" name="Maneuver sequence label"/>
            <p:cNvSpPr txBox="1"/>
            <p:nvPr/>
          </p:nvSpPr>
          <p:spPr>
            <a:xfrm>
              <a:off x="685822" y="1727684"/>
              <a:ext cx="2168601" cy="861774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Maneuver </a:t>
              </a:r>
              <a:endParaRPr 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sequence</a:t>
              </a:r>
              <a:endParaRPr 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48" name="Static features label"/>
            <p:cNvSpPr txBox="1"/>
            <p:nvPr/>
          </p:nvSpPr>
          <p:spPr>
            <a:xfrm rot="5400000">
              <a:off x="8424096" y="9924626"/>
              <a:ext cx="1835632" cy="43088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Static 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Vector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50" name="Counterpart type label"/>
            <p:cNvSpPr txBox="1"/>
            <p:nvPr/>
          </p:nvSpPr>
          <p:spPr>
            <a:xfrm>
              <a:off x="730729" y="10554790"/>
              <a:ext cx="2420534" cy="43088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Counterpart type</a:t>
              </a:r>
            </a:p>
          </p:txBody>
        </p:sp>
        <p:sp>
          <p:nvSpPr>
            <p:cNvPr id="651" name="Intention support label"/>
            <p:cNvSpPr txBox="1"/>
            <p:nvPr/>
          </p:nvSpPr>
          <p:spPr>
            <a:xfrm>
              <a:off x="3333894" y="13156871"/>
              <a:ext cx="3119444" cy="43088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Intention</a:t>
              </a:r>
              <a:r>
                <a:rPr 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Distribution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4" name="Counterfactual feature label"/>
                <p:cNvSpPr txBox="1"/>
                <p:nvPr/>
              </p:nvSpPr>
              <p:spPr>
                <a:xfrm>
                  <a:off x="5506784" y="3291761"/>
                  <a:ext cx="575479" cy="411203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736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zh-CN" altLang="en-US" sz="2736" b="1" i="1" baseline="33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𝑪𝑭</m:t>
                        </m:r>
                      </m:oMath>
                    </m:oMathPara>
                  </a14:m>
                  <a:endParaRPr lang="zh-CN" altLang="en-US" sz="2736" b="1" i="1" baseline="33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54" name="Counterfactual feature label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784" y="3291761"/>
                  <a:ext cx="575479" cy="41120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6" name="Maneuver feature hm label"/>
            <p:cNvSpPr txBox="1"/>
            <p:nvPr/>
          </p:nvSpPr>
          <p:spPr>
            <a:xfrm>
              <a:off x="670748" y="4965381"/>
              <a:ext cx="386324" cy="430887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800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  <a:r>
                <a:rPr sz="2800" b="1" i="1" baseline="-23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657" name="Event feature he label"/>
            <p:cNvSpPr txBox="1"/>
            <p:nvPr/>
          </p:nvSpPr>
          <p:spPr>
            <a:xfrm>
              <a:off x="3878101" y="6923685"/>
              <a:ext cx="299762" cy="421013"/>
            </a:xfrm>
            <a:prstGeom prst="rect">
              <a:avLst/>
            </a:prstGeom>
            <a:noFill/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2736" b="1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</a:t>
              </a:r>
              <a:r>
                <a:rPr sz="2736" b="1" i="1" baseline="-230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8" name="Analytic feature hz label"/>
                <p:cNvSpPr txBox="1"/>
                <p:nvPr/>
              </p:nvSpPr>
              <p:spPr>
                <a:xfrm>
                  <a:off x="8209912" y="6978641"/>
                  <a:ext cx="481470" cy="398892"/>
                </a:xfrm>
                <a:prstGeom prst="rect">
                  <a:avLst/>
                </a:prstGeom>
                <a:noFill/>
                <a:effectLst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592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𝒉</m:t>
                        </m:r>
                        <m:r>
                          <a:rPr lang="zh-CN" altLang="en-US" sz="2592" b="1" i="1" baseline="-23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𝒛</m:t>
                        </m:r>
                      </m:oMath>
                    </m:oMathPara>
                  </a14:m>
                  <a:endParaRPr lang="zh-CN" altLang="en-US" sz="2592" b="1" i="1" baseline="-23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58" name="Analytic feature hz label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9912" y="6978641"/>
                  <a:ext cx="481470" cy="39889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9" name="Static feature hs label"/>
                <p:cNvSpPr txBox="1"/>
                <p:nvPr/>
              </p:nvSpPr>
              <p:spPr>
                <a:xfrm>
                  <a:off x="8091463" y="8906796"/>
                  <a:ext cx="407163" cy="420949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𝒉</m:t>
                        </m:r>
                        <m:r>
                          <a:rPr lang="zh-CN" altLang="en-US" sz="2800" b="1" i="1" baseline="-23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𝒔</m:t>
                        </m:r>
                      </m:oMath>
                    </m:oMathPara>
                  </a14:m>
                  <a:endParaRPr lang="zh-CN" altLang="en-US" sz="2800" b="1" i="1" baseline="-23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59" name="Static feature hs label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1463" y="8906796"/>
                  <a:ext cx="407163" cy="42094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1" name="Counterpart type gc label"/>
                <p:cNvSpPr txBox="1"/>
                <p:nvPr/>
              </p:nvSpPr>
              <p:spPr>
                <a:xfrm>
                  <a:off x="1445571" y="10998837"/>
                  <a:ext cx="400943" cy="420949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𝑔</m:t>
                        </m:r>
                        <m:r>
                          <a:rPr lang="zh-CN" altLang="en-US" sz="2800" b="0" i="1" baseline="-23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𝑐</m:t>
                        </m:r>
                      </m:oMath>
                    </m:oMathPara>
                  </a14:m>
                  <a:endParaRPr lang="zh-CN" altLang="en-US" sz="2800" i="1" baseline="-23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61" name="Counterpart type gc label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5571" y="10998837"/>
                  <a:ext cx="400943" cy="42094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7" name="Analytic sequence label"/>
            <p:cNvSpPr txBox="1"/>
            <p:nvPr/>
          </p:nvSpPr>
          <p:spPr>
            <a:xfrm>
              <a:off x="6531635" y="4163985"/>
              <a:ext cx="2694577" cy="430887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Analytic sequence</a:t>
              </a:r>
            </a:p>
          </p:txBody>
        </p:sp>
        <p:grpSp>
          <p:nvGrpSpPr>
            <p:cNvPr id="663" name="OUTPUT Eight intention classes"/>
            <p:cNvGrpSpPr/>
            <p:nvPr/>
          </p:nvGrpSpPr>
          <p:grpSpPr>
            <a:xfrm>
              <a:off x="2653222" y="12638845"/>
              <a:ext cx="4315968" cy="502920"/>
              <a:chOff x="2258568" y="14063472"/>
              <a:chExt cx="4315968" cy="502920"/>
            </a:xfrm>
          </p:grpSpPr>
          <p:sp>
            <p:nvSpPr>
              <p:cNvPr id="664" name="Class C0 cell"/>
              <p:cNvSpPr/>
              <p:nvPr/>
            </p:nvSpPr>
            <p:spPr>
              <a:xfrm>
                <a:off x="2258568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5" name="Class C0 label"/>
              <p:cNvSpPr txBox="1"/>
              <p:nvPr/>
            </p:nvSpPr>
            <p:spPr>
              <a:xfrm>
                <a:off x="2319124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C0</a:t>
                </a:r>
              </a:p>
            </p:txBody>
          </p:sp>
          <p:sp>
            <p:nvSpPr>
              <p:cNvPr id="666" name="Class C1 cell"/>
              <p:cNvSpPr/>
              <p:nvPr/>
            </p:nvSpPr>
            <p:spPr>
              <a:xfrm>
                <a:off x="2798064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7" name="Class C1 label"/>
              <p:cNvSpPr txBox="1"/>
              <p:nvPr/>
            </p:nvSpPr>
            <p:spPr>
              <a:xfrm>
                <a:off x="2858620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C1</a:t>
                </a:r>
              </a:p>
            </p:txBody>
          </p:sp>
          <p:sp>
            <p:nvSpPr>
              <p:cNvPr id="668" name="Class C2 cell"/>
              <p:cNvSpPr/>
              <p:nvPr/>
            </p:nvSpPr>
            <p:spPr>
              <a:xfrm>
                <a:off x="3337560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9" name="Class C2 label"/>
              <p:cNvSpPr txBox="1"/>
              <p:nvPr/>
            </p:nvSpPr>
            <p:spPr>
              <a:xfrm>
                <a:off x="3398117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C2</a:t>
                </a:r>
              </a:p>
            </p:txBody>
          </p:sp>
          <p:sp>
            <p:nvSpPr>
              <p:cNvPr id="670" name="Class C3 cell"/>
              <p:cNvSpPr/>
              <p:nvPr/>
            </p:nvSpPr>
            <p:spPr>
              <a:xfrm>
                <a:off x="3877056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1" name="Class C3 label"/>
              <p:cNvSpPr txBox="1"/>
              <p:nvPr/>
            </p:nvSpPr>
            <p:spPr>
              <a:xfrm>
                <a:off x="3937612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C3</a:t>
                </a:r>
              </a:p>
            </p:txBody>
          </p:sp>
          <p:sp>
            <p:nvSpPr>
              <p:cNvPr id="672" name="Class C4 cell"/>
              <p:cNvSpPr/>
              <p:nvPr/>
            </p:nvSpPr>
            <p:spPr>
              <a:xfrm>
                <a:off x="4416552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3" name="Class C4 label"/>
              <p:cNvSpPr txBox="1"/>
              <p:nvPr/>
            </p:nvSpPr>
            <p:spPr>
              <a:xfrm>
                <a:off x="4477108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C4</a:t>
                </a:r>
              </a:p>
            </p:txBody>
          </p:sp>
          <p:sp>
            <p:nvSpPr>
              <p:cNvPr id="674" name="Class C5 cell"/>
              <p:cNvSpPr/>
              <p:nvPr/>
            </p:nvSpPr>
            <p:spPr>
              <a:xfrm>
                <a:off x="4956048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5" name="Class C5 label"/>
              <p:cNvSpPr txBox="1"/>
              <p:nvPr/>
            </p:nvSpPr>
            <p:spPr>
              <a:xfrm>
                <a:off x="5016604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C5</a:t>
                </a:r>
              </a:p>
            </p:txBody>
          </p:sp>
          <p:sp>
            <p:nvSpPr>
              <p:cNvPr id="676" name="Class C6 cell"/>
              <p:cNvSpPr/>
              <p:nvPr/>
            </p:nvSpPr>
            <p:spPr>
              <a:xfrm>
                <a:off x="5495544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7" name="Class C6 label"/>
              <p:cNvSpPr txBox="1"/>
              <p:nvPr/>
            </p:nvSpPr>
            <p:spPr>
              <a:xfrm>
                <a:off x="5556100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C6</a:t>
                </a:r>
              </a:p>
            </p:txBody>
          </p:sp>
          <p:sp>
            <p:nvSpPr>
              <p:cNvPr id="678" name="Class C7 cell"/>
              <p:cNvSpPr/>
              <p:nvPr/>
            </p:nvSpPr>
            <p:spPr>
              <a:xfrm>
                <a:off x="6035040" y="14063472"/>
                <a:ext cx="539496" cy="502920"/>
              </a:xfrm>
              <a:prstGeom prst="rect">
                <a:avLst/>
              </a:prstGeom>
              <a:solidFill>
                <a:srgbClr val="FFFFFF"/>
              </a:solidFill>
              <a:ln w="22859" cap="rnd">
                <a:solidFill>
                  <a:srgbClr val="080C66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9" name="Class C7 label"/>
              <p:cNvSpPr txBox="1"/>
              <p:nvPr/>
            </p:nvSpPr>
            <p:spPr>
              <a:xfrm>
                <a:off x="6095595" y="14099489"/>
                <a:ext cx="418384" cy="430887"/>
              </a:xfrm>
              <a:prstGeom prst="rect">
                <a:avLst/>
              </a:prstGeom>
              <a:noFill/>
              <a:effectLst/>
            </p:spPr>
            <p:txBody>
              <a:bodyPr wrap="none" lIns="0" tIns="0" rIns="0" bIns="0" anchor="ctr">
                <a:spAutoFit/>
              </a:bodyPr>
              <a:lstStyle/>
              <a:p>
                <a:pPr algn="ctr"/>
                <a:r>
                  <a:rPr sz="2800">
                    <a:solidFill>
                      <a:srgbClr val="002060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C7</a:t>
                </a:r>
              </a:p>
            </p:txBody>
          </p:sp>
        </p:grpSp>
        <p:cxnSp>
          <p:nvCxnSpPr>
            <p:cNvPr id="701" name="连接符: 肘形 700">
              <a:extLst>
                <a:ext uri="{FF2B5EF4-FFF2-40B4-BE49-F238E27FC236}">
                  <a16:creationId xmlns:a16="http://schemas.microsoft.com/office/drawing/2014/main" id="{8E00A4C4-AFC4-40A1-8EE1-CBFD711A3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6584" y="5360227"/>
              <a:ext cx="1512586" cy="1"/>
            </a:xfrm>
            <a:prstGeom prst="bentConnector3">
              <a:avLst>
                <a:gd name="adj1" fmla="val 50000"/>
              </a:avLst>
            </a:prstGeom>
            <a:ln w="31750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连接符: 肘形 717">
              <a:extLst>
                <a:ext uri="{FF2B5EF4-FFF2-40B4-BE49-F238E27FC236}">
                  <a16:creationId xmlns:a16="http://schemas.microsoft.com/office/drawing/2014/main" id="{47B82B61-869F-4F2E-A933-51FA858DD15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975414" y="7297568"/>
              <a:ext cx="1439257" cy="351399"/>
            </a:xfrm>
            <a:prstGeom prst="bentConnector3">
              <a:avLst>
                <a:gd name="adj1" fmla="val 100403"/>
              </a:avLst>
            </a:prstGeom>
            <a:ln w="31750">
              <a:solidFill>
                <a:srgbClr val="119B75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Maneuver input → event gate">
              <a:extLst>
                <a:ext uri="{FF2B5EF4-FFF2-40B4-BE49-F238E27FC236}">
                  <a16:creationId xmlns:a16="http://schemas.microsoft.com/office/drawing/2014/main" id="{A1DA999C-D399-4A74-AA5A-279AC72E4B03}"/>
                </a:ext>
              </a:extLst>
            </p:cNvPr>
            <p:cNvCxnSpPr>
              <a:cxnSpLocks/>
            </p:cNvCxnSpPr>
            <p:nvPr/>
          </p:nvCxnSpPr>
          <p:spPr>
            <a:xfrm>
              <a:off x="4888215" y="7449503"/>
              <a:ext cx="0" cy="195047"/>
            </a:xfrm>
            <a:prstGeom prst="line">
              <a:avLst/>
            </a:prstGeom>
            <a:ln w="36576" cap="rnd">
              <a:solidFill>
                <a:srgbClr val="FF560A"/>
              </a:solidFill>
              <a:tailEnd type="triangle" w="med" len="med"/>
            </a:ln>
            <a:effectLst/>
          </p:spPr>
        </p:cxnSp>
        <p:cxnSp>
          <p:nvCxnSpPr>
            <p:cNvPr id="736" name="Static input → static MLP">
              <a:extLst>
                <a:ext uri="{FF2B5EF4-FFF2-40B4-BE49-F238E27FC236}">
                  <a16:creationId xmlns:a16="http://schemas.microsoft.com/office/drawing/2014/main" id="{49809DE1-CE90-43D8-A51F-9F037648A0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0599" y="9379163"/>
              <a:ext cx="3287" cy="229484"/>
            </a:xfrm>
            <a:prstGeom prst="line">
              <a:avLst/>
            </a:prstGeom>
            <a:ln w="36576" cap="rnd">
              <a:solidFill>
                <a:srgbClr val="0060F0"/>
              </a:solidFill>
              <a:tailEnd type="triangle" w="med" len="med"/>
            </a:ln>
            <a:effectLst/>
          </p:spPr>
        </p:cxnSp>
        <p:cxnSp>
          <p:nvCxnSpPr>
            <p:cNvPr id="739" name="Static input → static MLP">
              <a:extLst>
                <a:ext uri="{FF2B5EF4-FFF2-40B4-BE49-F238E27FC236}">
                  <a16:creationId xmlns:a16="http://schemas.microsoft.com/office/drawing/2014/main" id="{8204D7CA-A99D-4B34-94B1-071F289AF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1958" y="8538857"/>
              <a:ext cx="1" cy="315080"/>
            </a:xfrm>
            <a:prstGeom prst="line">
              <a:avLst/>
            </a:prstGeom>
            <a:ln w="36576" cap="rnd">
              <a:solidFill>
                <a:srgbClr val="0060F0"/>
              </a:solidFill>
              <a:tailEnd type="triangle" w="med" len="med"/>
            </a:ln>
            <a:effectLst/>
          </p:spPr>
        </p:cxnSp>
        <p:cxnSp>
          <p:nvCxnSpPr>
            <p:cNvPr id="749" name="直接箭头连接符 748">
              <a:extLst>
                <a:ext uri="{FF2B5EF4-FFF2-40B4-BE49-F238E27FC236}">
                  <a16:creationId xmlns:a16="http://schemas.microsoft.com/office/drawing/2014/main" id="{E8B08BA4-A4C6-4B6D-8555-D26468C0A861}"/>
                </a:ext>
              </a:extLst>
            </p:cNvPr>
            <p:cNvCxnSpPr>
              <a:cxnSpLocks/>
              <a:stCxn id="480" idx="2"/>
            </p:cNvCxnSpPr>
            <p:nvPr/>
          </p:nvCxnSpPr>
          <p:spPr>
            <a:xfrm>
              <a:off x="7860570" y="6661598"/>
              <a:ext cx="66" cy="307861"/>
            </a:xfrm>
            <a:prstGeom prst="straightConnector1">
              <a:avLst/>
            </a:prstGeom>
            <a:ln w="31750">
              <a:solidFill>
                <a:srgbClr val="119B75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9" name="Static feature hs"/>
            <p:cNvGrpSpPr/>
            <p:nvPr/>
          </p:nvGrpSpPr>
          <p:grpSpPr>
            <a:xfrm>
              <a:off x="7302852" y="8799734"/>
              <a:ext cx="676656" cy="585216"/>
              <a:chOff x="7827264" y="7790688"/>
              <a:chExt cx="676656" cy="585216"/>
            </a:xfrm>
          </p:grpSpPr>
          <p:sp>
            <p:nvSpPr>
              <p:cNvPr id="300" name="Static feature hs | top face"/>
              <p:cNvSpPr/>
              <p:nvPr/>
            </p:nvSpPr>
            <p:spPr>
              <a:xfrm>
                <a:off x="7827264" y="7790688"/>
                <a:ext cx="676656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676656" h="182880">
                    <a:moveTo>
                      <a:pt x="0" y="182880"/>
                    </a:moveTo>
                    <a:lnTo>
                      <a:pt x="201168" y="0"/>
                    </a:lnTo>
                    <a:lnTo>
                      <a:pt x="676656" y="0"/>
                    </a:lnTo>
                    <a:lnTo>
                      <a:pt x="475488" y="18288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1" name="Static feature hs | side face"/>
              <p:cNvSpPr/>
              <p:nvPr/>
            </p:nvSpPr>
            <p:spPr>
              <a:xfrm>
                <a:off x="8302752" y="7790688"/>
                <a:ext cx="201168" cy="585216"/>
              </a:xfrm>
              <a:custGeom>
                <a:avLst/>
                <a:gdLst/>
                <a:ahLst/>
                <a:cxnLst/>
                <a:rect l="l" t="t" r="r" b="b"/>
                <a:pathLst>
                  <a:path w="201168" h="585216">
                    <a:moveTo>
                      <a:pt x="0" y="182880"/>
                    </a:moveTo>
                    <a:lnTo>
                      <a:pt x="201168" y="0"/>
                    </a:lnTo>
                    <a:lnTo>
                      <a:pt x="201168" y="402336"/>
                    </a:lnTo>
                    <a:lnTo>
                      <a:pt x="0" y="58521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72C5FF"/>
                  </a:gs>
                  <a:gs pos="100000">
                    <a:srgbClr val="137AD3"/>
                  </a:gs>
                </a:gsLst>
                <a:lin ang="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2" name="Static feature hs | front face"/>
              <p:cNvSpPr/>
              <p:nvPr/>
            </p:nvSpPr>
            <p:spPr>
              <a:xfrm>
                <a:off x="7827264" y="7973568"/>
                <a:ext cx="475488" cy="402336"/>
              </a:xfrm>
              <a:custGeom>
                <a:avLst/>
                <a:gdLst/>
                <a:ahLst/>
                <a:cxnLst/>
                <a:rect l="l" t="t" r="r" b="b"/>
                <a:pathLst>
                  <a:path w="475488" h="402336"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02336"/>
                    </a:lnTo>
                    <a:lnTo>
                      <a:pt x="0" y="402336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CEFFF"/>
                  </a:gs>
                  <a:gs pos="35000">
                    <a:srgbClr val="72C5FF"/>
                  </a:gs>
                  <a:gs pos="100000">
                    <a:srgbClr val="72C5FF"/>
                  </a:gs>
                </a:gsLst>
                <a:lin ang="5400000" scaled="1"/>
                <a:tileRect/>
              </a:gradFill>
              <a:ln w="8636">
                <a:solidFill>
                  <a:srgbClr val="3A8FD5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3" name="Static feature hs | front column 1"/>
              <p:cNvCxnSpPr/>
              <p:nvPr/>
            </p:nvCxnSpPr>
            <p:spPr>
              <a:xfrm>
                <a:off x="7946136" y="7973568"/>
                <a:ext cx="0" cy="40233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04" name="Static feature hs | top column 1"/>
              <p:cNvCxnSpPr/>
              <p:nvPr/>
            </p:nvCxnSpPr>
            <p:spPr>
              <a:xfrm flipV="1">
                <a:off x="7946136" y="7790688"/>
                <a:ext cx="201168" cy="18288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05" name="Static feature hs | front column 2"/>
              <p:cNvCxnSpPr/>
              <p:nvPr/>
            </p:nvCxnSpPr>
            <p:spPr>
              <a:xfrm>
                <a:off x="8065008" y="7973568"/>
                <a:ext cx="0" cy="40233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06" name="Static feature hs | top column 2"/>
              <p:cNvCxnSpPr/>
              <p:nvPr/>
            </p:nvCxnSpPr>
            <p:spPr>
              <a:xfrm flipV="1">
                <a:off x="8065008" y="7790688"/>
                <a:ext cx="201168" cy="18288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07" name="Static feature hs | front column 3"/>
              <p:cNvCxnSpPr/>
              <p:nvPr/>
            </p:nvCxnSpPr>
            <p:spPr>
              <a:xfrm>
                <a:off x="8183880" y="7973568"/>
                <a:ext cx="0" cy="40233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08" name="Static feature hs | top column 3"/>
              <p:cNvCxnSpPr/>
              <p:nvPr/>
            </p:nvCxnSpPr>
            <p:spPr>
              <a:xfrm flipV="1">
                <a:off x="8183880" y="7790688"/>
                <a:ext cx="201168" cy="18288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09" name="Static feature hs | front row 1"/>
              <p:cNvCxnSpPr/>
              <p:nvPr/>
            </p:nvCxnSpPr>
            <p:spPr>
              <a:xfrm>
                <a:off x="7827264" y="8074152"/>
                <a:ext cx="475488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0" name="Static feature hs | side row 1"/>
              <p:cNvCxnSpPr/>
              <p:nvPr/>
            </p:nvCxnSpPr>
            <p:spPr>
              <a:xfrm flipV="1">
                <a:off x="8302752" y="7891272"/>
                <a:ext cx="201168" cy="18288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1" name="Static feature hs | front row 2"/>
              <p:cNvCxnSpPr/>
              <p:nvPr/>
            </p:nvCxnSpPr>
            <p:spPr>
              <a:xfrm>
                <a:off x="7827264" y="8174736"/>
                <a:ext cx="475488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2" name="Static feature hs | side row 2"/>
              <p:cNvCxnSpPr/>
              <p:nvPr/>
            </p:nvCxnSpPr>
            <p:spPr>
              <a:xfrm flipV="1">
                <a:off x="8302752" y="7991856"/>
                <a:ext cx="201168" cy="18288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3" name="Static feature hs | front row 3"/>
              <p:cNvCxnSpPr/>
              <p:nvPr/>
            </p:nvCxnSpPr>
            <p:spPr>
              <a:xfrm>
                <a:off x="7827264" y="8275320"/>
                <a:ext cx="475488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4" name="Static feature hs | side row 3"/>
              <p:cNvCxnSpPr/>
              <p:nvPr/>
            </p:nvCxnSpPr>
            <p:spPr>
              <a:xfrm flipV="1">
                <a:off x="8302752" y="8092440"/>
                <a:ext cx="201168" cy="18288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5" name="Static feature hs | top depth 1"/>
              <p:cNvCxnSpPr/>
              <p:nvPr/>
            </p:nvCxnSpPr>
            <p:spPr>
              <a:xfrm>
                <a:off x="7894320" y="7912608"/>
                <a:ext cx="475488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6" name="Static feature hs | side depth 1"/>
              <p:cNvCxnSpPr/>
              <p:nvPr/>
            </p:nvCxnSpPr>
            <p:spPr>
              <a:xfrm>
                <a:off x="8369808" y="7912608"/>
                <a:ext cx="0" cy="40233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7" name="Static feature hs | top depth 2"/>
              <p:cNvCxnSpPr/>
              <p:nvPr/>
            </p:nvCxnSpPr>
            <p:spPr>
              <a:xfrm>
                <a:off x="7961376" y="7851648"/>
                <a:ext cx="475488" cy="0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  <p:cxnSp>
            <p:nvCxnSpPr>
              <p:cNvPr id="318" name="Static feature hs | side depth 2"/>
              <p:cNvCxnSpPr/>
              <p:nvPr/>
            </p:nvCxnSpPr>
            <p:spPr>
              <a:xfrm>
                <a:off x="8436864" y="7851648"/>
                <a:ext cx="0" cy="402336"/>
              </a:xfrm>
              <a:prstGeom prst="line">
                <a:avLst/>
              </a:prstGeom>
              <a:ln w="6096">
                <a:solidFill>
                  <a:srgbClr val="3A8FD5"/>
                </a:solidFill>
              </a:ln>
              <a:effectLst/>
            </p:spPr>
          </p:cxnSp>
        </p:grpSp>
        <p:cxnSp>
          <p:nvCxnSpPr>
            <p:cNvPr id="813" name="连接符: 肘形 812">
              <a:extLst>
                <a:ext uri="{FF2B5EF4-FFF2-40B4-BE49-F238E27FC236}">
                  <a16:creationId xmlns:a16="http://schemas.microsoft.com/office/drawing/2014/main" id="{A0C1C16E-FFE8-47A0-8EF5-6BABE99A98C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356736" y="5388644"/>
              <a:ext cx="3797974" cy="713838"/>
            </a:xfrm>
            <a:prstGeom prst="bentConnector3">
              <a:avLst>
                <a:gd name="adj1" fmla="val 702"/>
              </a:avLst>
            </a:prstGeom>
            <a:ln w="34925"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Factual feature hF"/>
            <p:cNvGrpSpPr/>
            <p:nvPr/>
          </p:nvGrpSpPr>
          <p:grpSpPr>
            <a:xfrm>
              <a:off x="3360229" y="3401569"/>
              <a:ext cx="886968" cy="658368"/>
              <a:chOff x="2907792" y="3401568"/>
              <a:chExt cx="886968" cy="658368"/>
            </a:xfrm>
          </p:grpSpPr>
          <p:sp>
            <p:nvSpPr>
              <p:cNvPr id="98" name="Factual feature hF | top face"/>
              <p:cNvSpPr/>
              <p:nvPr/>
            </p:nvSpPr>
            <p:spPr>
              <a:xfrm>
                <a:off x="2907792" y="3401568"/>
                <a:ext cx="886968" cy="292608"/>
              </a:xfrm>
              <a:custGeom>
                <a:avLst/>
                <a:gdLst/>
                <a:ahLst/>
                <a:cxnLst/>
                <a:rect l="l" t="t" r="r" b="b"/>
                <a:pathLst>
                  <a:path w="886968" h="292608">
                    <a:moveTo>
                      <a:pt x="0" y="292608"/>
                    </a:moveTo>
                    <a:lnTo>
                      <a:pt x="274320" y="0"/>
                    </a:lnTo>
                    <a:lnTo>
                      <a:pt x="886968" y="0"/>
                    </a:lnTo>
                    <a:lnTo>
                      <a:pt x="612648" y="29260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Factual feature hF | side face"/>
              <p:cNvSpPr/>
              <p:nvPr/>
            </p:nvSpPr>
            <p:spPr>
              <a:xfrm>
                <a:off x="3520440" y="3401568"/>
                <a:ext cx="274320" cy="658368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658368">
                    <a:moveTo>
                      <a:pt x="0" y="292608"/>
                    </a:moveTo>
                    <a:lnTo>
                      <a:pt x="274320" y="0"/>
                    </a:lnTo>
                    <a:lnTo>
                      <a:pt x="274320" y="365760"/>
                    </a:lnTo>
                    <a:lnTo>
                      <a:pt x="0" y="65836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5C6D9"/>
                  </a:gs>
                  <a:gs pos="100000">
                    <a:srgbClr val="0086A8"/>
                  </a:gs>
                </a:gsLst>
                <a:lin ang="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0" name="Factual feature hF | front face"/>
              <p:cNvSpPr/>
              <p:nvPr/>
            </p:nvSpPr>
            <p:spPr>
              <a:xfrm>
                <a:off x="2907792" y="3694176"/>
                <a:ext cx="612648" cy="365760"/>
              </a:xfrm>
              <a:custGeom>
                <a:avLst/>
                <a:gdLst/>
                <a:ahLst/>
                <a:cxnLst/>
                <a:rect l="l" t="t" r="r" b="b"/>
                <a:pathLst>
                  <a:path w="612648" h="365760">
                    <a:moveTo>
                      <a:pt x="0" y="0"/>
                    </a:moveTo>
                    <a:lnTo>
                      <a:pt x="612648" y="0"/>
                    </a:lnTo>
                    <a:lnTo>
                      <a:pt x="612648" y="365760"/>
                    </a:lnTo>
                    <a:lnTo>
                      <a:pt x="0" y="36576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5F9FC"/>
                  </a:gs>
                  <a:gs pos="35000">
                    <a:srgbClr val="35C6D9"/>
                  </a:gs>
                  <a:gs pos="100000">
                    <a:srgbClr val="35C6D9"/>
                  </a:gs>
                </a:gsLst>
                <a:lin ang="5400000" scaled="1"/>
                <a:tileRect/>
              </a:gradFill>
              <a:ln w="8636">
                <a:solidFill>
                  <a:srgbClr val="1894AD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1" name="Factual feature hF | front column 1"/>
              <p:cNvCxnSpPr/>
              <p:nvPr/>
            </p:nvCxnSpPr>
            <p:spPr>
              <a:xfrm>
                <a:off x="3009900" y="3694176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2" name="Factual feature hF | top column 1"/>
              <p:cNvCxnSpPr/>
              <p:nvPr/>
            </p:nvCxnSpPr>
            <p:spPr>
              <a:xfrm flipV="1">
                <a:off x="3009900" y="340156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3" name="Factual feature hF | front column 2"/>
              <p:cNvCxnSpPr/>
              <p:nvPr/>
            </p:nvCxnSpPr>
            <p:spPr>
              <a:xfrm>
                <a:off x="3112008" y="3694176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4" name="Factual feature hF | top column 2"/>
              <p:cNvCxnSpPr/>
              <p:nvPr/>
            </p:nvCxnSpPr>
            <p:spPr>
              <a:xfrm flipV="1">
                <a:off x="3112008" y="340156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5" name="Factual feature hF | front column 3"/>
              <p:cNvCxnSpPr/>
              <p:nvPr/>
            </p:nvCxnSpPr>
            <p:spPr>
              <a:xfrm>
                <a:off x="3214116" y="3694176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6" name="Factual feature hF | top column 3"/>
              <p:cNvCxnSpPr/>
              <p:nvPr/>
            </p:nvCxnSpPr>
            <p:spPr>
              <a:xfrm flipV="1">
                <a:off x="3214116" y="340156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7" name="Factual feature hF | front column 4"/>
              <p:cNvCxnSpPr/>
              <p:nvPr/>
            </p:nvCxnSpPr>
            <p:spPr>
              <a:xfrm>
                <a:off x="3316224" y="3694176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8" name="Factual feature hF | top column 4"/>
              <p:cNvCxnSpPr/>
              <p:nvPr/>
            </p:nvCxnSpPr>
            <p:spPr>
              <a:xfrm flipV="1">
                <a:off x="3316224" y="340156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09" name="Factual feature hF | front column 5"/>
              <p:cNvCxnSpPr/>
              <p:nvPr/>
            </p:nvCxnSpPr>
            <p:spPr>
              <a:xfrm>
                <a:off x="3418332" y="3694176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0" name="Factual feature hF | top column 5"/>
              <p:cNvCxnSpPr/>
              <p:nvPr/>
            </p:nvCxnSpPr>
            <p:spPr>
              <a:xfrm flipV="1">
                <a:off x="3418332" y="340156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1" name="Factual feature hF | front row 1"/>
              <p:cNvCxnSpPr/>
              <p:nvPr/>
            </p:nvCxnSpPr>
            <p:spPr>
              <a:xfrm>
                <a:off x="2907792" y="3816096"/>
                <a:ext cx="61264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2" name="Factual feature hF | side row 1"/>
              <p:cNvCxnSpPr/>
              <p:nvPr/>
            </p:nvCxnSpPr>
            <p:spPr>
              <a:xfrm flipV="1">
                <a:off x="3520440" y="352348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3" name="Factual feature hF | front row 2"/>
              <p:cNvCxnSpPr/>
              <p:nvPr/>
            </p:nvCxnSpPr>
            <p:spPr>
              <a:xfrm>
                <a:off x="2907792" y="3938016"/>
                <a:ext cx="61264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4" name="Factual feature hF | side row 2"/>
              <p:cNvCxnSpPr/>
              <p:nvPr/>
            </p:nvCxnSpPr>
            <p:spPr>
              <a:xfrm flipV="1">
                <a:off x="3520440" y="3645408"/>
                <a:ext cx="274320" cy="292608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5" name="Factual feature hF | top depth 1"/>
              <p:cNvCxnSpPr/>
              <p:nvPr/>
            </p:nvCxnSpPr>
            <p:spPr>
              <a:xfrm>
                <a:off x="2962656" y="3635654"/>
                <a:ext cx="61264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6" name="Factual feature hF | side depth 1"/>
              <p:cNvCxnSpPr/>
              <p:nvPr/>
            </p:nvCxnSpPr>
            <p:spPr>
              <a:xfrm>
                <a:off x="3575304" y="3635654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7" name="Factual feature hF | top depth 2"/>
              <p:cNvCxnSpPr/>
              <p:nvPr/>
            </p:nvCxnSpPr>
            <p:spPr>
              <a:xfrm>
                <a:off x="3017520" y="3577133"/>
                <a:ext cx="61264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8" name="Factual feature hF | side depth 2"/>
              <p:cNvCxnSpPr/>
              <p:nvPr/>
            </p:nvCxnSpPr>
            <p:spPr>
              <a:xfrm>
                <a:off x="3630168" y="3577133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19" name="Factual feature hF | top depth 3"/>
              <p:cNvCxnSpPr/>
              <p:nvPr/>
            </p:nvCxnSpPr>
            <p:spPr>
              <a:xfrm>
                <a:off x="3072384" y="3518611"/>
                <a:ext cx="61264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20" name="Factual feature hF | side depth 3"/>
              <p:cNvCxnSpPr/>
              <p:nvPr/>
            </p:nvCxnSpPr>
            <p:spPr>
              <a:xfrm>
                <a:off x="3685032" y="3518611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21" name="Factual feature hF | top depth 4"/>
              <p:cNvCxnSpPr/>
              <p:nvPr/>
            </p:nvCxnSpPr>
            <p:spPr>
              <a:xfrm>
                <a:off x="3127248" y="3460090"/>
                <a:ext cx="612648" cy="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  <p:cxnSp>
            <p:nvCxnSpPr>
              <p:cNvPr id="122" name="Factual feature hF | side depth 4"/>
              <p:cNvCxnSpPr/>
              <p:nvPr/>
            </p:nvCxnSpPr>
            <p:spPr>
              <a:xfrm>
                <a:off x="3739896" y="3460090"/>
                <a:ext cx="0" cy="365760"/>
              </a:xfrm>
              <a:prstGeom prst="line">
                <a:avLst/>
              </a:prstGeom>
              <a:ln w="6096">
                <a:solidFill>
                  <a:srgbClr val="1894AD"/>
                </a:solidFill>
              </a:ln>
              <a:effectLst/>
            </p:spPr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3" name="Factual feature label"/>
                <p:cNvSpPr txBox="1"/>
                <p:nvPr/>
              </p:nvSpPr>
              <p:spPr>
                <a:xfrm>
                  <a:off x="4063826" y="3255450"/>
                  <a:ext cx="428001" cy="411203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736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zh-CN" altLang="en-US" sz="2736" b="1" i="1" baseline="33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oMath>
                    </m:oMathPara>
                  </a14:m>
                  <a:endParaRPr lang="zh-CN" altLang="en-US" sz="2736" b="1" i="1" baseline="33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53" name="Factual feature label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3826" y="3255450"/>
                  <a:ext cx="428001" cy="41120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154</Words>
  <Application>Microsoft Office PowerPoint</Application>
  <PresentationFormat>自定义</PresentationFormat>
  <Paragraphs>41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Cambria Math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Factual–counterfactual temporal intention recognition network</dc:title>
  <dc:subject>Native editable reconstruction of the approved single-column network figure</dc:subject>
  <dc:creator>Research figure candidate</dc:creator>
  <cp:keywords/>
  <dc:description>generated using python-pptx</dc:description>
  <cp:lastModifiedBy>W.F.Laplace</cp:lastModifiedBy>
  <cp:revision>19</cp:revision>
  <dcterms:created xsi:type="dcterms:W3CDTF">2013-01-27T09:14:16Z</dcterms:created>
  <dcterms:modified xsi:type="dcterms:W3CDTF">2026-09-08T15:51:55Z</dcterms:modified>
  <cp:category/>
</cp:coreProperties>
</file>