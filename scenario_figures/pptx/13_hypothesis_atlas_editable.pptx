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044613" cy="93630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2467"/>
    <a:srgbClr val="58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397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671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Local editable reconstruction of 13_hypothesis_atlas.png. All words, trajectories, arrows, event ticks, region markers, dwell bracket, Earth-dome outlines, legend lines and the eight-panel grid are native PowerPoint objects. Only flat spacecraft icons and Earth textures are raster assets. Conceptual evidence patterns are supported interpretations, not intention ground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D53051AE-EBF3-4E4D-9AF7-3C9949C09BE5}"/>
              </a:ext>
            </a:extLst>
          </p:cNvPr>
          <p:cNvGrpSpPr/>
          <p:nvPr/>
        </p:nvGrpSpPr>
        <p:grpSpPr>
          <a:xfrm>
            <a:off x="0" y="461350"/>
            <a:ext cx="13917168" cy="8147304"/>
            <a:chOff x="64008" y="461350"/>
            <a:chExt cx="13917168" cy="8147304"/>
          </a:xfrm>
        </p:grpSpPr>
        <p:sp>
          <p:nvSpPr>
            <p:cNvPr id="126" name="等腰三角形 125">
              <a:extLst>
                <a:ext uri="{FF2B5EF4-FFF2-40B4-BE49-F238E27FC236}">
                  <a16:creationId xmlns:a16="http://schemas.microsoft.com/office/drawing/2014/main" id="{EF44FAE9-7200-4BB2-B3ED-61580A68CD3C}"/>
                </a:ext>
              </a:extLst>
            </p:cNvPr>
            <p:cNvSpPr/>
            <p:nvPr/>
          </p:nvSpPr>
          <p:spPr>
            <a:xfrm rot="991284">
              <a:off x="12715576" y="6190761"/>
              <a:ext cx="556057" cy="732774"/>
            </a:xfrm>
            <a:prstGeom prst="triangle">
              <a:avLst>
                <a:gd name="adj" fmla="val 51300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等腰三角形 124">
              <a:extLst>
                <a:ext uri="{FF2B5EF4-FFF2-40B4-BE49-F238E27FC236}">
                  <a16:creationId xmlns:a16="http://schemas.microsoft.com/office/drawing/2014/main" id="{0113EEBE-1294-47C6-8EBA-4CB3EF483406}"/>
                </a:ext>
              </a:extLst>
            </p:cNvPr>
            <p:cNvSpPr/>
            <p:nvPr/>
          </p:nvSpPr>
          <p:spPr>
            <a:xfrm rot="20010990">
              <a:off x="11021108" y="6341534"/>
              <a:ext cx="556057" cy="753467"/>
            </a:xfrm>
            <a:prstGeom prst="triangle">
              <a:avLst>
                <a:gd name="adj" fmla="val 47281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等腰三角形 113">
              <a:extLst>
                <a:ext uri="{FF2B5EF4-FFF2-40B4-BE49-F238E27FC236}">
                  <a16:creationId xmlns:a16="http://schemas.microsoft.com/office/drawing/2014/main" id="{2EA6D031-1912-414F-B915-3AB277699DE8}"/>
                </a:ext>
              </a:extLst>
            </p:cNvPr>
            <p:cNvSpPr/>
            <p:nvPr/>
          </p:nvSpPr>
          <p:spPr>
            <a:xfrm rot="21079995">
              <a:off x="8247749" y="6235281"/>
              <a:ext cx="556057" cy="753467"/>
            </a:xfrm>
            <a:prstGeom prst="triangle">
              <a:avLst>
                <a:gd name="adj" fmla="val 47281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FF49B481-E3C6-4F75-B60A-5F80627093B6}"/>
                </a:ext>
              </a:extLst>
            </p:cNvPr>
            <p:cNvSpPr/>
            <p:nvPr/>
          </p:nvSpPr>
          <p:spPr>
            <a:xfrm>
              <a:off x="484632" y="6121400"/>
              <a:ext cx="2294038" cy="1331874"/>
            </a:xfrm>
            <a:prstGeom prst="ellipse">
              <a:avLst/>
            </a:prstGeom>
            <a:noFill/>
            <a:ln w="12700">
              <a:solidFill>
                <a:srgbClr val="162467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BAB8B31C-F16F-4A4D-A738-9C4B92874A2A}"/>
                </a:ext>
              </a:extLst>
            </p:cNvPr>
            <p:cNvSpPr/>
            <p:nvPr/>
          </p:nvSpPr>
          <p:spPr>
            <a:xfrm>
              <a:off x="484632" y="6119966"/>
              <a:ext cx="2260856" cy="1331874"/>
            </a:xfrm>
            <a:prstGeom prst="ellipse">
              <a:avLst/>
            </a:prstGeom>
            <a:noFill/>
            <a:ln w="12700">
              <a:solidFill>
                <a:srgbClr val="58585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" name="C0 Earth globe" descr="earth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51720" y="2390734"/>
              <a:ext cx="630614" cy="640080"/>
            </a:xfrm>
            <a:prstGeom prst="rect">
              <a:avLst/>
            </a:prstGeom>
          </p:spPr>
        </p:pic>
        <p:pic>
          <p:nvPicPr>
            <p:cNvPr id="3" name="C1 Earth globe" descr="earth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4307052" y="2381590"/>
              <a:ext cx="639623" cy="649224"/>
            </a:xfrm>
            <a:prstGeom prst="rect">
              <a:avLst/>
            </a:prstGeom>
          </p:spPr>
        </p:pic>
        <p:pic>
          <p:nvPicPr>
            <p:cNvPr id="4" name="C2 Earth globe" descr="earth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7772695" y="2381590"/>
              <a:ext cx="648632" cy="658368"/>
            </a:xfrm>
            <a:prstGeom prst="rect">
              <a:avLst/>
            </a:prstGeom>
          </p:spPr>
        </p:pic>
        <p:pic>
          <p:nvPicPr>
            <p:cNvPr id="5" name="C3 Earth globe" descr="earth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539888" y="2390734"/>
              <a:ext cx="630614" cy="640080"/>
            </a:xfrm>
            <a:prstGeom prst="rect">
              <a:avLst/>
            </a:prstGeom>
          </p:spPr>
        </p:pic>
        <p:pic>
          <p:nvPicPr>
            <p:cNvPr id="6" name="C4 Earth globe" descr="earth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310984" y="6430578"/>
              <a:ext cx="658368" cy="668249"/>
            </a:xfrm>
            <a:prstGeom prst="rect">
              <a:avLst/>
            </a:prstGeom>
            <a:effectLst/>
          </p:spPr>
        </p:pic>
        <p:pic>
          <p:nvPicPr>
            <p:cNvPr id="7" name="C5 Earth globe" descr="earth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4800600" y="7024499"/>
              <a:ext cx="594360" cy="603280"/>
            </a:xfrm>
            <a:prstGeom prst="rect">
              <a:avLst/>
            </a:prstGeom>
          </p:spPr>
        </p:pic>
        <p:pic>
          <p:nvPicPr>
            <p:cNvPr id="8" name="C6 Earth dome texture" descr="earth_dome_c6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7653527" y="6905923"/>
              <a:ext cx="2075688" cy="506813"/>
            </a:xfrm>
            <a:prstGeom prst="rect">
              <a:avLst/>
            </a:prstGeom>
          </p:spPr>
        </p:pic>
        <p:pic>
          <p:nvPicPr>
            <p:cNvPr id="9" name="C7 Earth dome texture" descr="earth_dome_c7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10908792" y="6606712"/>
              <a:ext cx="2688336" cy="730331"/>
            </a:xfrm>
            <a:prstGeom prst="rect">
              <a:avLst/>
            </a:prstGeom>
          </p:spPr>
        </p:pic>
        <p:sp>
          <p:nvSpPr>
            <p:cNvPr id="10" name="C0 actor trajectory"/>
            <p:cNvSpPr/>
            <p:nvPr/>
          </p:nvSpPr>
          <p:spPr>
            <a:xfrm>
              <a:off x="749808" y="1403182"/>
              <a:ext cx="1938528" cy="886968"/>
            </a:xfrm>
            <a:custGeom>
              <a:avLst/>
              <a:gdLst/>
              <a:ahLst/>
              <a:cxnLst/>
              <a:rect l="0" t="0" r="w" b="h"/>
              <a:pathLst>
                <a:path w="212000" h="97000" fill="none" extrusionOk="0">
                  <a:moveTo>
                    <a:pt x="0" y="0"/>
                  </a:moveTo>
                  <a:cubicBezTo>
                    <a:pt x="12333" y="2333"/>
                    <a:pt x="50667" y="6000"/>
                    <a:pt x="74000" y="14000"/>
                  </a:cubicBezTo>
                  <a:cubicBezTo>
                    <a:pt x="97333" y="22000"/>
                    <a:pt x="117000" y="34167"/>
                    <a:pt x="140000" y="48000"/>
                  </a:cubicBezTo>
                  <a:cubicBezTo>
                    <a:pt x="163000" y="61833"/>
                    <a:pt x="200000" y="88833"/>
                    <a:pt x="212000" y="97000"/>
                  </a:cubicBezTo>
                </a:path>
              </a:pathLst>
            </a:custGeom>
            <a:noFill/>
            <a:ln w="20320">
              <a:solidFill>
                <a:srgbClr val="06155D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C0 counterpart trajectory"/>
            <p:cNvSpPr/>
            <p:nvPr/>
          </p:nvSpPr>
          <p:spPr>
            <a:xfrm>
              <a:off x="539496" y="3158830"/>
              <a:ext cx="2148840" cy="777240"/>
            </a:xfrm>
            <a:custGeom>
              <a:avLst/>
              <a:gdLst/>
              <a:ahLst/>
              <a:cxnLst/>
              <a:rect l="0" t="0" r="w" b="h"/>
              <a:pathLst>
                <a:path w="235000" h="85000" fill="none" extrusionOk="0">
                  <a:moveTo>
                    <a:pt x="0" y="85000"/>
                  </a:moveTo>
                  <a:cubicBezTo>
                    <a:pt x="13000" y="81833"/>
                    <a:pt x="51333" y="74500"/>
                    <a:pt x="78000" y="66000"/>
                  </a:cubicBezTo>
                  <a:cubicBezTo>
                    <a:pt x="104667" y="57500"/>
                    <a:pt x="133833" y="45000"/>
                    <a:pt x="160000" y="34000"/>
                  </a:cubicBezTo>
                  <a:cubicBezTo>
                    <a:pt x="186167" y="23000"/>
                    <a:pt x="222500" y="5667"/>
                    <a:pt x="235000" y="0"/>
                  </a:cubicBezTo>
                </a:path>
              </a:pathLst>
            </a:custGeom>
            <a:noFill/>
            <a:ln w="20320">
              <a:solidFill>
                <a:srgbClr val="585858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C1 counterpart trajectory"/>
            <p:cNvSpPr/>
            <p:nvPr/>
          </p:nvSpPr>
          <p:spPr>
            <a:xfrm>
              <a:off x="4230623" y="1969196"/>
              <a:ext cx="1959866" cy="2020165"/>
            </a:xfrm>
            <a:custGeom>
              <a:avLst/>
              <a:gdLst>
                <a:gd name="connsiteX0" fmla="*/ 0 w 219590"/>
                <a:gd name="connsiteY0" fmla="*/ 108828 h 108828"/>
                <a:gd name="connsiteX1" fmla="*/ 78000 w 219590"/>
                <a:gd name="connsiteY1" fmla="*/ 90828 h 108828"/>
                <a:gd name="connsiteX2" fmla="*/ 164000 w 219590"/>
                <a:gd name="connsiteY2" fmla="*/ 58828 h 108828"/>
                <a:gd name="connsiteX3" fmla="*/ 219590 w 219590"/>
                <a:gd name="connsiteY3" fmla="*/ 0 h 108828"/>
                <a:gd name="connsiteX0" fmla="*/ 0 w 219590"/>
                <a:gd name="connsiteY0" fmla="*/ 108828 h 108828"/>
                <a:gd name="connsiteX1" fmla="*/ 78000 w 219590"/>
                <a:gd name="connsiteY1" fmla="*/ 90828 h 108828"/>
                <a:gd name="connsiteX2" fmla="*/ 163358 w 219590"/>
                <a:gd name="connsiteY2" fmla="*/ 55744 h 108828"/>
                <a:gd name="connsiteX3" fmla="*/ 219590 w 219590"/>
                <a:gd name="connsiteY3" fmla="*/ 0 h 108828"/>
                <a:gd name="connsiteX0" fmla="*/ 0 w 206106"/>
                <a:gd name="connsiteY0" fmla="*/ 120007 h 120007"/>
                <a:gd name="connsiteX1" fmla="*/ 78000 w 206106"/>
                <a:gd name="connsiteY1" fmla="*/ 102007 h 120007"/>
                <a:gd name="connsiteX2" fmla="*/ 163358 w 206106"/>
                <a:gd name="connsiteY2" fmla="*/ 66923 h 120007"/>
                <a:gd name="connsiteX3" fmla="*/ 206106 w 206106"/>
                <a:gd name="connsiteY3" fmla="*/ 0 h 120007"/>
                <a:gd name="connsiteX0" fmla="*/ 0 w 206106"/>
                <a:gd name="connsiteY0" fmla="*/ 120007 h 120007"/>
                <a:gd name="connsiteX1" fmla="*/ 78000 w 206106"/>
                <a:gd name="connsiteY1" fmla="*/ 102007 h 120007"/>
                <a:gd name="connsiteX2" fmla="*/ 163358 w 206106"/>
                <a:gd name="connsiteY2" fmla="*/ 66923 h 120007"/>
                <a:gd name="connsiteX3" fmla="*/ 206106 w 206106"/>
                <a:gd name="connsiteY3" fmla="*/ 0 h 120007"/>
                <a:gd name="connsiteX0" fmla="*/ 0 w 190054"/>
                <a:gd name="connsiteY0" fmla="*/ 126946 h 126946"/>
                <a:gd name="connsiteX1" fmla="*/ 78000 w 190054"/>
                <a:gd name="connsiteY1" fmla="*/ 108946 h 126946"/>
                <a:gd name="connsiteX2" fmla="*/ 163358 w 190054"/>
                <a:gd name="connsiteY2" fmla="*/ 73862 h 126946"/>
                <a:gd name="connsiteX3" fmla="*/ 190054 w 190054"/>
                <a:gd name="connsiteY3" fmla="*/ 0 h 126946"/>
                <a:gd name="connsiteX0" fmla="*/ 0 w 190470"/>
                <a:gd name="connsiteY0" fmla="*/ 126946 h 126946"/>
                <a:gd name="connsiteX1" fmla="*/ 78000 w 190470"/>
                <a:gd name="connsiteY1" fmla="*/ 108946 h 126946"/>
                <a:gd name="connsiteX2" fmla="*/ 163358 w 190470"/>
                <a:gd name="connsiteY2" fmla="*/ 73862 h 126946"/>
                <a:gd name="connsiteX3" fmla="*/ 190054 w 190470"/>
                <a:gd name="connsiteY3" fmla="*/ 0 h 126946"/>
                <a:gd name="connsiteX0" fmla="*/ 0 w 190692"/>
                <a:gd name="connsiteY0" fmla="*/ 126946 h 126946"/>
                <a:gd name="connsiteX1" fmla="*/ 78000 w 190692"/>
                <a:gd name="connsiteY1" fmla="*/ 108946 h 126946"/>
                <a:gd name="connsiteX2" fmla="*/ 165926 w 190692"/>
                <a:gd name="connsiteY2" fmla="*/ 74248 h 126946"/>
                <a:gd name="connsiteX3" fmla="*/ 190054 w 190692"/>
                <a:gd name="connsiteY3" fmla="*/ 0 h 126946"/>
                <a:gd name="connsiteX0" fmla="*/ 0 w 190692"/>
                <a:gd name="connsiteY0" fmla="*/ 126946 h 126946"/>
                <a:gd name="connsiteX1" fmla="*/ 83137 w 190692"/>
                <a:gd name="connsiteY1" fmla="*/ 112415 h 126946"/>
                <a:gd name="connsiteX2" fmla="*/ 165926 w 190692"/>
                <a:gd name="connsiteY2" fmla="*/ 74248 h 126946"/>
                <a:gd name="connsiteX3" fmla="*/ 190054 w 190692"/>
                <a:gd name="connsiteY3" fmla="*/ 0 h 126946"/>
                <a:gd name="connsiteX0" fmla="*/ 0 w 191976"/>
                <a:gd name="connsiteY0" fmla="*/ 128873 h 128873"/>
                <a:gd name="connsiteX1" fmla="*/ 84421 w 191976"/>
                <a:gd name="connsiteY1" fmla="*/ 112415 h 128873"/>
                <a:gd name="connsiteX2" fmla="*/ 167210 w 191976"/>
                <a:gd name="connsiteY2" fmla="*/ 74248 h 128873"/>
                <a:gd name="connsiteX3" fmla="*/ 191338 w 191976"/>
                <a:gd name="connsiteY3" fmla="*/ 0 h 128873"/>
                <a:gd name="connsiteX0" fmla="*/ 0 w 191849"/>
                <a:gd name="connsiteY0" fmla="*/ 128873 h 128873"/>
                <a:gd name="connsiteX1" fmla="*/ 84421 w 191849"/>
                <a:gd name="connsiteY1" fmla="*/ 112415 h 128873"/>
                <a:gd name="connsiteX2" fmla="*/ 165926 w 191849"/>
                <a:gd name="connsiteY2" fmla="*/ 73477 h 128873"/>
                <a:gd name="connsiteX3" fmla="*/ 191338 w 191849"/>
                <a:gd name="connsiteY3" fmla="*/ 0 h 128873"/>
                <a:gd name="connsiteX0" fmla="*/ 0 w 191492"/>
                <a:gd name="connsiteY0" fmla="*/ 128873 h 128873"/>
                <a:gd name="connsiteX1" fmla="*/ 84421 w 191492"/>
                <a:gd name="connsiteY1" fmla="*/ 112415 h 128873"/>
                <a:gd name="connsiteX2" fmla="*/ 165926 w 191492"/>
                <a:gd name="connsiteY2" fmla="*/ 73477 h 128873"/>
                <a:gd name="connsiteX3" fmla="*/ 191338 w 191492"/>
                <a:gd name="connsiteY3" fmla="*/ 0 h 128873"/>
                <a:gd name="connsiteX0" fmla="*/ 0 w 191492"/>
                <a:gd name="connsiteY0" fmla="*/ 128873 h 128873"/>
                <a:gd name="connsiteX1" fmla="*/ 84421 w 191492"/>
                <a:gd name="connsiteY1" fmla="*/ 112415 h 128873"/>
                <a:gd name="connsiteX2" fmla="*/ 165926 w 191492"/>
                <a:gd name="connsiteY2" fmla="*/ 73477 h 128873"/>
                <a:gd name="connsiteX3" fmla="*/ 191338 w 191492"/>
                <a:gd name="connsiteY3" fmla="*/ 0 h 12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1492" h="128873" fill="none" extrusionOk="0">
                  <a:moveTo>
                    <a:pt x="0" y="128873"/>
                  </a:moveTo>
                  <a:cubicBezTo>
                    <a:pt x="13000" y="125873"/>
                    <a:pt x="56767" y="121648"/>
                    <a:pt x="84421" y="112415"/>
                  </a:cubicBezTo>
                  <a:cubicBezTo>
                    <a:pt x="112075" y="103182"/>
                    <a:pt x="150032" y="89321"/>
                    <a:pt x="165926" y="73477"/>
                  </a:cubicBezTo>
                  <a:cubicBezTo>
                    <a:pt x="181178" y="57633"/>
                    <a:pt x="192989" y="8584"/>
                    <a:pt x="191338" y="0"/>
                  </a:cubicBezTo>
                </a:path>
              </a:pathLst>
            </a:custGeom>
            <a:noFill/>
            <a:ln w="20320">
              <a:solidFill>
                <a:srgbClr val="585858"/>
              </a:solidFill>
              <a:headEnd type="arrow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C1 factual natural-pass trajectory"/>
            <p:cNvSpPr/>
            <p:nvPr/>
          </p:nvSpPr>
          <p:spPr>
            <a:xfrm>
              <a:off x="3931919" y="1412326"/>
              <a:ext cx="1584684" cy="2404872"/>
            </a:xfrm>
            <a:custGeom>
              <a:avLst/>
              <a:gdLst>
                <a:gd name="connsiteX0" fmla="*/ 0 w 225657"/>
                <a:gd name="connsiteY0" fmla="*/ 0 h 274000"/>
                <a:gd name="connsiteX1" fmla="*/ 75000 w 225657"/>
                <a:gd name="connsiteY1" fmla="*/ 23000 h 274000"/>
                <a:gd name="connsiteX2" fmla="*/ 149000 w 225657"/>
                <a:gd name="connsiteY2" fmla="*/ 65000 h 274000"/>
                <a:gd name="connsiteX3" fmla="*/ 203000 w 225657"/>
                <a:gd name="connsiteY3" fmla="*/ 96667 h 274000"/>
                <a:gd name="connsiteX4" fmla="*/ 225000 w 225657"/>
                <a:gd name="connsiteY4" fmla="*/ 166000 h 274000"/>
                <a:gd name="connsiteX5" fmla="*/ 214000 w 225657"/>
                <a:gd name="connsiteY5" fmla="*/ 203000 h 274000"/>
                <a:gd name="connsiteX6" fmla="*/ 157000 w 225657"/>
                <a:gd name="connsiteY6" fmla="*/ 236000 h 274000"/>
                <a:gd name="connsiteX7" fmla="*/ 94000 w 225657"/>
                <a:gd name="connsiteY7" fmla="*/ 258000 h 274000"/>
                <a:gd name="connsiteX8" fmla="*/ 34000 w 225657"/>
                <a:gd name="connsiteY8" fmla="*/ 274000 h 274000"/>
                <a:gd name="connsiteX0" fmla="*/ 0 w 225657"/>
                <a:gd name="connsiteY0" fmla="*/ 0 h 274000"/>
                <a:gd name="connsiteX1" fmla="*/ 75000 w 225657"/>
                <a:gd name="connsiteY1" fmla="*/ 23000 h 274000"/>
                <a:gd name="connsiteX2" fmla="*/ 150677 w 225657"/>
                <a:gd name="connsiteY2" fmla="*/ 45667 h 274000"/>
                <a:gd name="connsiteX3" fmla="*/ 203000 w 225657"/>
                <a:gd name="connsiteY3" fmla="*/ 96667 h 274000"/>
                <a:gd name="connsiteX4" fmla="*/ 225000 w 225657"/>
                <a:gd name="connsiteY4" fmla="*/ 166000 h 274000"/>
                <a:gd name="connsiteX5" fmla="*/ 214000 w 225657"/>
                <a:gd name="connsiteY5" fmla="*/ 203000 h 274000"/>
                <a:gd name="connsiteX6" fmla="*/ 157000 w 225657"/>
                <a:gd name="connsiteY6" fmla="*/ 236000 h 274000"/>
                <a:gd name="connsiteX7" fmla="*/ 94000 w 225657"/>
                <a:gd name="connsiteY7" fmla="*/ 258000 h 274000"/>
                <a:gd name="connsiteX8" fmla="*/ 34000 w 225657"/>
                <a:gd name="connsiteY8" fmla="*/ 274000 h 274000"/>
                <a:gd name="connsiteX0" fmla="*/ 0 w 225657"/>
                <a:gd name="connsiteY0" fmla="*/ 0 h 274000"/>
                <a:gd name="connsiteX1" fmla="*/ 83387 w 225657"/>
                <a:gd name="connsiteY1" fmla="*/ 17000 h 274000"/>
                <a:gd name="connsiteX2" fmla="*/ 150677 w 225657"/>
                <a:gd name="connsiteY2" fmla="*/ 45667 h 274000"/>
                <a:gd name="connsiteX3" fmla="*/ 203000 w 225657"/>
                <a:gd name="connsiteY3" fmla="*/ 96667 h 274000"/>
                <a:gd name="connsiteX4" fmla="*/ 225000 w 225657"/>
                <a:gd name="connsiteY4" fmla="*/ 166000 h 274000"/>
                <a:gd name="connsiteX5" fmla="*/ 214000 w 225657"/>
                <a:gd name="connsiteY5" fmla="*/ 203000 h 274000"/>
                <a:gd name="connsiteX6" fmla="*/ 157000 w 225657"/>
                <a:gd name="connsiteY6" fmla="*/ 236000 h 274000"/>
                <a:gd name="connsiteX7" fmla="*/ 94000 w 225657"/>
                <a:gd name="connsiteY7" fmla="*/ 258000 h 274000"/>
                <a:gd name="connsiteX8" fmla="*/ 34000 w 225657"/>
                <a:gd name="connsiteY8" fmla="*/ 274000 h 274000"/>
                <a:gd name="connsiteX0" fmla="*/ 0 w 223527"/>
                <a:gd name="connsiteY0" fmla="*/ 0 h 274000"/>
                <a:gd name="connsiteX1" fmla="*/ 83387 w 223527"/>
                <a:gd name="connsiteY1" fmla="*/ 17000 h 274000"/>
                <a:gd name="connsiteX2" fmla="*/ 150677 w 223527"/>
                <a:gd name="connsiteY2" fmla="*/ 45667 h 274000"/>
                <a:gd name="connsiteX3" fmla="*/ 203000 w 223527"/>
                <a:gd name="connsiteY3" fmla="*/ 96667 h 274000"/>
                <a:gd name="connsiteX4" fmla="*/ 222484 w 223527"/>
                <a:gd name="connsiteY4" fmla="*/ 150000 h 274000"/>
                <a:gd name="connsiteX5" fmla="*/ 214000 w 223527"/>
                <a:gd name="connsiteY5" fmla="*/ 203000 h 274000"/>
                <a:gd name="connsiteX6" fmla="*/ 157000 w 223527"/>
                <a:gd name="connsiteY6" fmla="*/ 236000 h 274000"/>
                <a:gd name="connsiteX7" fmla="*/ 94000 w 223527"/>
                <a:gd name="connsiteY7" fmla="*/ 258000 h 274000"/>
                <a:gd name="connsiteX8" fmla="*/ 34000 w 223527"/>
                <a:gd name="connsiteY8" fmla="*/ 274000 h 274000"/>
                <a:gd name="connsiteX0" fmla="*/ 0 w 226761"/>
                <a:gd name="connsiteY0" fmla="*/ 0 h 274000"/>
                <a:gd name="connsiteX1" fmla="*/ 83387 w 226761"/>
                <a:gd name="connsiteY1" fmla="*/ 17000 h 274000"/>
                <a:gd name="connsiteX2" fmla="*/ 150677 w 226761"/>
                <a:gd name="connsiteY2" fmla="*/ 45667 h 274000"/>
                <a:gd name="connsiteX3" fmla="*/ 220613 w 226761"/>
                <a:gd name="connsiteY3" fmla="*/ 75334 h 274000"/>
                <a:gd name="connsiteX4" fmla="*/ 222484 w 226761"/>
                <a:gd name="connsiteY4" fmla="*/ 150000 h 274000"/>
                <a:gd name="connsiteX5" fmla="*/ 214000 w 226761"/>
                <a:gd name="connsiteY5" fmla="*/ 203000 h 274000"/>
                <a:gd name="connsiteX6" fmla="*/ 157000 w 226761"/>
                <a:gd name="connsiteY6" fmla="*/ 236000 h 274000"/>
                <a:gd name="connsiteX7" fmla="*/ 94000 w 226761"/>
                <a:gd name="connsiteY7" fmla="*/ 258000 h 274000"/>
                <a:gd name="connsiteX8" fmla="*/ 34000 w 226761"/>
                <a:gd name="connsiteY8" fmla="*/ 274000 h 274000"/>
                <a:gd name="connsiteX0" fmla="*/ 0 w 226579"/>
                <a:gd name="connsiteY0" fmla="*/ 0 h 274000"/>
                <a:gd name="connsiteX1" fmla="*/ 83387 w 226579"/>
                <a:gd name="connsiteY1" fmla="*/ 17000 h 274000"/>
                <a:gd name="connsiteX2" fmla="*/ 153193 w 226579"/>
                <a:gd name="connsiteY2" fmla="*/ 33667 h 274000"/>
                <a:gd name="connsiteX3" fmla="*/ 220613 w 226579"/>
                <a:gd name="connsiteY3" fmla="*/ 75334 h 274000"/>
                <a:gd name="connsiteX4" fmla="*/ 222484 w 226579"/>
                <a:gd name="connsiteY4" fmla="*/ 150000 h 274000"/>
                <a:gd name="connsiteX5" fmla="*/ 214000 w 226579"/>
                <a:gd name="connsiteY5" fmla="*/ 203000 h 274000"/>
                <a:gd name="connsiteX6" fmla="*/ 157000 w 226579"/>
                <a:gd name="connsiteY6" fmla="*/ 236000 h 274000"/>
                <a:gd name="connsiteX7" fmla="*/ 94000 w 226579"/>
                <a:gd name="connsiteY7" fmla="*/ 258000 h 274000"/>
                <a:gd name="connsiteX8" fmla="*/ 34000 w 226579"/>
                <a:gd name="connsiteY8" fmla="*/ 274000 h 274000"/>
                <a:gd name="connsiteX0" fmla="*/ 0 w 226579"/>
                <a:gd name="connsiteY0" fmla="*/ 0 h 274000"/>
                <a:gd name="connsiteX1" fmla="*/ 92613 w 226579"/>
                <a:gd name="connsiteY1" fmla="*/ 7667 h 274000"/>
                <a:gd name="connsiteX2" fmla="*/ 153193 w 226579"/>
                <a:gd name="connsiteY2" fmla="*/ 33667 h 274000"/>
                <a:gd name="connsiteX3" fmla="*/ 220613 w 226579"/>
                <a:gd name="connsiteY3" fmla="*/ 75334 h 274000"/>
                <a:gd name="connsiteX4" fmla="*/ 222484 w 226579"/>
                <a:gd name="connsiteY4" fmla="*/ 150000 h 274000"/>
                <a:gd name="connsiteX5" fmla="*/ 214000 w 226579"/>
                <a:gd name="connsiteY5" fmla="*/ 203000 h 274000"/>
                <a:gd name="connsiteX6" fmla="*/ 157000 w 226579"/>
                <a:gd name="connsiteY6" fmla="*/ 236000 h 274000"/>
                <a:gd name="connsiteX7" fmla="*/ 94000 w 226579"/>
                <a:gd name="connsiteY7" fmla="*/ 258000 h 274000"/>
                <a:gd name="connsiteX8" fmla="*/ 34000 w 226579"/>
                <a:gd name="connsiteY8" fmla="*/ 274000 h 274000"/>
                <a:gd name="connsiteX0" fmla="*/ 0 w 226215"/>
                <a:gd name="connsiteY0" fmla="*/ 0 h 274000"/>
                <a:gd name="connsiteX1" fmla="*/ 92613 w 226215"/>
                <a:gd name="connsiteY1" fmla="*/ 7667 h 274000"/>
                <a:gd name="connsiteX2" fmla="*/ 158225 w 226215"/>
                <a:gd name="connsiteY2" fmla="*/ 31000 h 274000"/>
                <a:gd name="connsiteX3" fmla="*/ 220613 w 226215"/>
                <a:gd name="connsiteY3" fmla="*/ 75334 h 274000"/>
                <a:gd name="connsiteX4" fmla="*/ 222484 w 226215"/>
                <a:gd name="connsiteY4" fmla="*/ 150000 h 274000"/>
                <a:gd name="connsiteX5" fmla="*/ 214000 w 226215"/>
                <a:gd name="connsiteY5" fmla="*/ 203000 h 274000"/>
                <a:gd name="connsiteX6" fmla="*/ 157000 w 226215"/>
                <a:gd name="connsiteY6" fmla="*/ 236000 h 274000"/>
                <a:gd name="connsiteX7" fmla="*/ 94000 w 226215"/>
                <a:gd name="connsiteY7" fmla="*/ 258000 h 274000"/>
                <a:gd name="connsiteX8" fmla="*/ 34000 w 226215"/>
                <a:gd name="connsiteY8" fmla="*/ 274000 h 274000"/>
                <a:gd name="connsiteX0" fmla="*/ 0 w 222845"/>
                <a:gd name="connsiteY0" fmla="*/ 0 h 274000"/>
                <a:gd name="connsiteX1" fmla="*/ 92613 w 222845"/>
                <a:gd name="connsiteY1" fmla="*/ 7667 h 274000"/>
                <a:gd name="connsiteX2" fmla="*/ 158225 w 222845"/>
                <a:gd name="connsiteY2" fmla="*/ 31000 h 274000"/>
                <a:gd name="connsiteX3" fmla="*/ 212226 w 222845"/>
                <a:gd name="connsiteY3" fmla="*/ 78001 h 274000"/>
                <a:gd name="connsiteX4" fmla="*/ 222484 w 222845"/>
                <a:gd name="connsiteY4" fmla="*/ 150000 h 274000"/>
                <a:gd name="connsiteX5" fmla="*/ 214000 w 222845"/>
                <a:gd name="connsiteY5" fmla="*/ 203000 h 274000"/>
                <a:gd name="connsiteX6" fmla="*/ 157000 w 222845"/>
                <a:gd name="connsiteY6" fmla="*/ 236000 h 274000"/>
                <a:gd name="connsiteX7" fmla="*/ 94000 w 222845"/>
                <a:gd name="connsiteY7" fmla="*/ 258000 h 274000"/>
                <a:gd name="connsiteX8" fmla="*/ 34000 w 222845"/>
                <a:gd name="connsiteY8" fmla="*/ 274000 h 274000"/>
                <a:gd name="connsiteX0" fmla="*/ 0 w 219299"/>
                <a:gd name="connsiteY0" fmla="*/ 0 h 274000"/>
                <a:gd name="connsiteX1" fmla="*/ 92613 w 219299"/>
                <a:gd name="connsiteY1" fmla="*/ 7667 h 274000"/>
                <a:gd name="connsiteX2" fmla="*/ 158225 w 219299"/>
                <a:gd name="connsiteY2" fmla="*/ 31000 h 274000"/>
                <a:gd name="connsiteX3" fmla="*/ 212226 w 219299"/>
                <a:gd name="connsiteY3" fmla="*/ 78001 h 274000"/>
                <a:gd name="connsiteX4" fmla="*/ 216613 w 219299"/>
                <a:gd name="connsiteY4" fmla="*/ 150000 h 274000"/>
                <a:gd name="connsiteX5" fmla="*/ 214000 w 219299"/>
                <a:gd name="connsiteY5" fmla="*/ 203000 h 274000"/>
                <a:gd name="connsiteX6" fmla="*/ 157000 w 219299"/>
                <a:gd name="connsiteY6" fmla="*/ 236000 h 274000"/>
                <a:gd name="connsiteX7" fmla="*/ 94000 w 219299"/>
                <a:gd name="connsiteY7" fmla="*/ 258000 h 274000"/>
                <a:gd name="connsiteX8" fmla="*/ 34000 w 219299"/>
                <a:gd name="connsiteY8" fmla="*/ 274000 h 274000"/>
                <a:gd name="connsiteX0" fmla="*/ 0 w 217972"/>
                <a:gd name="connsiteY0" fmla="*/ 0 h 274000"/>
                <a:gd name="connsiteX1" fmla="*/ 92613 w 217972"/>
                <a:gd name="connsiteY1" fmla="*/ 7667 h 274000"/>
                <a:gd name="connsiteX2" fmla="*/ 158225 w 217972"/>
                <a:gd name="connsiteY2" fmla="*/ 31000 h 274000"/>
                <a:gd name="connsiteX3" fmla="*/ 212226 w 217972"/>
                <a:gd name="connsiteY3" fmla="*/ 78001 h 274000"/>
                <a:gd name="connsiteX4" fmla="*/ 216613 w 217972"/>
                <a:gd name="connsiteY4" fmla="*/ 150000 h 274000"/>
                <a:gd name="connsiteX5" fmla="*/ 214000 w 217972"/>
                <a:gd name="connsiteY5" fmla="*/ 203000 h 274000"/>
                <a:gd name="connsiteX6" fmla="*/ 187870 w 217972"/>
                <a:gd name="connsiteY6" fmla="*/ 204213 h 274000"/>
                <a:gd name="connsiteX7" fmla="*/ 157000 w 217972"/>
                <a:gd name="connsiteY7" fmla="*/ 236000 h 274000"/>
                <a:gd name="connsiteX8" fmla="*/ 94000 w 217972"/>
                <a:gd name="connsiteY8" fmla="*/ 258000 h 274000"/>
                <a:gd name="connsiteX9" fmla="*/ 34000 w 217972"/>
                <a:gd name="connsiteY9" fmla="*/ 274000 h 274000"/>
                <a:gd name="connsiteX0" fmla="*/ 0 w 218749"/>
                <a:gd name="connsiteY0" fmla="*/ 0 h 274000"/>
                <a:gd name="connsiteX1" fmla="*/ 92613 w 218749"/>
                <a:gd name="connsiteY1" fmla="*/ 7667 h 274000"/>
                <a:gd name="connsiteX2" fmla="*/ 158225 w 218749"/>
                <a:gd name="connsiteY2" fmla="*/ 31000 h 274000"/>
                <a:gd name="connsiteX3" fmla="*/ 212226 w 218749"/>
                <a:gd name="connsiteY3" fmla="*/ 78001 h 274000"/>
                <a:gd name="connsiteX4" fmla="*/ 216613 w 218749"/>
                <a:gd name="connsiteY4" fmla="*/ 150000 h 274000"/>
                <a:gd name="connsiteX5" fmla="*/ 201419 w 218749"/>
                <a:gd name="connsiteY5" fmla="*/ 186333 h 274000"/>
                <a:gd name="connsiteX6" fmla="*/ 187870 w 218749"/>
                <a:gd name="connsiteY6" fmla="*/ 204213 h 274000"/>
                <a:gd name="connsiteX7" fmla="*/ 157000 w 218749"/>
                <a:gd name="connsiteY7" fmla="*/ 236000 h 274000"/>
                <a:gd name="connsiteX8" fmla="*/ 94000 w 218749"/>
                <a:gd name="connsiteY8" fmla="*/ 258000 h 274000"/>
                <a:gd name="connsiteX9" fmla="*/ 34000 w 218749"/>
                <a:gd name="connsiteY9" fmla="*/ 274000 h 274000"/>
                <a:gd name="connsiteX0" fmla="*/ 0 w 218749"/>
                <a:gd name="connsiteY0" fmla="*/ 0 h 274000"/>
                <a:gd name="connsiteX1" fmla="*/ 92613 w 218749"/>
                <a:gd name="connsiteY1" fmla="*/ 7667 h 274000"/>
                <a:gd name="connsiteX2" fmla="*/ 158225 w 218749"/>
                <a:gd name="connsiteY2" fmla="*/ 31000 h 274000"/>
                <a:gd name="connsiteX3" fmla="*/ 212226 w 218749"/>
                <a:gd name="connsiteY3" fmla="*/ 78001 h 274000"/>
                <a:gd name="connsiteX4" fmla="*/ 216613 w 218749"/>
                <a:gd name="connsiteY4" fmla="*/ 150000 h 274000"/>
                <a:gd name="connsiteX5" fmla="*/ 201419 w 218749"/>
                <a:gd name="connsiteY5" fmla="*/ 186333 h 274000"/>
                <a:gd name="connsiteX6" fmla="*/ 187870 w 218749"/>
                <a:gd name="connsiteY6" fmla="*/ 204213 h 274000"/>
                <a:gd name="connsiteX7" fmla="*/ 149452 w 218749"/>
                <a:gd name="connsiteY7" fmla="*/ 234667 h 274000"/>
                <a:gd name="connsiteX8" fmla="*/ 94000 w 218749"/>
                <a:gd name="connsiteY8" fmla="*/ 258000 h 274000"/>
                <a:gd name="connsiteX9" fmla="*/ 34000 w 218749"/>
                <a:gd name="connsiteY9" fmla="*/ 274000 h 274000"/>
                <a:gd name="connsiteX0" fmla="*/ 0 w 218749"/>
                <a:gd name="connsiteY0" fmla="*/ 0 h 274000"/>
                <a:gd name="connsiteX1" fmla="*/ 92613 w 218749"/>
                <a:gd name="connsiteY1" fmla="*/ 7667 h 274000"/>
                <a:gd name="connsiteX2" fmla="*/ 158225 w 218749"/>
                <a:gd name="connsiteY2" fmla="*/ 31000 h 274000"/>
                <a:gd name="connsiteX3" fmla="*/ 212226 w 218749"/>
                <a:gd name="connsiteY3" fmla="*/ 78001 h 274000"/>
                <a:gd name="connsiteX4" fmla="*/ 216613 w 218749"/>
                <a:gd name="connsiteY4" fmla="*/ 150000 h 274000"/>
                <a:gd name="connsiteX5" fmla="*/ 201419 w 218749"/>
                <a:gd name="connsiteY5" fmla="*/ 186333 h 274000"/>
                <a:gd name="connsiteX6" fmla="*/ 149452 w 218749"/>
                <a:gd name="connsiteY6" fmla="*/ 234667 h 274000"/>
                <a:gd name="connsiteX7" fmla="*/ 94000 w 218749"/>
                <a:gd name="connsiteY7" fmla="*/ 258000 h 274000"/>
                <a:gd name="connsiteX8" fmla="*/ 34000 w 218749"/>
                <a:gd name="connsiteY8" fmla="*/ 274000 h 274000"/>
                <a:gd name="connsiteX0" fmla="*/ 0 w 219263"/>
                <a:gd name="connsiteY0" fmla="*/ 0 h 274000"/>
                <a:gd name="connsiteX1" fmla="*/ 92613 w 219263"/>
                <a:gd name="connsiteY1" fmla="*/ 7667 h 274000"/>
                <a:gd name="connsiteX2" fmla="*/ 158225 w 219263"/>
                <a:gd name="connsiteY2" fmla="*/ 31000 h 274000"/>
                <a:gd name="connsiteX3" fmla="*/ 212226 w 219263"/>
                <a:gd name="connsiteY3" fmla="*/ 78001 h 274000"/>
                <a:gd name="connsiteX4" fmla="*/ 217452 w 219263"/>
                <a:gd name="connsiteY4" fmla="*/ 140667 h 274000"/>
                <a:gd name="connsiteX5" fmla="*/ 201419 w 219263"/>
                <a:gd name="connsiteY5" fmla="*/ 186333 h 274000"/>
                <a:gd name="connsiteX6" fmla="*/ 149452 w 219263"/>
                <a:gd name="connsiteY6" fmla="*/ 234667 h 274000"/>
                <a:gd name="connsiteX7" fmla="*/ 94000 w 219263"/>
                <a:gd name="connsiteY7" fmla="*/ 258000 h 274000"/>
                <a:gd name="connsiteX8" fmla="*/ 34000 w 219263"/>
                <a:gd name="connsiteY8" fmla="*/ 274000 h 274000"/>
                <a:gd name="connsiteX0" fmla="*/ 0 w 217550"/>
                <a:gd name="connsiteY0" fmla="*/ 0 h 274000"/>
                <a:gd name="connsiteX1" fmla="*/ 92613 w 217550"/>
                <a:gd name="connsiteY1" fmla="*/ 7667 h 274000"/>
                <a:gd name="connsiteX2" fmla="*/ 158225 w 217550"/>
                <a:gd name="connsiteY2" fmla="*/ 31000 h 274000"/>
                <a:gd name="connsiteX3" fmla="*/ 205516 w 217550"/>
                <a:gd name="connsiteY3" fmla="*/ 74668 h 274000"/>
                <a:gd name="connsiteX4" fmla="*/ 217452 w 217550"/>
                <a:gd name="connsiteY4" fmla="*/ 140667 h 274000"/>
                <a:gd name="connsiteX5" fmla="*/ 201419 w 217550"/>
                <a:gd name="connsiteY5" fmla="*/ 186333 h 274000"/>
                <a:gd name="connsiteX6" fmla="*/ 149452 w 217550"/>
                <a:gd name="connsiteY6" fmla="*/ 234667 h 274000"/>
                <a:gd name="connsiteX7" fmla="*/ 94000 w 217550"/>
                <a:gd name="connsiteY7" fmla="*/ 258000 h 274000"/>
                <a:gd name="connsiteX8" fmla="*/ 34000 w 217550"/>
                <a:gd name="connsiteY8" fmla="*/ 274000 h 274000"/>
                <a:gd name="connsiteX0" fmla="*/ 0 w 218025"/>
                <a:gd name="connsiteY0" fmla="*/ 0 h 274000"/>
                <a:gd name="connsiteX1" fmla="*/ 92613 w 218025"/>
                <a:gd name="connsiteY1" fmla="*/ 7667 h 274000"/>
                <a:gd name="connsiteX2" fmla="*/ 158225 w 218025"/>
                <a:gd name="connsiteY2" fmla="*/ 31000 h 274000"/>
                <a:gd name="connsiteX3" fmla="*/ 208871 w 218025"/>
                <a:gd name="connsiteY3" fmla="*/ 73335 h 274000"/>
                <a:gd name="connsiteX4" fmla="*/ 217452 w 218025"/>
                <a:gd name="connsiteY4" fmla="*/ 140667 h 274000"/>
                <a:gd name="connsiteX5" fmla="*/ 201419 w 218025"/>
                <a:gd name="connsiteY5" fmla="*/ 186333 h 274000"/>
                <a:gd name="connsiteX6" fmla="*/ 149452 w 218025"/>
                <a:gd name="connsiteY6" fmla="*/ 234667 h 274000"/>
                <a:gd name="connsiteX7" fmla="*/ 94000 w 218025"/>
                <a:gd name="connsiteY7" fmla="*/ 258000 h 274000"/>
                <a:gd name="connsiteX8" fmla="*/ 34000 w 218025"/>
                <a:gd name="connsiteY8" fmla="*/ 274000 h 27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25" h="274000" fill="none" extrusionOk="0">
                  <a:moveTo>
                    <a:pt x="0" y="0"/>
                  </a:moveTo>
                  <a:cubicBezTo>
                    <a:pt x="30871" y="2556"/>
                    <a:pt x="66242" y="2500"/>
                    <a:pt x="92613" y="7667"/>
                  </a:cubicBezTo>
                  <a:cubicBezTo>
                    <a:pt x="118984" y="12834"/>
                    <a:pt x="138849" y="20055"/>
                    <a:pt x="158225" y="31000"/>
                  </a:cubicBezTo>
                  <a:cubicBezTo>
                    <a:pt x="177601" y="41945"/>
                    <a:pt x="199000" y="55057"/>
                    <a:pt x="208871" y="73335"/>
                  </a:cubicBezTo>
                  <a:cubicBezTo>
                    <a:pt x="218742" y="91613"/>
                    <a:pt x="218694" y="121834"/>
                    <a:pt x="217452" y="140667"/>
                  </a:cubicBezTo>
                  <a:cubicBezTo>
                    <a:pt x="216210" y="159500"/>
                    <a:pt x="212752" y="170666"/>
                    <a:pt x="201419" y="186333"/>
                  </a:cubicBezTo>
                  <a:cubicBezTo>
                    <a:pt x="190086" y="202000"/>
                    <a:pt x="167355" y="222723"/>
                    <a:pt x="149452" y="234667"/>
                  </a:cubicBezTo>
                  <a:cubicBezTo>
                    <a:pt x="133807" y="243632"/>
                    <a:pt x="114500" y="251667"/>
                    <a:pt x="94000" y="258000"/>
                  </a:cubicBezTo>
                  <a:cubicBezTo>
                    <a:pt x="73500" y="264333"/>
                    <a:pt x="44000" y="271333"/>
                    <a:pt x="34000" y="274000"/>
                  </a:cubicBezTo>
                </a:path>
              </a:pathLst>
            </a:custGeom>
            <a:noFill/>
            <a:ln w="20320">
              <a:solidFill>
                <a:srgbClr val="06155D"/>
              </a:solidFill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C2 counterpart trajectory"/>
            <p:cNvSpPr/>
            <p:nvPr/>
          </p:nvSpPr>
          <p:spPr>
            <a:xfrm>
              <a:off x="7827264" y="3167974"/>
              <a:ext cx="1901951" cy="749807"/>
            </a:xfrm>
            <a:custGeom>
              <a:avLst/>
              <a:gdLst/>
              <a:ahLst/>
              <a:cxnLst/>
              <a:rect l="0" t="0" r="w" b="h"/>
              <a:pathLst>
                <a:path w="222000" h="74000" fill="none" extrusionOk="0">
                  <a:moveTo>
                    <a:pt x="0" y="74000"/>
                  </a:moveTo>
                  <a:cubicBezTo>
                    <a:pt x="14167" y="71167"/>
                    <a:pt x="60833" y="63333"/>
                    <a:pt x="85000" y="57000"/>
                  </a:cubicBezTo>
                  <a:cubicBezTo>
                    <a:pt x="109167" y="50667"/>
                    <a:pt x="122167" y="45500"/>
                    <a:pt x="145000" y="36000"/>
                  </a:cubicBezTo>
                  <a:cubicBezTo>
                    <a:pt x="167833" y="26500"/>
                    <a:pt x="209167" y="6000"/>
                    <a:pt x="222000" y="0"/>
                  </a:cubicBezTo>
                </a:path>
              </a:pathLst>
            </a:custGeom>
            <a:noFill/>
            <a:ln w="20320">
              <a:solidFill>
                <a:srgbClr val="585858"/>
              </a:solidFill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C2 targeted close-approach trajectory"/>
            <p:cNvSpPr/>
            <p:nvPr/>
          </p:nvSpPr>
          <p:spPr>
            <a:xfrm>
              <a:off x="7498079" y="1439758"/>
              <a:ext cx="2310944" cy="1635017"/>
            </a:xfrm>
            <a:custGeom>
              <a:avLst/>
              <a:gdLst/>
              <a:ahLst/>
              <a:cxnLst/>
              <a:rect l="0" t="0" r="w" b="h"/>
              <a:pathLst>
                <a:path w="258000" h="197000" fill="none" extrusionOk="0">
                  <a:moveTo>
                    <a:pt x="0" y="0"/>
                  </a:moveTo>
                  <a:cubicBezTo>
                    <a:pt x="13333" y="4500"/>
                    <a:pt x="56500" y="16000"/>
                    <a:pt x="80000" y="27000"/>
                  </a:cubicBezTo>
                  <a:cubicBezTo>
                    <a:pt x="103500" y="38000"/>
                    <a:pt x="125500" y="53167"/>
                    <a:pt x="141000" y="66000"/>
                  </a:cubicBezTo>
                  <a:cubicBezTo>
                    <a:pt x="156500" y="78833"/>
                    <a:pt x="162667" y="87833"/>
                    <a:pt x="173000" y="104000"/>
                  </a:cubicBezTo>
                  <a:cubicBezTo>
                    <a:pt x="183333" y="120167"/>
                    <a:pt x="188833" y="147500"/>
                    <a:pt x="203000" y="163000"/>
                  </a:cubicBezTo>
                  <a:cubicBezTo>
                    <a:pt x="217167" y="178500"/>
                    <a:pt x="248833" y="191333"/>
                    <a:pt x="258000" y="197000"/>
                  </a:cubicBezTo>
                </a:path>
              </a:pathLst>
            </a:custGeom>
            <a:noFill/>
            <a:ln w="20320">
              <a:solidFill>
                <a:srgbClr val="06155D"/>
              </a:solidFill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C2 no-maneuver trajectory"/>
            <p:cNvSpPr/>
            <p:nvPr/>
          </p:nvSpPr>
          <p:spPr>
            <a:xfrm>
              <a:off x="8083296" y="1622638"/>
              <a:ext cx="2103120" cy="1417320"/>
            </a:xfrm>
            <a:custGeom>
              <a:avLst/>
              <a:gdLst/>
              <a:ahLst/>
              <a:cxnLst/>
              <a:rect l="0" t="0" r="w" b="h"/>
              <a:pathLst>
                <a:path w="230000" h="155000" fill="none" extrusionOk="0">
                  <a:moveTo>
                    <a:pt x="0" y="0"/>
                  </a:moveTo>
                  <a:cubicBezTo>
                    <a:pt x="13333" y="3667"/>
                    <a:pt x="54000" y="11333"/>
                    <a:pt x="80000" y="22000"/>
                  </a:cubicBezTo>
                  <a:cubicBezTo>
                    <a:pt x="106000" y="32667"/>
                    <a:pt x="135667" y="49667"/>
                    <a:pt x="156000" y="64000"/>
                  </a:cubicBezTo>
                  <a:cubicBezTo>
                    <a:pt x="176333" y="78333"/>
                    <a:pt x="189667" y="92833"/>
                    <a:pt x="202000" y="108000"/>
                  </a:cubicBezTo>
                  <a:cubicBezTo>
                    <a:pt x="214333" y="123167"/>
                    <a:pt x="225333" y="147167"/>
                    <a:pt x="230000" y="155000"/>
                  </a:cubicBezTo>
                </a:path>
              </a:pathLst>
            </a:custGeom>
            <a:noFill/>
            <a:ln w="17780">
              <a:solidFill>
                <a:srgbClr val="007B86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C3 high-speed actor flyby"/>
            <p:cNvSpPr/>
            <p:nvPr/>
          </p:nvSpPr>
          <p:spPr>
            <a:xfrm>
              <a:off x="11109960" y="1531198"/>
              <a:ext cx="2414016" cy="1856231"/>
            </a:xfrm>
            <a:custGeom>
              <a:avLst/>
              <a:gdLst/>
              <a:ahLst/>
              <a:cxnLst/>
              <a:rect l="0" t="0" r="w" b="h"/>
              <a:pathLst>
                <a:path w="264000" h="203000" fill="none" extrusionOk="0">
                  <a:moveTo>
                    <a:pt x="0" y="0"/>
                  </a:moveTo>
                  <a:cubicBezTo>
                    <a:pt x="12000" y="4500"/>
                    <a:pt x="48833" y="14833"/>
                    <a:pt x="72000" y="27000"/>
                  </a:cubicBezTo>
                  <a:cubicBezTo>
                    <a:pt x="95167" y="39167"/>
                    <a:pt x="120333" y="56500"/>
                    <a:pt x="139000" y="73000"/>
                  </a:cubicBezTo>
                  <a:cubicBezTo>
                    <a:pt x="157667" y="89500"/>
                    <a:pt x="170333" y="109000"/>
                    <a:pt x="184000" y="126000"/>
                  </a:cubicBezTo>
                  <a:cubicBezTo>
                    <a:pt x="197667" y="143000"/>
                    <a:pt x="207667" y="162167"/>
                    <a:pt x="221000" y="175000"/>
                  </a:cubicBezTo>
                  <a:cubicBezTo>
                    <a:pt x="234333" y="187833"/>
                    <a:pt x="256833" y="198333"/>
                    <a:pt x="264000" y="203000"/>
                  </a:cubicBezTo>
                </a:path>
              </a:pathLst>
            </a:custGeom>
            <a:noFill/>
            <a:ln w="20320">
              <a:solidFill>
                <a:srgbClr val="06155D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C3 counterpart flyby"/>
            <p:cNvSpPr/>
            <p:nvPr/>
          </p:nvSpPr>
          <p:spPr>
            <a:xfrm>
              <a:off x="10972800" y="1787230"/>
              <a:ext cx="2688336" cy="2075688"/>
            </a:xfrm>
            <a:custGeom>
              <a:avLst/>
              <a:gdLst/>
              <a:ahLst/>
              <a:cxnLst/>
              <a:rect l="0" t="0" r="w" b="h"/>
              <a:pathLst>
                <a:path w="294000" h="227000" fill="none" extrusionOk="0">
                  <a:moveTo>
                    <a:pt x="0" y="227000"/>
                  </a:moveTo>
                  <a:cubicBezTo>
                    <a:pt x="13167" y="223000"/>
                    <a:pt x="54167" y="213333"/>
                    <a:pt x="79000" y="203000"/>
                  </a:cubicBezTo>
                  <a:cubicBezTo>
                    <a:pt x="103833" y="192667"/>
                    <a:pt x="129000" y="183167"/>
                    <a:pt x="149000" y="165000"/>
                  </a:cubicBezTo>
                  <a:cubicBezTo>
                    <a:pt x="169000" y="146833"/>
                    <a:pt x="183500" y="114833"/>
                    <a:pt x="199000" y="94000"/>
                  </a:cubicBezTo>
                  <a:cubicBezTo>
                    <a:pt x="214500" y="73167"/>
                    <a:pt x="226167" y="55667"/>
                    <a:pt x="242000" y="40000"/>
                  </a:cubicBezTo>
                  <a:cubicBezTo>
                    <a:pt x="257833" y="24333"/>
                    <a:pt x="285333" y="6667"/>
                    <a:pt x="294000" y="0"/>
                  </a:cubicBezTo>
                </a:path>
              </a:pathLst>
            </a:custGeom>
            <a:noFill/>
            <a:ln w="20320">
              <a:solidFill>
                <a:srgbClr val="58585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C5 actor reachability trajectory"/>
            <p:cNvSpPr/>
            <p:nvPr/>
          </p:nvSpPr>
          <p:spPr>
            <a:xfrm>
              <a:off x="3913632" y="6051565"/>
              <a:ext cx="1335024" cy="786914"/>
            </a:xfrm>
            <a:custGeom>
              <a:avLst/>
              <a:gdLst/>
              <a:ahLst/>
              <a:cxnLst/>
              <a:rect l="0" t="0" r="w" b="h"/>
              <a:pathLst>
                <a:path w="146000" h="104000" fill="none" extrusionOk="0">
                  <a:moveTo>
                    <a:pt x="0" y="0"/>
                  </a:moveTo>
                  <a:cubicBezTo>
                    <a:pt x="10000" y="2667"/>
                    <a:pt x="42000" y="8833"/>
                    <a:pt x="60000" y="16000"/>
                  </a:cubicBezTo>
                  <a:cubicBezTo>
                    <a:pt x="78000" y="23167"/>
                    <a:pt x="95167" y="33167"/>
                    <a:pt x="108000" y="43000"/>
                  </a:cubicBezTo>
                  <a:cubicBezTo>
                    <a:pt x="120833" y="52833"/>
                    <a:pt x="130667" y="64833"/>
                    <a:pt x="137000" y="75000"/>
                  </a:cubicBezTo>
                  <a:cubicBezTo>
                    <a:pt x="143333" y="85167"/>
                    <a:pt x="144500" y="99167"/>
                    <a:pt x="146000" y="104000"/>
                  </a:cubicBezTo>
                </a:path>
              </a:pathLst>
            </a:custGeom>
            <a:noFill/>
            <a:ln w="20320">
              <a:solidFill>
                <a:srgbClr val="06155D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C6 Earth dome outline"/>
            <p:cNvSpPr/>
            <p:nvPr/>
          </p:nvSpPr>
          <p:spPr>
            <a:xfrm>
              <a:off x="7653527" y="6880438"/>
              <a:ext cx="2075688" cy="530352"/>
            </a:xfrm>
            <a:custGeom>
              <a:avLst/>
              <a:gdLst/>
              <a:ahLst/>
              <a:cxnLst/>
              <a:rect l="0" t="0" r="w" b="h"/>
              <a:pathLst>
                <a:path w="227000" h="58000" fill="none" extrusionOk="0">
                  <a:moveTo>
                    <a:pt x="0" y="58000"/>
                  </a:moveTo>
                  <a:cubicBezTo>
                    <a:pt x="5667" y="52833"/>
                    <a:pt x="21000" y="35333"/>
                    <a:pt x="34000" y="27000"/>
                  </a:cubicBezTo>
                  <a:cubicBezTo>
                    <a:pt x="47000" y="18667"/>
                    <a:pt x="61833" y="12167"/>
                    <a:pt x="78000" y="8000"/>
                  </a:cubicBezTo>
                  <a:cubicBezTo>
                    <a:pt x="94167" y="3833"/>
                    <a:pt x="113500" y="0"/>
                    <a:pt x="131000" y="2000"/>
                  </a:cubicBezTo>
                  <a:cubicBezTo>
                    <a:pt x="148500" y="4000"/>
                    <a:pt x="167000" y="10667"/>
                    <a:pt x="183000" y="20000"/>
                  </a:cubicBezTo>
                  <a:cubicBezTo>
                    <a:pt x="199000" y="29333"/>
                    <a:pt x="219667" y="51667"/>
                    <a:pt x="227000" y="58000"/>
                  </a:cubicBezTo>
                </a:path>
              </a:pathLst>
            </a:custGeom>
            <a:noFill/>
            <a:ln w="17145">
              <a:solidFill>
                <a:srgbClr val="06155D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C7 Earth dome outline"/>
            <p:cNvSpPr/>
            <p:nvPr/>
          </p:nvSpPr>
          <p:spPr>
            <a:xfrm>
              <a:off x="10908792" y="6601546"/>
              <a:ext cx="2688336" cy="708660"/>
            </a:xfrm>
            <a:custGeom>
              <a:avLst/>
              <a:gdLst/>
              <a:ahLst/>
              <a:cxnLst/>
              <a:rect l="0" t="0" r="w" b="h"/>
              <a:pathLst>
                <a:path w="294000" h="77500" fill="none" extrusionOk="0">
                  <a:moveTo>
                    <a:pt x="0" y="77500"/>
                  </a:moveTo>
                  <a:cubicBezTo>
                    <a:pt x="6833" y="70667"/>
                    <a:pt x="26500" y="47333"/>
                    <a:pt x="41000" y="36500"/>
                  </a:cubicBezTo>
                  <a:cubicBezTo>
                    <a:pt x="55500" y="25667"/>
                    <a:pt x="70167" y="18500"/>
                    <a:pt x="87000" y="12500"/>
                  </a:cubicBezTo>
                  <a:cubicBezTo>
                    <a:pt x="103833" y="6500"/>
                    <a:pt x="123500" y="1000"/>
                    <a:pt x="142000" y="500"/>
                  </a:cubicBezTo>
                  <a:cubicBezTo>
                    <a:pt x="160500" y="0"/>
                    <a:pt x="180333" y="3833"/>
                    <a:pt x="198000" y="9500"/>
                  </a:cubicBezTo>
                  <a:cubicBezTo>
                    <a:pt x="215667" y="15167"/>
                    <a:pt x="232000" y="23167"/>
                    <a:pt x="248000" y="34500"/>
                  </a:cubicBezTo>
                  <a:cubicBezTo>
                    <a:pt x="264000" y="45833"/>
                    <a:pt x="286333" y="70333"/>
                    <a:pt x="294000" y="77500"/>
                  </a:cubicBezTo>
                </a:path>
              </a:pathLst>
            </a:custGeom>
            <a:noFill/>
            <a:ln w="17145">
              <a:solidFill>
                <a:srgbClr val="06155D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6" name="C0 actor spacecraft icon" descr="actor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450840" y="1247734"/>
              <a:ext cx="415055" cy="301752"/>
            </a:xfrm>
            <a:prstGeom prst="rect">
              <a:avLst/>
            </a:prstGeom>
          </p:spPr>
        </p:pic>
        <p:pic>
          <p:nvPicPr>
            <p:cNvPr id="37" name="C1 actor spacecraft icon" descr="actor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3651240" y="1247734"/>
              <a:ext cx="415055" cy="301752"/>
            </a:xfrm>
            <a:prstGeom prst="rect">
              <a:avLst/>
            </a:prstGeom>
          </p:spPr>
        </p:pic>
        <p:pic>
          <p:nvPicPr>
            <p:cNvPr id="38" name="C2 actor spacecraft icon" descr="actor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7199112" y="1284310"/>
              <a:ext cx="415055" cy="301752"/>
            </a:xfrm>
            <a:prstGeom prst="rect">
              <a:avLst/>
            </a:prstGeom>
          </p:spPr>
        </p:pic>
        <p:pic>
          <p:nvPicPr>
            <p:cNvPr id="39" name="C3 actor spacecraft icon" descr="actor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0808208" y="1367905"/>
              <a:ext cx="411480" cy="299152"/>
            </a:xfrm>
            <a:prstGeom prst="rect">
              <a:avLst/>
            </a:prstGeom>
          </p:spPr>
        </p:pic>
        <p:pic>
          <p:nvPicPr>
            <p:cNvPr id="40" name="C4 actor spacecraft icon" descr="actor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313232" y="5940151"/>
              <a:ext cx="427632" cy="310896"/>
            </a:xfrm>
            <a:prstGeom prst="rect">
              <a:avLst/>
            </a:prstGeom>
          </p:spPr>
        </p:pic>
        <p:pic>
          <p:nvPicPr>
            <p:cNvPr id="41" name="C5 actor spacecraft icon" descr="actor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3651240" y="5875608"/>
              <a:ext cx="427632" cy="310896"/>
            </a:xfrm>
            <a:prstGeom prst="rect">
              <a:avLst/>
            </a:prstGeom>
          </p:spPr>
        </p:pic>
        <p:pic>
          <p:nvPicPr>
            <p:cNvPr id="42" name="C6 actor spacecraft icon" descr="actor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 rot="20108278">
              <a:off x="8175662" y="5967055"/>
              <a:ext cx="420624" cy="305800"/>
            </a:xfrm>
            <a:prstGeom prst="rect">
              <a:avLst/>
            </a:prstGeom>
          </p:spPr>
        </p:pic>
        <p:pic>
          <p:nvPicPr>
            <p:cNvPr id="43" name="C7 actor spacecraft icon" descr="actor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 rot="18545183">
              <a:off x="10823419" y="6186733"/>
              <a:ext cx="420624" cy="305800"/>
            </a:xfrm>
            <a:prstGeom prst="rect">
              <a:avLst/>
            </a:prstGeom>
          </p:spPr>
        </p:pic>
        <p:pic>
          <p:nvPicPr>
            <p:cNvPr id="44" name="C0 counterpart spacecraft icon" descr="counterpart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2523744" y="3023428"/>
              <a:ext cx="374904" cy="289091"/>
            </a:xfrm>
            <a:prstGeom prst="rect">
              <a:avLst/>
            </a:prstGeom>
          </p:spPr>
        </p:pic>
        <p:pic>
          <p:nvPicPr>
            <p:cNvPr id="45" name="C1 counterpart spacecraft icon" descr="counterpart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6030469" y="1768954"/>
              <a:ext cx="393192" cy="303193"/>
            </a:xfrm>
            <a:prstGeom prst="rect">
              <a:avLst/>
            </a:prstGeom>
          </p:spPr>
        </p:pic>
        <p:pic>
          <p:nvPicPr>
            <p:cNvPr id="46" name="C2 counterpart spacecraft icon" descr="counterpart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7734300" y="3743515"/>
              <a:ext cx="384048" cy="296142"/>
            </a:xfrm>
            <a:prstGeom prst="rect">
              <a:avLst/>
            </a:prstGeom>
          </p:spPr>
        </p:pic>
        <p:pic>
          <p:nvPicPr>
            <p:cNvPr id="47" name="C4 counterpart spacecraft icon" descr="counterpart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2556512" y="6528235"/>
              <a:ext cx="402336" cy="310244"/>
            </a:xfrm>
            <a:prstGeom prst="rect">
              <a:avLst/>
            </a:prstGeom>
            <a:effectLst/>
          </p:spPr>
        </p:pic>
        <p:pic>
          <p:nvPicPr>
            <p:cNvPr id="48" name="C5 counterpart spacecraft icon" descr="counterpart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6075985" y="7173391"/>
              <a:ext cx="356616" cy="274989"/>
            </a:xfrm>
            <a:prstGeom prst="rect">
              <a:avLst/>
            </a:prstGeom>
          </p:spPr>
        </p:pic>
        <p:sp>
          <p:nvSpPr>
            <p:cNvPr id="49" name="C6 ground region R point"/>
            <p:cNvSpPr/>
            <p:nvPr/>
          </p:nvSpPr>
          <p:spPr>
            <a:xfrm>
              <a:off x="8619135" y="6854829"/>
              <a:ext cx="95097" cy="95097"/>
            </a:xfrm>
            <a:prstGeom prst="ellipse">
              <a:avLst/>
            </a:prstGeom>
            <a:solidFill>
              <a:srgbClr val="FF5C00"/>
            </a:solidFill>
            <a:ln w="7620">
              <a:solidFill>
                <a:srgbClr val="06155D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C7 ground region R1 point"/>
            <p:cNvSpPr/>
            <p:nvPr/>
          </p:nvSpPr>
          <p:spPr>
            <a:xfrm>
              <a:off x="11393350" y="6784666"/>
              <a:ext cx="100584" cy="100584"/>
            </a:xfrm>
            <a:prstGeom prst="ellipse">
              <a:avLst/>
            </a:prstGeom>
            <a:solidFill>
              <a:srgbClr val="FF5C00"/>
            </a:solidFill>
            <a:ln w="7620">
              <a:solidFill>
                <a:srgbClr val="06155D"/>
              </a:solidFill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C7 ground region R2 point"/>
            <p:cNvSpPr/>
            <p:nvPr/>
          </p:nvSpPr>
          <p:spPr>
            <a:xfrm>
              <a:off x="12928662" y="6748213"/>
              <a:ext cx="100584" cy="100584"/>
            </a:xfrm>
            <a:prstGeom prst="ellipse">
              <a:avLst/>
            </a:prstGeom>
            <a:solidFill>
              <a:srgbClr val="FF5C00"/>
            </a:solidFill>
            <a:ln w="7620">
              <a:solidFill>
                <a:srgbClr val="06155D"/>
              </a:solidFill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C6 region R label"/>
            <p:cNvSpPr txBox="1"/>
            <p:nvPr/>
          </p:nvSpPr>
          <p:spPr>
            <a:xfrm>
              <a:off x="8772787" y="6629859"/>
              <a:ext cx="147476" cy="255391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dirty="0">
                  <a:solidFill>
                    <a:srgbClr val="FF5C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58" name="C7 region R1 label"/>
            <p:cNvSpPr txBox="1"/>
            <p:nvPr/>
          </p:nvSpPr>
          <p:spPr>
            <a:xfrm>
              <a:off x="11556916" y="6599438"/>
              <a:ext cx="258084" cy="255391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dirty="0">
                  <a:solidFill>
                    <a:srgbClr val="FF5C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R1</a:t>
              </a:r>
            </a:p>
          </p:txBody>
        </p:sp>
        <p:sp>
          <p:nvSpPr>
            <p:cNvPr id="59" name="C7 region R2 label"/>
            <p:cNvSpPr txBox="1"/>
            <p:nvPr/>
          </p:nvSpPr>
          <p:spPr>
            <a:xfrm>
              <a:off x="13152753" y="6681089"/>
              <a:ext cx="258084" cy="255391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dirty="0">
                  <a:solidFill>
                    <a:srgbClr val="FF5C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R2</a:t>
              </a:r>
            </a:p>
          </p:txBody>
        </p:sp>
        <p:sp>
          <p:nvSpPr>
            <p:cNvPr id="60" name="C0 panel title"/>
            <p:cNvSpPr txBox="1"/>
            <p:nvPr/>
          </p:nvSpPr>
          <p:spPr>
            <a:xfrm>
              <a:off x="139204" y="480560"/>
              <a:ext cx="3214599" cy="702244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C0 </a:t>
              </a:r>
              <a:endParaRPr lang="en-US" sz="2304" b="1" dirty="0">
                <a:solidFill>
                  <a:srgbClr val="06155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clear relat</a:t>
              </a:r>
              <a:r>
                <a:rPr lang="en-US" altLang="zh-CN" sz="2304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ed intention</a:t>
              </a:r>
              <a:endParaRPr sz="2304" b="1" dirty="0">
                <a:solidFill>
                  <a:srgbClr val="06155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C0 counterpart-type caption"/>
            <p:cNvSpPr txBox="1"/>
            <p:nvPr/>
          </p:nvSpPr>
          <p:spPr>
            <a:xfrm>
              <a:off x="715772" y="4112916"/>
              <a:ext cx="2061463" cy="29553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Spacecraft </a:t>
              </a:r>
              <a:r>
                <a:rPr lang="en-US"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r>
                <a:rPr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region</a:t>
              </a:r>
            </a:p>
          </p:txBody>
        </p:sp>
        <p:sp>
          <p:nvSpPr>
            <p:cNvPr id="62" name="C1 panel title"/>
            <p:cNvSpPr txBox="1"/>
            <p:nvPr/>
          </p:nvSpPr>
          <p:spPr>
            <a:xfrm>
              <a:off x="3482844" y="480560"/>
              <a:ext cx="3421899" cy="702244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C1 </a:t>
              </a:r>
              <a:endParaRPr lang="en-US" sz="2304" b="1" dirty="0">
                <a:solidFill>
                  <a:srgbClr val="06155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Natural</a:t>
              </a:r>
              <a:r>
                <a:rPr lang="en-US" sz="2304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approach and</a:t>
              </a:r>
              <a:r>
                <a:rPr sz="2304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pass</a:t>
              </a:r>
            </a:p>
          </p:txBody>
        </p:sp>
        <p:sp>
          <p:nvSpPr>
            <p:cNvPr id="63" name="C1 counterpart-type caption"/>
            <p:cNvSpPr txBox="1"/>
            <p:nvPr/>
          </p:nvSpPr>
          <p:spPr>
            <a:xfrm>
              <a:off x="4163060" y="4112916"/>
              <a:ext cx="2061463" cy="29553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Spacecraft </a:t>
              </a:r>
              <a:r>
                <a:rPr lang="en-US"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r>
                <a:rPr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region</a:t>
              </a:r>
            </a:p>
          </p:txBody>
        </p:sp>
        <p:sp>
          <p:nvSpPr>
            <p:cNvPr id="64" name="C2 panel title"/>
            <p:cNvSpPr txBox="1"/>
            <p:nvPr/>
          </p:nvSpPr>
          <p:spPr>
            <a:xfrm>
              <a:off x="7251098" y="480560"/>
              <a:ext cx="3072572" cy="702244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C2 </a:t>
              </a:r>
              <a:endParaRPr lang="en-US" sz="2304" b="1" dirty="0">
                <a:solidFill>
                  <a:srgbClr val="06155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304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Maneuvering approach</a:t>
              </a:r>
            </a:p>
          </p:txBody>
        </p:sp>
        <p:sp>
          <p:nvSpPr>
            <p:cNvPr id="65" name="C2 counterpart-type caption"/>
            <p:cNvSpPr txBox="1"/>
            <p:nvPr/>
          </p:nvSpPr>
          <p:spPr>
            <a:xfrm>
              <a:off x="7987488" y="4112916"/>
              <a:ext cx="1599798" cy="29553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Spacecraft</a:t>
              </a:r>
              <a:r>
                <a:rPr lang="en-US"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only</a:t>
              </a:r>
              <a:endParaRPr sz="2000" b="0" dirty="0">
                <a:solidFill>
                  <a:srgbClr val="06155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C3 panel title"/>
            <p:cNvSpPr txBox="1"/>
            <p:nvPr/>
          </p:nvSpPr>
          <p:spPr>
            <a:xfrm>
              <a:off x="11227072" y="480560"/>
              <a:ext cx="2143215" cy="702244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C3 </a:t>
              </a:r>
              <a:endParaRPr lang="en-US" sz="2304" b="1" dirty="0">
                <a:solidFill>
                  <a:srgbClr val="06155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High-speed flyby</a:t>
              </a:r>
            </a:p>
          </p:txBody>
        </p:sp>
        <p:sp>
          <p:nvSpPr>
            <p:cNvPr id="67" name="C3 counterpart-type caption"/>
            <p:cNvSpPr txBox="1"/>
            <p:nvPr/>
          </p:nvSpPr>
          <p:spPr>
            <a:xfrm>
              <a:off x="11498784" y="4112916"/>
              <a:ext cx="1599798" cy="29553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Spacecraft</a:t>
              </a:r>
              <a:r>
                <a:rPr lang="en-US"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only</a:t>
              </a:r>
              <a:endParaRPr sz="2000" b="0" dirty="0">
                <a:solidFill>
                  <a:srgbClr val="06155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C4 panel title"/>
            <p:cNvSpPr txBox="1"/>
            <p:nvPr/>
          </p:nvSpPr>
          <p:spPr>
            <a:xfrm>
              <a:off x="828239" y="4696617"/>
              <a:ext cx="1836529" cy="70089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0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C4 </a:t>
              </a:r>
              <a:endParaRPr lang="en-US" sz="2300" b="1" dirty="0">
                <a:solidFill>
                  <a:srgbClr val="06155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0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Proximity stay</a:t>
              </a:r>
            </a:p>
          </p:txBody>
        </p:sp>
        <p:sp>
          <p:nvSpPr>
            <p:cNvPr id="69" name="C4 counterpart-type caption"/>
            <p:cNvSpPr txBox="1"/>
            <p:nvPr/>
          </p:nvSpPr>
          <p:spPr>
            <a:xfrm>
              <a:off x="919174" y="8082722"/>
              <a:ext cx="1599797" cy="29553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Spacecraft</a:t>
              </a:r>
              <a:r>
                <a:rPr lang="en-US"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only</a:t>
              </a:r>
              <a:endParaRPr sz="2000" b="0" dirty="0">
                <a:solidFill>
                  <a:srgbClr val="06155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C5 panel title"/>
            <p:cNvSpPr txBox="1"/>
            <p:nvPr/>
          </p:nvSpPr>
          <p:spPr>
            <a:xfrm>
              <a:off x="3730183" y="4691691"/>
              <a:ext cx="2960746" cy="97045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0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C5 </a:t>
              </a:r>
              <a:endParaRPr lang="en-US" sz="2300" b="1" dirty="0">
                <a:solidFill>
                  <a:srgbClr val="06155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Orbital pre-positioning</a:t>
              </a:r>
            </a:p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Reachability enhancement</a:t>
              </a:r>
              <a:r>
                <a:rPr lang="en-US" sz="2000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sz="2000" b="1" dirty="0">
                <a:solidFill>
                  <a:srgbClr val="06155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C5 counterpart-type caption"/>
            <p:cNvSpPr txBox="1"/>
            <p:nvPr/>
          </p:nvSpPr>
          <p:spPr>
            <a:xfrm>
              <a:off x="4163061" y="8081412"/>
              <a:ext cx="2061462" cy="29553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Spacecraft </a:t>
              </a:r>
              <a:r>
                <a:rPr lang="en-US"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r>
                <a:rPr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region</a:t>
              </a:r>
            </a:p>
          </p:txBody>
        </p:sp>
        <p:sp>
          <p:nvSpPr>
            <p:cNvPr id="72" name="C6 panel title"/>
            <p:cNvSpPr txBox="1"/>
            <p:nvPr/>
          </p:nvSpPr>
          <p:spPr>
            <a:xfrm>
              <a:off x="7128276" y="4718804"/>
              <a:ext cx="3318216" cy="656526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0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C6 </a:t>
              </a:r>
              <a:endParaRPr lang="en-US" sz="2300" b="1" dirty="0">
                <a:solidFill>
                  <a:srgbClr val="06155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 coverage enhancement</a:t>
              </a:r>
            </a:p>
          </p:txBody>
        </p:sp>
        <p:sp>
          <p:nvSpPr>
            <p:cNvPr id="73" name="C6 counterpart-type caption"/>
            <p:cNvSpPr txBox="1"/>
            <p:nvPr/>
          </p:nvSpPr>
          <p:spPr>
            <a:xfrm>
              <a:off x="8157406" y="8081412"/>
              <a:ext cx="1259961" cy="29553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  <a:r>
                <a:rPr lang="en-US"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only</a:t>
              </a:r>
              <a:endParaRPr sz="2000" b="0" dirty="0">
                <a:solidFill>
                  <a:srgbClr val="06155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C7 panel title"/>
            <p:cNvSpPr txBox="1"/>
            <p:nvPr/>
          </p:nvSpPr>
          <p:spPr>
            <a:xfrm>
              <a:off x="10686059" y="4718804"/>
              <a:ext cx="3225242" cy="656526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0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C7 </a:t>
              </a:r>
              <a:endParaRPr lang="en-US" sz="2300" b="1" dirty="0">
                <a:solidFill>
                  <a:srgbClr val="06155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Coverage expansion </a:t>
              </a:r>
              <a:r>
                <a:rPr lang="en-US" sz="2000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and</a:t>
              </a:r>
              <a:r>
                <a:rPr sz="2000" b="1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shift</a:t>
              </a:r>
            </a:p>
          </p:txBody>
        </p:sp>
        <p:sp>
          <p:nvSpPr>
            <p:cNvPr id="75" name="C7 counterpart-type caption"/>
            <p:cNvSpPr txBox="1"/>
            <p:nvPr/>
          </p:nvSpPr>
          <p:spPr>
            <a:xfrm>
              <a:off x="11668701" y="8081412"/>
              <a:ext cx="1259961" cy="29553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  <a:r>
                <a:rPr lang="en-US" sz="2000" b="0" dirty="0">
                  <a:solidFill>
                    <a:srgbClr val="06155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only</a:t>
              </a:r>
              <a:endParaRPr sz="2000" b="0" dirty="0">
                <a:solidFill>
                  <a:srgbClr val="06155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6" name="Grid outer top"/>
            <p:cNvCxnSpPr/>
            <p:nvPr/>
          </p:nvCxnSpPr>
          <p:spPr>
            <a:xfrm>
              <a:off x="64008" y="461350"/>
              <a:ext cx="13917168" cy="0"/>
            </a:xfrm>
            <a:prstGeom prst="line">
              <a:avLst/>
            </a:prstGeom>
            <a:ln w="19050">
              <a:solidFill>
                <a:srgbClr val="777777"/>
              </a:solidFill>
            </a:ln>
            <a:effectLst/>
          </p:spPr>
        </p:cxnSp>
        <p:cxnSp>
          <p:nvCxnSpPr>
            <p:cNvPr id="77" name="Grid outer left"/>
            <p:cNvCxnSpPr>
              <a:cxnSpLocks/>
            </p:cNvCxnSpPr>
            <p:nvPr/>
          </p:nvCxnSpPr>
          <p:spPr>
            <a:xfrm>
              <a:off x="64008" y="461350"/>
              <a:ext cx="0" cy="8147304"/>
            </a:xfrm>
            <a:prstGeom prst="line">
              <a:avLst/>
            </a:prstGeom>
            <a:ln w="19050">
              <a:solidFill>
                <a:srgbClr val="777777"/>
              </a:solidFill>
            </a:ln>
            <a:effectLst/>
          </p:spPr>
        </p:cxnSp>
        <p:cxnSp>
          <p:nvCxnSpPr>
            <p:cNvPr id="78" name="Grid outer right"/>
            <p:cNvCxnSpPr>
              <a:cxnSpLocks/>
            </p:cNvCxnSpPr>
            <p:nvPr/>
          </p:nvCxnSpPr>
          <p:spPr>
            <a:xfrm>
              <a:off x="13981176" y="461350"/>
              <a:ext cx="0" cy="8147304"/>
            </a:xfrm>
            <a:prstGeom prst="line">
              <a:avLst/>
            </a:prstGeom>
            <a:ln w="19050">
              <a:solidFill>
                <a:srgbClr val="777777"/>
              </a:solidFill>
            </a:ln>
            <a:effectLst/>
          </p:spPr>
        </p:cxnSp>
        <p:cxnSp>
          <p:nvCxnSpPr>
            <p:cNvPr id="80" name="Grid row divider"/>
            <p:cNvCxnSpPr/>
            <p:nvPr/>
          </p:nvCxnSpPr>
          <p:spPr>
            <a:xfrm>
              <a:off x="64008" y="4640158"/>
              <a:ext cx="13917168" cy="0"/>
            </a:xfrm>
            <a:prstGeom prst="line">
              <a:avLst/>
            </a:prstGeom>
            <a:ln w="19050">
              <a:solidFill>
                <a:srgbClr val="777777"/>
              </a:solidFill>
            </a:ln>
            <a:effectLst/>
          </p:spPr>
        </p:cxnSp>
        <p:cxnSp>
          <p:nvCxnSpPr>
            <p:cNvPr id="81" name="Grid footer divider"/>
            <p:cNvCxnSpPr/>
            <p:nvPr/>
          </p:nvCxnSpPr>
          <p:spPr>
            <a:xfrm>
              <a:off x="64008" y="8608654"/>
              <a:ext cx="13917168" cy="0"/>
            </a:xfrm>
            <a:prstGeom prst="line">
              <a:avLst/>
            </a:prstGeom>
            <a:ln w="19050">
              <a:solidFill>
                <a:srgbClr val="777777"/>
              </a:solidFill>
            </a:ln>
            <a:effectLst/>
          </p:spPr>
        </p:cxnSp>
        <p:cxnSp>
          <p:nvCxnSpPr>
            <p:cNvPr id="82" name="Grid column divider 1"/>
            <p:cNvCxnSpPr/>
            <p:nvPr/>
          </p:nvCxnSpPr>
          <p:spPr>
            <a:xfrm>
              <a:off x="3429000" y="461350"/>
              <a:ext cx="0" cy="8147304"/>
            </a:xfrm>
            <a:prstGeom prst="line">
              <a:avLst/>
            </a:prstGeom>
            <a:ln w="19050">
              <a:solidFill>
                <a:srgbClr val="777777"/>
              </a:solidFill>
            </a:ln>
            <a:effectLst/>
          </p:spPr>
        </p:cxnSp>
        <p:cxnSp>
          <p:nvCxnSpPr>
            <p:cNvPr id="83" name="Grid column divider 2"/>
            <p:cNvCxnSpPr/>
            <p:nvPr/>
          </p:nvCxnSpPr>
          <p:spPr>
            <a:xfrm>
              <a:off x="6958584" y="461350"/>
              <a:ext cx="0" cy="8147304"/>
            </a:xfrm>
            <a:prstGeom prst="line">
              <a:avLst/>
            </a:prstGeom>
            <a:ln w="19050">
              <a:solidFill>
                <a:srgbClr val="777777"/>
              </a:solidFill>
            </a:ln>
            <a:effectLst/>
          </p:spPr>
        </p:cxnSp>
        <p:cxnSp>
          <p:nvCxnSpPr>
            <p:cNvPr id="84" name="Grid column divider 3"/>
            <p:cNvCxnSpPr/>
            <p:nvPr/>
          </p:nvCxnSpPr>
          <p:spPr>
            <a:xfrm>
              <a:off x="10616184" y="461350"/>
              <a:ext cx="0" cy="8147304"/>
            </a:xfrm>
            <a:prstGeom prst="line">
              <a:avLst/>
            </a:prstGeom>
            <a:ln w="19050">
              <a:solidFill>
                <a:srgbClr val="777777"/>
              </a:solidFill>
            </a:ln>
            <a:effectLst/>
          </p:spPr>
        </p:cxnSp>
        <p:pic>
          <p:nvPicPr>
            <p:cNvPr id="87" name="C2 counterpart spacecraft icon" descr="counterpart.png">
              <a:extLst>
                <a:ext uri="{FF2B5EF4-FFF2-40B4-BE49-F238E27FC236}">
                  <a16:creationId xmlns:a16="http://schemas.microsoft.com/office/drawing/2014/main" id="{6C9F31F8-465F-44F4-9414-1620C5E71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10809732" y="3680505"/>
              <a:ext cx="384048" cy="296142"/>
            </a:xfrm>
            <a:prstGeom prst="rect">
              <a:avLst/>
            </a:prstGeom>
          </p:spPr>
        </p:pic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CEC6614E-73AF-4170-9468-21BA4E267AE5}"/>
                </a:ext>
              </a:extLst>
            </p:cNvPr>
            <p:cNvGrpSpPr/>
            <p:nvPr/>
          </p:nvGrpSpPr>
          <p:grpSpPr>
            <a:xfrm rot="1789986">
              <a:off x="8016504" y="1557707"/>
              <a:ext cx="137158" cy="147227"/>
              <a:chOff x="8016504" y="1142077"/>
              <a:chExt cx="137158" cy="147227"/>
            </a:xfrm>
          </p:grpSpPr>
          <p:cxnSp>
            <p:nvCxnSpPr>
              <p:cNvPr id="18" name="C2 maneuver event tick"/>
              <p:cNvCxnSpPr>
                <a:cxnSpLocks/>
              </p:cNvCxnSpPr>
              <p:nvPr/>
            </p:nvCxnSpPr>
            <p:spPr>
              <a:xfrm flipV="1">
                <a:off x="8055864" y="1142077"/>
                <a:ext cx="54863" cy="147227"/>
              </a:xfrm>
              <a:prstGeom prst="line">
                <a:avLst/>
              </a:prstGeom>
              <a:ln w="22860">
                <a:solidFill>
                  <a:srgbClr val="FF5C00"/>
                </a:solidFill>
              </a:ln>
              <a:effectLst/>
            </p:spPr>
          </p:cxnSp>
          <p:cxnSp>
            <p:nvCxnSpPr>
              <p:cNvPr id="88" name="C2 maneuver event tick">
                <a:extLst>
                  <a:ext uri="{FF2B5EF4-FFF2-40B4-BE49-F238E27FC236}">
                    <a16:creationId xmlns:a16="http://schemas.microsoft.com/office/drawing/2014/main" id="{0E01139B-B87E-415D-A0D3-32CCA3CAD2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016504" y="1176772"/>
                <a:ext cx="137158" cy="65892"/>
              </a:xfrm>
              <a:prstGeom prst="line">
                <a:avLst/>
              </a:prstGeom>
              <a:ln w="22860">
                <a:solidFill>
                  <a:srgbClr val="FF5C00"/>
                </a:solidFill>
              </a:ln>
              <a:effectLst/>
            </p:spPr>
          </p:cxnSp>
        </p:grp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922F146B-676A-4DAA-8AAD-EC67073672C7}"/>
                </a:ext>
              </a:extLst>
            </p:cNvPr>
            <p:cNvSpPr txBox="1"/>
            <p:nvPr/>
          </p:nvSpPr>
          <p:spPr>
            <a:xfrm>
              <a:off x="7564903" y="1725486"/>
              <a:ext cx="10854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0" dirty="0">
                  <a:solidFill>
                    <a:srgbClr val="007B8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maneuver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弧形 90">
              <a:extLst>
                <a:ext uri="{FF2B5EF4-FFF2-40B4-BE49-F238E27FC236}">
                  <a16:creationId xmlns:a16="http://schemas.microsoft.com/office/drawing/2014/main" id="{F2770CBE-B407-4A4C-8742-476BFCAFD546}"/>
                </a:ext>
              </a:extLst>
            </p:cNvPr>
            <p:cNvSpPr/>
            <p:nvPr/>
          </p:nvSpPr>
          <p:spPr>
            <a:xfrm>
              <a:off x="378816" y="6186911"/>
              <a:ext cx="2477264" cy="1393282"/>
            </a:xfrm>
            <a:prstGeom prst="arc">
              <a:avLst>
                <a:gd name="adj1" fmla="val 9662066"/>
                <a:gd name="adj2" fmla="val 10816377"/>
              </a:avLst>
            </a:prstGeom>
            <a:ln w="12700">
              <a:solidFill>
                <a:srgbClr val="162467"/>
              </a:solidFill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弧形 99">
              <a:extLst>
                <a:ext uri="{FF2B5EF4-FFF2-40B4-BE49-F238E27FC236}">
                  <a16:creationId xmlns:a16="http://schemas.microsoft.com/office/drawing/2014/main" id="{1977D5AC-06C0-4CAC-8CB9-DC90E4C5B7B5}"/>
                </a:ext>
              </a:extLst>
            </p:cNvPr>
            <p:cNvSpPr/>
            <p:nvPr/>
          </p:nvSpPr>
          <p:spPr>
            <a:xfrm>
              <a:off x="378816" y="5885842"/>
              <a:ext cx="2477264" cy="1555723"/>
            </a:xfrm>
            <a:prstGeom prst="arc">
              <a:avLst>
                <a:gd name="adj1" fmla="val 16645925"/>
                <a:gd name="adj2" fmla="val 20926619"/>
              </a:avLst>
            </a:prstGeom>
            <a:ln w="127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007D9217-4A3B-4AF0-997F-57EC28763487}"/>
                </a:ext>
              </a:extLst>
            </p:cNvPr>
            <p:cNvCxnSpPr/>
            <p:nvPr/>
          </p:nvCxnSpPr>
          <p:spPr>
            <a:xfrm flipH="1">
              <a:off x="1703070" y="5815965"/>
              <a:ext cx="16002" cy="158115"/>
            </a:xfrm>
            <a:prstGeom prst="line">
              <a:avLst/>
            </a:prstGeom>
            <a:ln w="1270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9522E18F-871D-4BBE-B745-ED5CE7EFF8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45488" y="6373507"/>
              <a:ext cx="138854" cy="91841"/>
            </a:xfrm>
            <a:prstGeom prst="line">
              <a:avLst/>
            </a:prstGeom>
            <a:ln w="1270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E6EAD25-1E9B-4537-84A6-EECB159033DD}"/>
                </a:ext>
              </a:extLst>
            </p:cNvPr>
            <p:cNvSpPr txBox="1"/>
            <p:nvPr/>
          </p:nvSpPr>
          <p:spPr>
            <a:xfrm rot="1195515">
              <a:off x="1352213" y="5720244"/>
              <a:ext cx="21158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0" dirty="0">
                  <a:solidFill>
                    <a:srgbClr val="007B8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difference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4E4D676F-9469-4C7B-934B-AF157EF40763}"/>
                </a:ext>
              </a:extLst>
            </p:cNvPr>
            <p:cNvSpPr/>
            <p:nvPr/>
          </p:nvSpPr>
          <p:spPr>
            <a:xfrm>
              <a:off x="3955159" y="6652298"/>
              <a:ext cx="2260856" cy="1331874"/>
            </a:xfrm>
            <a:prstGeom prst="ellipse">
              <a:avLst/>
            </a:prstGeom>
            <a:noFill/>
            <a:ln w="12700">
              <a:solidFill>
                <a:srgbClr val="58585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弧形 106">
              <a:extLst>
                <a:ext uri="{FF2B5EF4-FFF2-40B4-BE49-F238E27FC236}">
                  <a16:creationId xmlns:a16="http://schemas.microsoft.com/office/drawing/2014/main" id="{6B8718F2-989E-4140-88F8-827376C1FE27}"/>
                </a:ext>
              </a:extLst>
            </p:cNvPr>
            <p:cNvSpPr/>
            <p:nvPr/>
          </p:nvSpPr>
          <p:spPr>
            <a:xfrm>
              <a:off x="7159653" y="6124515"/>
              <a:ext cx="3164017" cy="1555723"/>
            </a:xfrm>
            <a:prstGeom prst="arc">
              <a:avLst>
                <a:gd name="adj1" fmla="val 11641342"/>
                <a:gd name="adj2" fmla="val 20656459"/>
              </a:avLst>
            </a:prstGeom>
            <a:ln w="12700">
              <a:solidFill>
                <a:srgbClr val="162467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弧形 114">
              <a:extLst>
                <a:ext uri="{FF2B5EF4-FFF2-40B4-BE49-F238E27FC236}">
                  <a16:creationId xmlns:a16="http://schemas.microsoft.com/office/drawing/2014/main" id="{D601B41C-F939-446D-8AAF-6AB92EE8542C}"/>
                </a:ext>
              </a:extLst>
            </p:cNvPr>
            <p:cNvSpPr/>
            <p:nvPr/>
          </p:nvSpPr>
          <p:spPr>
            <a:xfrm>
              <a:off x="10616184" y="6138532"/>
              <a:ext cx="3164017" cy="1555723"/>
            </a:xfrm>
            <a:prstGeom prst="arc">
              <a:avLst>
                <a:gd name="adj1" fmla="val 11730067"/>
                <a:gd name="adj2" fmla="val 13247465"/>
              </a:avLst>
            </a:prstGeom>
            <a:ln w="12700">
              <a:solidFill>
                <a:srgbClr val="162467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弧形 117">
              <a:extLst>
                <a:ext uri="{FF2B5EF4-FFF2-40B4-BE49-F238E27FC236}">
                  <a16:creationId xmlns:a16="http://schemas.microsoft.com/office/drawing/2014/main" id="{A1EABADB-F3C4-4FCD-8DC8-B90F839009F2}"/>
                </a:ext>
              </a:extLst>
            </p:cNvPr>
            <p:cNvSpPr/>
            <p:nvPr/>
          </p:nvSpPr>
          <p:spPr>
            <a:xfrm>
              <a:off x="10643710" y="6129986"/>
              <a:ext cx="3164017" cy="1555723"/>
            </a:xfrm>
            <a:prstGeom prst="arc">
              <a:avLst>
                <a:gd name="adj1" fmla="val 13127500"/>
                <a:gd name="adj2" fmla="val 20656459"/>
              </a:avLst>
            </a:prstGeom>
            <a:ln w="12700">
              <a:solidFill>
                <a:srgbClr val="162467"/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3" name="弧形 122">
              <a:extLst>
                <a:ext uri="{FF2B5EF4-FFF2-40B4-BE49-F238E27FC236}">
                  <a16:creationId xmlns:a16="http://schemas.microsoft.com/office/drawing/2014/main" id="{116DF14E-AF30-4B3F-B161-D337C1BCEEFB}"/>
                </a:ext>
              </a:extLst>
            </p:cNvPr>
            <p:cNvSpPr/>
            <p:nvPr/>
          </p:nvSpPr>
          <p:spPr>
            <a:xfrm>
              <a:off x="10488168" y="6002341"/>
              <a:ext cx="3372611" cy="1555723"/>
            </a:xfrm>
            <a:prstGeom prst="arc">
              <a:avLst>
                <a:gd name="adj1" fmla="val 14653073"/>
                <a:gd name="adj2" fmla="val 20656459"/>
              </a:avLst>
            </a:prstGeom>
            <a:ln w="12700">
              <a:solidFill>
                <a:srgbClr val="162467"/>
              </a:solidFill>
              <a:prstDash val="solid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4" name="任意多边形: 形状 123">
              <a:extLst>
                <a:ext uri="{FF2B5EF4-FFF2-40B4-BE49-F238E27FC236}">
                  <a16:creationId xmlns:a16="http://schemas.microsoft.com/office/drawing/2014/main" id="{FBC176FE-675E-46AB-A660-58FCBBB57F8B}"/>
                </a:ext>
              </a:extLst>
            </p:cNvPr>
            <p:cNvSpPr/>
            <p:nvPr/>
          </p:nvSpPr>
          <p:spPr>
            <a:xfrm>
              <a:off x="11437620" y="6022341"/>
              <a:ext cx="377380" cy="203200"/>
            </a:xfrm>
            <a:custGeom>
              <a:avLst/>
              <a:gdLst>
                <a:gd name="connsiteX0" fmla="*/ 0 w 379095"/>
                <a:gd name="connsiteY0" fmla="*/ 207645 h 207645"/>
                <a:gd name="connsiteX1" fmla="*/ 118110 w 379095"/>
                <a:gd name="connsiteY1" fmla="*/ 160020 h 207645"/>
                <a:gd name="connsiteX2" fmla="*/ 209550 w 379095"/>
                <a:gd name="connsiteY2" fmla="*/ 100965 h 207645"/>
                <a:gd name="connsiteX3" fmla="*/ 287655 w 379095"/>
                <a:gd name="connsiteY3" fmla="*/ 43815 h 207645"/>
                <a:gd name="connsiteX4" fmla="*/ 379095 w 379095"/>
                <a:gd name="connsiteY4" fmla="*/ 0 h 207645"/>
                <a:gd name="connsiteX0" fmla="*/ 0 w 501015"/>
                <a:gd name="connsiteY0" fmla="*/ 212725 h 212725"/>
                <a:gd name="connsiteX1" fmla="*/ 118110 w 501015"/>
                <a:gd name="connsiteY1" fmla="*/ 165100 h 212725"/>
                <a:gd name="connsiteX2" fmla="*/ 209550 w 501015"/>
                <a:gd name="connsiteY2" fmla="*/ 106045 h 212725"/>
                <a:gd name="connsiteX3" fmla="*/ 287655 w 501015"/>
                <a:gd name="connsiteY3" fmla="*/ 48895 h 212725"/>
                <a:gd name="connsiteX4" fmla="*/ 501015 w 501015"/>
                <a:gd name="connsiteY4" fmla="*/ 0 h 212725"/>
                <a:gd name="connsiteX0" fmla="*/ 0 w 501015"/>
                <a:gd name="connsiteY0" fmla="*/ 212725 h 212725"/>
                <a:gd name="connsiteX1" fmla="*/ 118110 w 501015"/>
                <a:gd name="connsiteY1" fmla="*/ 165100 h 212725"/>
                <a:gd name="connsiteX2" fmla="*/ 209550 w 501015"/>
                <a:gd name="connsiteY2" fmla="*/ 106045 h 212725"/>
                <a:gd name="connsiteX3" fmla="*/ 287655 w 501015"/>
                <a:gd name="connsiteY3" fmla="*/ 41275 h 212725"/>
                <a:gd name="connsiteX4" fmla="*/ 501015 w 501015"/>
                <a:gd name="connsiteY4" fmla="*/ 0 h 212725"/>
                <a:gd name="connsiteX0" fmla="*/ 0 w 384810"/>
                <a:gd name="connsiteY0" fmla="*/ 208915 h 208915"/>
                <a:gd name="connsiteX1" fmla="*/ 118110 w 384810"/>
                <a:gd name="connsiteY1" fmla="*/ 161290 h 208915"/>
                <a:gd name="connsiteX2" fmla="*/ 209550 w 384810"/>
                <a:gd name="connsiteY2" fmla="*/ 102235 h 208915"/>
                <a:gd name="connsiteX3" fmla="*/ 287655 w 384810"/>
                <a:gd name="connsiteY3" fmla="*/ 37465 h 208915"/>
                <a:gd name="connsiteX4" fmla="*/ 384810 w 384810"/>
                <a:gd name="connsiteY4" fmla="*/ 0 h 208915"/>
                <a:gd name="connsiteX0" fmla="*/ 0 w 384810"/>
                <a:gd name="connsiteY0" fmla="*/ 208915 h 208915"/>
                <a:gd name="connsiteX1" fmla="*/ 118110 w 384810"/>
                <a:gd name="connsiteY1" fmla="*/ 161290 h 208915"/>
                <a:gd name="connsiteX2" fmla="*/ 186690 w 384810"/>
                <a:gd name="connsiteY2" fmla="*/ 117475 h 208915"/>
                <a:gd name="connsiteX3" fmla="*/ 287655 w 384810"/>
                <a:gd name="connsiteY3" fmla="*/ 37465 h 208915"/>
                <a:gd name="connsiteX4" fmla="*/ 384810 w 384810"/>
                <a:gd name="connsiteY4" fmla="*/ 0 h 208915"/>
                <a:gd name="connsiteX0" fmla="*/ 0 w 384810"/>
                <a:gd name="connsiteY0" fmla="*/ 208915 h 208915"/>
                <a:gd name="connsiteX1" fmla="*/ 118110 w 384810"/>
                <a:gd name="connsiteY1" fmla="*/ 161290 h 208915"/>
                <a:gd name="connsiteX2" fmla="*/ 186690 w 384810"/>
                <a:gd name="connsiteY2" fmla="*/ 117475 h 208915"/>
                <a:gd name="connsiteX3" fmla="*/ 287655 w 384810"/>
                <a:gd name="connsiteY3" fmla="*/ 29845 h 208915"/>
                <a:gd name="connsiteX4" fmla="*/ 384810 w 384810"/>
                <a:gd name="connsiteY4" fmla="*/ 0 h 208915"/>
                <a:gd name="connsiteX0" fmla="*/ 0 w 384810"/>
                <a:gd name="connsiteY0" fmla="*/ 203200 h 203200"/>
                <a:gd name="connsiteX1" fmla="*/ 118110 w 384810"/>
                <a:gd name="connsiteY1" fmla="*/ 155575 h 203200"/>
                <a:gd name="connsiteX2" fmla="*/ 186690 w 384810"/>
                <a:gd name="connsiteY2" fmla="*/ 111760 h 203200"/>
                <a:gd name="connsiteX3" fmla="*/ 287655 w 384810"/>
                <a:gd name="connsiteY3" fmla="*/ 24130 h 203200"/>
                <a:gd name="connsiteX4" fmla="*/ 384810 w 384810"/>
                <a:gd name="connsiteY4" fmla="*/ 0 h 203200"/>
                <a:gd name="connsiteX0" fmla="*/ 0 w 384810"/>
                <a:gd name="connsiteY0" fmla="*/ 203200 h 203200"/>
                <a:gd name="connsiteX1" fmla="*/ 118110 w 384810"/>
                <a:gd name="connsiteY1" fmla="*/ 155575 h 203200"/>
                <a:gd name="connsiteX2" fmla="*/ 186690 w 384810"/>
                <a:gd name="connsiteY2" fmla="*/ 111760 h 203200"/>
                <a:gd name="connsiteX3" fmla="*/ 287655 w 384810"/>
                <a:gd name="connsiteY3" fmla="*/ 24130 h 203200"/>
                <a:gd name="connsiteX4" fmla="*/ 384810 w 384810"/>
                <a:gd name="connsiteY4" fmla="*/ 0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4810" h="203200">
                  <a:moveTo>
                    <a:pt x="0" y="203200"/>
                  </a:moveTo>
                  <a:cubicBezTo>
                    <a:pt x="41592" y="188277"/>
                    <a:pt x="86995" y="170815"/>
                    <a:pt x="118110" y="155575"/>
                  </a:cubicBezTo>
                  <a:cubicBezTo>
                    <a:pt x="149225" y="140335"/>
                    <a:pt x="158433" y="133667"/>
                    <a:pt x="186690" y="111760"/>
                  </a:cubicBezTo>
                  <a:cubicBezTo>
                    <a:pt x="214947" y="89853"/>
                    <a:pt x="259398" y="40957"/>
                    <a:pt x="287655" y="24130"/>
                  </a:cubicBezTo>
                  <a:cubicBezTo>
                    <a:pt x="315912" y="7303"/>
                    <a:pt x="347503" y="3969"/>
                    <a:pt x="384810" y="0"/>
                  </a:cubicBezTo>
                </a:path>
              </a:pathLst>
            </a:custGeom>
            <a:noFill/>
            <a:ln w="12700">
              <a:solidFill>
                <a:srgbClr val="16246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76D940EA-B133-4B02-9BD8-ECD757688E39}"/>
                </a:ext>
              </a:extLst>
            </p:cNvPr>
            <p:cNvGrpSpPr/>
            <p:nvPr/>
          </p:nvGrpSpPr>
          <p:grpSpPr>
            <a:xfrm rot="1789986">
              <a:off x="11380102" y="6162892"/>
              <a:ext cx="137158" cy="147227"/>
              <a:chOff x="8016504" y="1142077"/>
              <a:chExt cx="137158" cy="147227"/>
            </a:xfrm>
          </p:grpSpPr>
          <p:cxnSp>
            <p:nvCxnSpPr>
              <p:cNvPr id="120" name="C2 maneuver event tick">
                <a:extLst>
                  <a:ext uri="{FF2B5EF4-FFF2-40B4-BE49-F238E27FC236}">
                    <a16:creationId xmlns:a16="http://schemas.microsoft.com/office/drawing/2014/main" id="{306D4836-6D22-4889-B875-810FA69982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64" y="1142077"/>
                <a:ext cx="54863" cy="147227"/>
              </a:xfrm>
              <a:prstGeom prst="line">
                <a:avLst/>
              </a:prstGeom>
              <a:ln w="22860">
                <a:solidFill>
                  <a:srgbClr val="FF5C00"/>
                </a:solidFill>
              </a:ln>
              <a:effectLst/>
            </p:spPr>
          </p:cxnSp>
          <p:cxnSp>
            <p:nvCxnSpPr>
              <p:cNvPr id="121" name="C2 maneuver event tick">
                <a:extLst>
                  <a:ext uri="{FF2B5EF4-FFF2-40B4-BE49-F238E27FC236}">
                    <a16:creationId xmlns:a16="http://schemas.microsoft.com/office/drawing/2014/main" id="{F3DAAC37-9E93-4BB6-9731-B336F53D1C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016504" y="1176772"/>
                <a:ext cx="137158" cy="65892"/>
              </a:xfrm>
              <a:prstGeom prst="line">
                <a:avLst/>
              </a:prstGeom>
              <a:ln w="22860">
                <a:solidFill>
                  <a:srgbClr val="FF5C00"/>
                </a:solidFill>
              </a:ln>
              <a:effectLst/>
            </p:spPr>
          </p:cxnSp>
        </p:grpSp>
        <p:pic>
          <p:nvPicPr>
            <p:cNvPr id="127" name="C7 actor spacecraft icon" descr="actor.png">
              <a:extLst>
                <a:ext uri="{FF2B5EF4-FFF2-40B4-BE49-F238E27FC236}">
                  <a16:creationId xmlns:a16="http://schemas.microsoft.com/office/drawing/2014/main" id="{2D081861-1532-40E7-99BE-FF9CAC8FC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 rot="21000818">
              <a:off x="12874846" y="5917536"/>
              <a:ext cx="420624" cy="305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124</Words>
  <Application>Microsoft Office PowerPoint</Application>
  <PresentationFormat>自定义</PresentationFormat>
  <Paragraphs>31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Conceptual intention-hypothesis evidence patterns</dc:title>
  <dc:subject>Editable reconstruction of the eight-panel local hypothesis atlas</dc:subject>
  <dc:creator>Research figure candidate</dc:creator>
  <cp:keywords/>
  <dc:description>generated using python-pptx</dc:description>
  <cp:lastModifiedBy>W.F.Laplace</cp:lastModifiedBy>
  <cp:revision>15</cp:revision>
  <dcterms:created xsi:type="dcterms:W3CDTF">2013-01-27T09:14:16Z</dcterms:created>
  <dcterms:modified xsi:type="dcterms:W3CDTF">2026-09-07T05:49:17Z</dcterms:modified>
  <cp:category/>
</cp:coreProperties>
</file>